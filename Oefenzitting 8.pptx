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85" r:id="rId2"/>
    <p:sldId id="257" r:id="rId3"/>
    <p:sldId id="293" r:id="rId4"/>
    <p:sldId id="295" r:id="rId5"/>
    <p:sldId id="296" r:id="rId6"/>
    <p:sldId id="298" r:id="rId7"/>
    <p:sldId id="299" r:id="rId8"/>
    <p:sldId id="291" r:id="rId9"/>
    <p:sldId id="301" r:id="rId10"/>
    <p:sldId id="302" r:id="rId11"/>
    <p:sldId id="300" r:id="rId12"/>
    <p:sldId id="292" r:id="rId13"/>
    <p:sldId id="278" r:id="rId14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510" autoAdjust="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0F4FD-F267-40B3-9A69-A8DD38E77D27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A76DD3-C752-4F32-A067-0B606638A89A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011614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D23A2B-3A7C-4F06-8B68-513F80AFACE2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3228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A474D3-8000-A641-A44C-651E2CBE2F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70C9D0E-C3FA-8EE6-F4C4-072EC00773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47E538F-5698-0323-4354-833DF1B5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2489E1-3E4E-23C0-A775-CFA227608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CD2F767-0228-D418-DC5B-5FA84FA21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0625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1F411E-944D-0C09-CBBE-B48A201C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87FF456-7144-B2E2-96C3-36E077F50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E8D25FE2-2A77-DF29-3FAE-D06F0C411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5A2CF12-D46A-53CB-3596-E9468A085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2B87FA52-6EF7-00C3-96F4-52A36AE2C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76947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D18425-35DB-A9CC-4C0C-18DC9BE97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FCD2139-D674-3917-14DF-5C78DCA7F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7A62731-583A-9D58-001B-658AFAEB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3BE8D01-988B-D2DE-B44D-0172D54EC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F60818C-7FDD-6948-5EB6-9A7B18B2D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776089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53F62-7DB9-2CA8-9939-3ED71F35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EA3CE89-68DD-4D52-B9F3-FECA562CF5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F752B134-53FC-8290-4B9E-E111650156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5B78C45-0BF6-1696-E3FF-FD870314B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BBCD7BA-9A5D-B074-CAC0-C66D47D44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AC1274D-3E33-4C8E-D946-4A575AF0A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9445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615F2-B4B9-D7FA-4A29-A3F83F73B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E55A68E-156B-4910-1B6E-72AA0F939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4E9EF17-8497-63E0-85D5-32E8BF3D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96E9596-03B5-0FCB-300F-B660CDF5A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02892471-FCEA-B067-DEB7-BC4A34F94A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E0A9F16A-A054-3285-DC84-FC2BC2DA2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A7737A5-7060-2B0B-D559-6115DCC89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043411BC-638E-2EA7-8F25-EEF786F10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1555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025259-940A-0ACC-3002-2B1CBD327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8A359C84-DA78-0CE9-4562-BF9FF69BB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AC66A80F-9457-97BF-757C-4210FD2AF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9B4BCCEA-FC0A-9081-C31A-E0978733F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5409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FF45966-1247-B468-96C0-3F694BBA5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08B60F55-473F-DC3F-F57A-CB055C220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484EA2AB-F2A0-FB0B-6A0F-129E2B1BF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1906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58034F-F2AF-B40A-3E58-E93247A1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C85F0D6-2DD6-4A91-4695-660953A8E3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33458C20-3C7F-CC68-5F82-E5F4ED3FA5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F1F7419-3F23-A5E9-13C9-AB9C505DA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99CB874-36BD-A521-90E4-E7D907A24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8DA60FA-6C56-A037-8F4F-5232E2C06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87023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3025A8-8F47-71AA-5E56-8FF65717F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3715414C-D39D-6E8E-404D-0391790ACE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989E620-94AB-5510-4BEA-4D8D7641B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88CBDFB-CD7E-B7D4-6288-E99C41EE8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EDA5E9C4-DB22-9B87-FB52-8EFACE284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FC2BD86-4CB7-C698-BFBC-2B1A66C10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482945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D5BC49-DE12-DD73-DA2E-99B55D944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1B9C974-A11C-8572-0562-076FF3D9AF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33807FE-FFCF-9EEA-ADD0-DCF909FE2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9EE7C86-A825-9AB0-911B-6F987933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20BEFE2-BF03-826B-CF2C-36E375846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3254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9575ABB-6A57-C0EF-CBCA-35698086A0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90A2FE3B-CC0E-5E21-8F65-96D339B9A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F2E74237-2DF2-F8B0-FBF1-AD49B61E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5070088-D9DB-59A1-B7B7-E077CA6EC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C1D32A5-2E57-0B57-7A60-0524EF2D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87659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B47F9C21-3E07-D0D7-862E-492D900CC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91D335-C39D-F325-0D4E-CF72C86E2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86CD6A3-9D67-60CA-1821-4941B3442B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216C08-D9A6-4DE6-A730-E89D3605CC03}" type="datetimeFigureOut">
              <a:rPr lang="nl-BE" smtClean="0"/>
              <a:t>8/12/2025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994C6036-882F-1530-4726-877B1845F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C44C185-8E0F-6028-D2F5-91B7CAB38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34C1C0-3BB2-48A6-9B01-77C71B64B3AB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073170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1.png"/><Relationship Id="rId5" Type="http://schemas.openxmlformats.org/officeDocument/2006/relationships/image" Target="../media/image13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14" Type="http://schemas.openxmlformats.org/officeDocument/2006/relationships/image" Target="../media/image18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95154D-D237-4C23-9C5C-ED3C23A5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Slides Oefenzittingen komen op GitHub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644EAD0-2124-1372-CBA7-F58A78E56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334"/>
            <a:ext cx="10515600" cy="4351338"/>
          </a:xfrm>
        </p:spPr>
        <p:txBody>
          <a:bodyPr/>
          <a:lstStyle/>
          <a:p>
            <a:r>
              <a:rPr lang="nl-BE" dirty="0"/>
              <a:t>github.com/JasperVisterin/Analyse-I-Oefenzittingen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BF7A95-533F-6AAD-5BCE-804D86AE57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240" y="2148378"/>
            <a:ext cx="4033520" cy="4033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996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6EDDA-160F-ACC8-BAA8-BE329F21F3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Analyse I, </a:t>
            </a:r>
            <a:r>
              <a:rPr lang="en-GB" dirty="0" err="1"/>
              <a:t>Oefenzitting</a:t>
            </a:r>
            <a:r>
              <a:rPr lang="en-GB" dirty="0"/>
              <a:t> 8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BAC92F39-0B86-45D7-CF47-7DB5F5D0CB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Jasper.Visterin@kuleuven.be</a:t>
            </a:r>
          </a:p>
        </p:txBody>
      </p:sp>
    </p:spTree>
    <p:extLst>
      <p:ext uri="{BB962C8B-B14F-4D97-AF65-F5344CB8AC3E}">
        <p14:creationId xmlns:p14="http://schemas.microsoft.com/office/powerpoint/2010/main" val="2146910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9E491BF-7C82-C87F-BC0C-CFBA737CDD3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83721"/>
                <a:ext cx="10515600" cy="744954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BE" dirty="0"/>
                  <a:t>-</a:t>
                </a:r>
                <a:r>
                  <a:rPr lang="nl-BE" dirty="0" err="1"/>
                  <a:t>parallelepipidum</a:t>
                </a:r>
                <a:endParaRPr lang="nl-BE" dirty="0"/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D9E491BF-7C82-C87F-BC0C-CFBA737CDD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83721"/>
                <a:ext cx="10515600" cy="744954"/>
              </a:xfrm>
              <a:blipFill>
                <a:blip r:embed="rId2"/>
                <a:stretch>
                  <a:fillRect t="-22131" b="-3688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8C04B36-4BA1-5180-60EF-3F3A1598D0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750" y="828675"/>
                <a:ext cx="11239500" cy="572452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 </a:t>
                </a:r>
                <a:r>
                  <a:rPr lang="nl-BE" dirty="0">
                    <a:sym typeface="Wingdings" panose="05000000000000000000" pitchFamily="2" charset="2"/>
                  </a:rPr>
                  <a:t> </a:t>
                </a:r>
                <a:r>
                  <a:rPr lang="nl-BE" dirty="0"/>
                  <a:t>lijnstuk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  </a:t>
                </a:r>
                <a:r>
                  <a:rPr lang="nl-BE" dirty="0">
                    <a:sym typeface="Wingdings" panose="05000000000000000000" pitchFamily="2" charset="2"/>
                  </a:rPr>
                  <a:t> </a:t>
                </a:r>
                <a:r>
                  <a:rPr lang="nl-BE" dirty="0"/>
                  <a:t>parallellogram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acc>
                  </m:oMath>
                </a14:m>
                <a:r>
                  <a:rPr lang="nl-BE" dirty="0"/>
                  <a:t>  </a:t>
                </a:r>
                <a:r>
                  <a:rPr lang="nl-BE" dirty="0">
                    <a:sym typeface="Wingdings" panose="05000000000000000000" pitchFamily="2" charset="2"/>
                  </a:rPr>
                  <a:t> </a:t>
                </a:r>
                <a:r>
                  <a:rPr lang="nl-BE" dirty="0"/>
                  <a:t>scheefgetrokken balk</a:t>
                </a:r>
              </a:p>
              <a:p>
                <a:endParaRPr lang="nl-BE" dirty="0"/>
              </a:p>
              <a:p>
                <a:r>
                  <a:rPr lang="nl-BE" dirty="0"/>
                  <a:t>Volume begrensd door vectoren? </a:t>
                </a:r>
                <a:endParaRPr lang="nl-BE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BE" dirty="0"/>
                  <a:t> – volume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nl-BE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nl-BE" dirty="0"/>
                  <a:t> </a:t>
                </a:r>
                <a14:m>
                  <m:oMath xmlns:m="http://schemas.openxmlformats.org/officeDocument/2006/math">
                    <m:r>
                      <a:rPr lang="nl-BE" i="1" dirty="0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nl-BE" b="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unc>
                          <m:funcPr>
                            <m:ctrlPr>
                              <a:rPr lang="nl-BE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dirty="0" smtClean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d>
                              <m:dPr>
                                <m:ctrlP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nl-BE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nl-BE" b="0" i="1" dirty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p>
                                    <m:r>
                                      <a:rPr lang="nl-BE" b="0" i="1" dirty="0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nl-BE" b="0" i="1" dirty="0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d>
                          </m:e>
                        </m:func>
                      </m:e>
                    </m:rad>
                  </m:oMath>
                </a14:m>
                <a:endParaRPr lang="nl-BE" b="0" dirty="0"/>
              </a:p>
              <a:p>
                <a:r>
                  <a:rPr lang="nl-BE" dirty="0"/>
                  <a:t>Voor </a:t>
                </a:r>
                <a14:m>
                  <m:oMath xmlns:m="http://schemas.openxmlformats.org/officeDocument/2006/math"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nl-BE" dirty="0"/>
                  <a:t> geldt er dat</a:t>
                </a:r>
                <a14:m>
                  <m:oMath xmlns:m="http://schemas.openxmlformats.org/officeDocument/2006/math">
                    <m:r>
                      <a:rPr lang="nl-BE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nl-BE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</m:oMath>
                </a14:m>
                <a:endParaRPr lang="nl-BE" dirty="0"/>
              </a:p>
              <a:p>
                <a:endParaRPr lang="nl-BE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>
                    <a:sym typeface="Wingdings" panose="05000000000000000000" pitchFamily="2" charset="2"/>
                  </a:rPr>
                  <a:t> lengte 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>
                    <a:sym typeface="Wingdings" panose="05000000000000000000" pitchFamily="2" charset="2"/>
                  </a:rPr>
                  <a:t> oppervlakte</a:t>
                </a:r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nl-BE" dirty="0"/>
                  <a:t> </a:t>
                </a:r>
                <a:r>
                  <a:rPr lang="nl-BE" dirty="0">
                    <a:sym typeface="Wingdings" panose="05000000000000000000" pitchFamily="2" charset="2"/>
                  </a:rPr>
                  <a:t> volume</a:t>
                </a:r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18C04B36-4BA1-5180-60EF-3F3A1598D0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750" y="828675"/>
                <a:ext cx="11239500" cy="5724525"/>
              </a:xfrm>
              <a:blipFill>
                <a:blip r:embed="rId3"/>
                <a:stretch>
                  <a:fillRect l="-976" t="-2236" b="-202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Afbeelding 8">
            <a:extLst>
              <a:ext uri="{FF2B5EF4-FFF2-40B4-BE49-F238E27FC236}">
                <a16:creationId xmlns:a16="http://schemas.microsoft.com/office/drawing/2014/main" id="{8A973475-F91D-A856-5B88-5B626A9880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4271" y="2510344"/>
            <a:ext cx="3428806" cy="32014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AEB578CA-A87A-E299-5825-FD6E52D52BBB}"/>
                  </a:ext>
                </a:extLst>
              </p:cNvPr>
              <p:cNvSpPr txBox="1"/>
              <p:nvPr/>
            </p:nvSpPr>
            <p:spPr>
              <a:xfrm>
                <a:off x="8227499" y="5849937"/>
                <a:ext cx="356235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nl-BE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nl-BE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acc>
                          <m:r>
                            <m:rPr>
                              <m:nor/>
                            </m:rPr>
                            <a:rPr lang="nl-BE" sz="2800" dirty="0"/>
                            <m:t>, </m:t>
                          </m:r>
                          <m:acc>
                            <m:accPr>
                              <m:chr m:val="⃗"/>
                              <m:ctrlPr>
                                <a:rPr lang="nl-BE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acc>
                          <m:r>
                            <a:rPr lang="nl-BE" sz="2800" b="0" i="1" smtClean="0">
                              <a:latin typeface="Cambria Math" panose="02040503050406030204" pitchFamily="18" charset="0"/>
                            </a:rPr>
                            <m:t>,⋯,</m:t>
                          </m:r>
                          <m:acc>
                            <m:accPr>
                              <m:chr m:val="⃗"/>
                              <m:ctrlPr>
                                <a:rPr lang="nl-B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nl-BE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nl-BE" sz="28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nl-BE" sz="28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acc>
                        </m:e>
                      </m:d>
                    </m:oMath>
                  </m:oMathPara>
                </a14:m>
                <a:endParaRPr lang="nl-BE" sz="2800" dirty="0"/>
              </a:p>
            </p:txBody>
          </p:sp>
        </mc:Choice>
        <mc:Fallback xmlns="">
          <p:sp>
            <p:nvSpPr>
              <p:cNvPr id="11" name="Tekstvak 10">
                <a:extLst>
                  <a:ext uri="{FF2B5EF4-FFF2-40B4-BE49-F238E27FC236}">
                    <a16:creationId xmlns:a16="http://schemas.microsoft.com/office/drawing/2014/main" id="{AEB578CA-A87A-E299-5825-FD6E52D52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7499" y="5849937"/>
                <a:ext cx="356235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553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2A1A-CC7D-B142-F0CB-E6905813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8EAFEA-5C97-90A5-6907-52257D31A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030"/>
            <a:ext cx="10515600" cy="862013"/>
          </a:xfrm>
        </p:spPr>
        <p:txBody>
          <a:bodyPr/>
          <a:lstStyle/>
          <a:p>
            <a:r>
              <a:rPr lang="nl-BE" dirty="0"/>
              <a:t>Volumeverandering bij Lineaire Transformatie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6EDD120-EBC1-0321-7AE4-77841B5699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52224"/>
                <a:ext cx="10515600" cy="4891088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nl-BE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  <m:m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eqAr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eqArr>
                      </m:e>
                    </m:d>
                  </m:oMath>
                </a14:m>
                <a:endParaRPr lang="nl-BE" b="0" dirty="0"/>
              </a:p>
              <a:p>
                <a14:m>
                  <m:oMath xmlns:m="http://schemas.openxmlformats.org/officeDocument/2006/math">
                    <m:r>
                      <a:rPr lang="nl-BE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  <m:d>
                          <m:d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</m:d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e>
                    </m:d>
                    <m:d>
                      <m:dPr>
                        <m:begChr m:val="|"/>
                        <m:endChr m:val="|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 b="0" i="0" smtClean="0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nl-BE">
                                <a:latin typeface="Cambria Math" panose="02040503050406030204" pitchFamily="18" charset="0"/>
                              </a:rPr>
                              <m:t>det</m:t>
                            </m:r>
                          </m:fNam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</m:func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</m:d>
                  </m:oMath>
                </a14:m>
                <a:endParaRPr lang="nl-BE" dirty="0"/>
              </a:p>
              <a:p>
                <a:r>
                  <a:rPr lang="nl-BE" dirty="0"/>
                  <a:t>Zie oppervlakte ellips</a:t>
                </a:r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46EDD120-EBC1-0321-7AE4-77841B5699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52224"/>
                <a:ext cx="10515600" cy="4891088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Afbeelding 6">
            <a:extLst>
              <a:ext uri="{FF2B5EF4-FFF2-40B4-BE49-F238E27FC236}">
                <a16:creationId xmlns:a16="http://schemas.microsoft.com/office/drawing/2014/main" id="{514F382E-8F89-A1E3-9CEF-E3D2AC570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850" y="3429000"/>
            <a:ext cx="9734550" cy="33897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7CF57F0-ADE6-CB74-382E-078442DCA8DE}"/>
                  </a:ext>
                </a:extLst>
              </p:cNvPr>
              <p:cNvSpPr txBox="1"/>
              <p:nvPr/>
            </p:nvSpPr>
            <p:spPr>
              <a:xfrm>
                <a:off x="1724025" y="3319075"/>
                <a:ext cx="9675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7CF57F0-ADE6-CB74-382E-078442DCA8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25" y="3319075"/>
                <a:ext cx="967573" cy="276999"/>
              </a:xfrm>
              <a:prstGeom prst="rect">
                <a:avLst/>
              </a:prstGeom>
              <a:blipFill>
                <a:blip r:embed="rId4"/>
                <a:stretch>
                  <a:fillRect l="-6289" r="-5031" b="-652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6F4D65D9-1344-BE7D-2061-CBAFB0B96B06}"/>
                  </a:ext>
                </a:extLst>
              </p:cNvPr>
              <p:cNvSpPr txBox="1"/>
              <p:nvPr/>
            </p:nvSpPr>
            <p:spPr>
              <a:xfrm>
                <a:off x="7168438" y="3290500"/>
                <a:ext cx="3651961" cy="4145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func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=3⋅2=6</m:t>
                      </m:r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5" name="Tekstvak 4">
                <a:extLst>
                  <a:ext uri="{FF2B5EF4-FFF2-40B4-BE49-F238E27FC236}">
                    <a16:creationId xmlns:a16="http://schemas.microsoft.com/office/drawing/2014/main" id="{6F4D65D9-1344-BE7D-2061-CBAFB0B96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438" y="3290500"/>
                <a:ext cx="3651961" cy="414537"/>
              </a:xfrm>
              <a:prstGeom prst="rect">
                <a:avLst/>
              </a:prstGeom>
              <a:blipFill>
                <a:blip r:embed="rId5"/>
                <a:stretch>
                  <a:fillRect l="-1169" r="-116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120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961D1-5BD1-BA8F-9949-A04245F2F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3424E4-7134-934D-5F1E-1FD6E7946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515600" cy="862013"/>
          </a:xfrm>
        </p:spPr>
        <p:txBody>
          <a:bodyPr>
            <a:normAutofit fontScale="90000"/>
          </a:bodyPr>
          <a:lstStyle/>
          <a:p>
            <a:r>
              <a:rPr lang="nl-BE" dirty="0"/>
              <a:t>Volumeverandering bij Niet-Lineaire Transformatie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E9AFBD0-1F90-566F-3B75-DCA2BEC30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1" y="3667126"/>
                <a:ext cx="12049126" cy="2981324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nl-BE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eqArr>
                      </m:e>
                    </m:d>
                    <m:r>
                      <a:rPr lang="nl-BE" sz="3200" b="0" i="1" smtClean="0">
                        <a:latin typeface="Cambria Math" panose="02040503050406030204" pitchFamily="18" charset="0"/>
                      </a:rPr>
                      <m:t>→</m:t>
                    </m:r>
                    <m:eqArr>
                      <m:eqArrPr>
                        <m:ctrlPr>
                          <a:rPr lang="nl-BE" sz="3200" i="1"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r>
                          <a:rPr lang="nl-BE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d>
                          <m:dPr>
                            <m:ctrlP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num>
                          <m:den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  <m:d>
                          <m:d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  <m:e>
                        <m:r>
                          <a:rPr lang="nl-BE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≈</m:t>
                        </m:r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nl-BE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  <m:d>
                          <m:d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nl-BE" sz="3200" i="1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den>
                        </m:f>
                        <m:d>
                          <m:dPr>
                            <m:ctrlPr>
                              <a:rPr lang="nl-BE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nl-BE" sz="3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nl-BE" sz="3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nl-BE" sz="32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e>
                    </m:eqArr>
                  </m:oMath>
                </a14:m>
                <a:endParaRPr lang="nl-BE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eqAr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begChr m:val="["/>
                          <m:endChr m:val="]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eqAr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nl-BE" b="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9E9AFBD0-1F90-566F-3B75-DCA2BEC30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1" y="3667126"/>
                <a:ext cx="12049126" cy="2981324"/>
              </a:xfrm>
              <a:blipFill>
                <a:blip r:embed="rId2"/>
                <a:stretch>
                  <a:fillRect t="-61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6" name="Picture 8" descr="The Jacobian of a Transformation">
            <a:extLst>
              <a:ext uri="{FF2B5EF4-FFF2-40B4-BE49-F238E27FC236}">
                <a16:creationId xmlns:a16="http://schemas.microsoft.com/office/drawing/2014/main" id="{6C8C3DFB-2A51-C9BE-5678-38B7375AE3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696" y="716171"/>
            <a:ext cx="9672637" cy="271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5EC47E97-0A67-2ECA-6502-AE92DD27DBA0}"/>
                  </a:ext>
                </a:extLst>
              </p:cNvPr>
              <p:cNvSpPr txBox="1"/>
              <p:nvPr/>
            </p:nvSpPr>
            <p:spPr>
              <a:xfrm>
                <a:off x="6221014" y="862013"/>
                <a:ext cx="609601" cy="5064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5EC47E97-0A67-2ECA-6502-AE92DD27D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014" y="862013"/>
                <a:ext cx="609601" cy="5064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6859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017CC-DB2E-4ECF-B3AB-9F0D624F4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0B12E4-3869-15D5-C6A6-E12A400E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6750" y="0"/>
            <a:ext cx="10515600" cy="862013"/>
          </a:xfrm>
        </p:spPr>
        <p:txBody>
          <a:bodyPr>
            <a:normAutofit fontScale="90000"/>
          </a:bodyPr>
          <a:lstStyle/>
          <a:p>
            <a:r>
              <a:rPr lang="nl-BE" dirty="0"/>
              <a:t>Volumeverandering bij Niet-Lineaire Transformatie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6019A85-B764-0B5C-5C67-4C9CAEB3E7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3429000"/>
                <a:ext cx="12049126" cy="33051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nl-BE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sz="3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</m:e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eqArr>
                        </m:e>
                      </m:d>
                      <m:r>
                        <a:rPr lang="nl-BE" sz="32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begChr m:val="["/>
                          <m:endChr m:val="]"/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sz="32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𝑑𝑢</m:t>
                              </m:r>
                            </m:e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e>
                          </m:eqArr>
                        </m:e>
                      </m:d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3200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nl-BE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nl-BE" sz="32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nl-BE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nl-BE" sz="32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nl-BE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nl-BE" sz="32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32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nl-BE" sz="3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d>
                            <m:dPr>
                              <m:ctrlPr>
                                <a:rPr lang="nl-BE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</m:d>
                        </m:e>
                      </m:d>
                      <m:r>
                        <a:rPr lang="nl-BE" sz="32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sz="32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sz="320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sz="32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func>
                        </m:e>
                      </m:d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nl-BE" sz="3200" i="1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nl-BE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3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d>
                    </m:oMath>
                  </m:oMathPara>
                </a14:m>
                <a:endParaRPr lang="nl-BE" sz="3200" dirty="0"/>
              </a:p>
              <a:p>
                <a:pPr marL="0" indent="0">
                  <a:buNone/>
                </a:pPr>
                <a:endParaRPr lang="nl-BE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nl-BE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sz="3200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sz="3200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func>
                        </m:e>
                      </m:d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nl-BE" sz="3200" b="0" i="1" smtClean="0">
                          <a:latin typeface="Cambria Math" panose="02040503050406030204" pitchFamily="18" charset="0"/>
                        </a:rPr>
                        <m:t>𝑑𝑣</m:t>
                      </m:r>
                    </m:oMath>
                  </m:oMathPara>
                </a14:m>
                <a:endParaRPr lang="nl-BE" sz="3200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86019A85-B764-0B5C-5C67-4C9CAEB3E7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3429000"/>
                <a:ext cx="12049126" cy="3305175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6" name="Picture 8" descr="The Jacobian of a Transformation">
            <a:extLst>
              <a:ext uri="{FF2B5EF4-FFF2-40B4-BE49-F238E27FC236}">
                <a16:creationId xmlns:a16="http://schemas.microsoft.com/office/drawing/2014/main" id="{2404F0AA-126D-CEAB-5AD6-8BEB6A37F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696" y="716171"/>
            <a:ext cx="9672637" cy="271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8BAD6C2F-C9B8-E075-2491-D586FC9DD0A5}"/>
                  </a:ext>
                </a:extLst>
              </p:cNvPr>
              <p:cNvSpPr txBox="1"/>
              <p:nvPr/>
            </p:nvSpPr>
            <p:spPr>
              <a:xfrm>
                <a:off x="6221014" y="862013"/>
                <a:ext cx="609601" cy="506421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nl-BE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nl-BE" sz="2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8" name="Tekstvak 7">
                <a:extLst>
                  <a:ext uri="{FF2B5EF4-FFF2-40B4-BE49-F238E27FC236}">
                    <a16:creationId xmlns:a16="http://schemas.microsoft.com/office/drawing/2014/main" id="{8BAD6C2F-C9B8-E075-2491-D586FC9DD0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014" y="862013"/>
                <a:ext cx="609601" cy="5064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10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0AA331-C5F4-E014-9CCA-89027228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91"/>
            <a:ext cx="10515600" cy="1325563"/>
          </a:xfrm>
        </p:spPr>
        <p:txBody>
          <a:bodyPr/>
          <a:lstStyle/>
          <a:p>
            <a:r>
              <a:rPr lang="nl-BE" dirty="0"/>
              <a:t>Transformatie van integratie </a:t>
            </a:r>
            <a:r>
              <a:rPr lang="nl-BE" dirty="0" err="1"/>
              <a:t>veranderlijken</a:t>
            </a:r>
            <a:endParaRPr lang="nl-B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82BEB70-29F3-D0A9-D50A-9A6342599E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15851"/>
                <a:ext cx="10515600" cy="4961112"/>
              </a:xfrm>
            </p:spPr>
            <p:txBody>
              <a:bodyPr/>
              <a:lstStyle/>
              <a:p>
                <a:r>
                  <a:rPr lang="nl-BE" dirty="0"/>
                  <a:t>Waarom doen we dit? </a:t>
                </a:r>
              </a:p>
              <a:p>
                <a:r>
                  <a:rPr lang="nl-BE" dirty="0"/>
                  <a:t>Integratiegebied vereenvoudigen</a:t>
                </a:r>
              </a:p>
              <a:p>
                <a:pPr lvl="1"/>
                <a:r>
                  <a:rPr lang="nl-BE" dirty="0"/>
                  <a:t>Veralgemening van substitutiemethode</a:t>
                </a:r>
              </a:p>
              <a:p>
                <a:pPr lvl="1"/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nl-BE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b>
                            <m:sup/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acc>
                                <m:accPr>
                                  <m:chr m:val="⃗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brk m:alnAt="15"/>
                                    </m:r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nl-BE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sub>
                            <m:sup/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⃗"/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15"/>
                                        </m:r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nl-BE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b="0" i="1" dirty="0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d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nl-BE" b="0" i="0" smtClean="0">
                                          <a:latin typeface="Cambria Math" panose="02040503050406030204" pitchFamily="18" charset="0"/>
                                        </a:rPr>
                                        <m:t>det</m:t>
                                      </m:r>
                                    </m:fName>
                                    <m:e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𝐽</m:t>
                                      </m:r>
                                      <m:d>
                                        <m:dPr>
                                          <m:ctrlP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nl-BE" b="0" i="1" smtClean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</m:d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𝑑𝑣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C82BEB70-29F3-D0A9-D50A-9A6342599E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15851"/>
                <a:ext cx="10515600" cy="4961112"/>
              </a:xfrm>
              <a:blipFill>
                <a:blip r:embed="rId2"/>
                <a:stretch>
                  <a:fillRect l="-1043" t="-208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CFD01416-B48E-4A2F-D8DE-3EE438D90938}"/>
                  </a:ext>
                </a:extLst>
              </p:cNvPr>
              <p:cNvSpPr txBox="1"/>
              <p:nvPr/>
            </p:nvSpPr>
            <p:spPr>
              <a:xfrm>
                <a:off x="8402319" y="1215850"/>
                <a:ext cx="3509203" cy="121488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nl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den>
                      </m:f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BE" sz="20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CFD01416-B48E-4A2F-D8DE-3EE438D90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2319" y="1215850"/>
                <a:ext cx="3509203" cy="12148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Afbeelding 3">
            <a:extLst>
              <a:ext uri="{FF2B5EF4-FFF2-40B4-BE49-F238E27FC236}">
                <a16:creationId xmlns:a16="http://schemas.microsoft.com/office/drawing/2014/main" id="{533416CD-AB1C-ED7B-8BBA-19598B1066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99" t="37068" r="67858"/>
          <a:stretch>
            <a:fillRect/>
          </a:stretch>
        </p:blipFill>
        <p:spPr>
          <a:xfrm>
            <a:off x="8501779" y="4917688"/>
            <a:ext cx="2074126" cy="1504766"/>
          </a:xfrm>
          <a:prstGeom prst="rect">
            <a:avLst/>
          </a:prstGeom>
        </p:spPr>
      </p:pic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D25F583D-EEDB-463D-DB6D-4C3C68A0AD27}"/>
              </a:ext>
            </a:extLst>
          </p:cNvPr>
          <p:cNvCxnSpPr/>
          <p:nvPr/>
        </p:nvCxnSpPr>
        <p:spPr>
          <a:xfrm>
            <a:off x="4256048" y="5095646"/>
            <a:ext cx="3679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34BE25CA-0EBE-A23D-8DED-9BC76CA4485A}"/>
                  </a:ext>
                </a:extLst>
              </p:cNvPr>
              <p:cNvSpPr txBox="1"/>
              <p:nvPr/>
            </p:nvSpPr>
            <p:spPr>
              <a:xfrm>
                <a:off x="4975703" y="4077691"/>
                <a:ext cx="2136739" cy="8238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GB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GB" sz="2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GB" sz="2400" b="0" i="1" smtClean="0">
                                  <a:solidFill>
                                    <a:srgbClr val="00206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00206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BE" sz="2400" dirty="0">
                  <a:solidFill>
                    <a:srgbClr val="002060"/>
                  </a:solidFill>
                </a:endParaRPr>
              </a:p>
            </p:txBody>
          </p:sp>
        </mc:Choice>
        <mc:Fallback>
          <p:sp>
            <p:nvSpPr>
              <p:cNvPr id="9" name="Tekstvak 8">
                <a:extLst>
                  <a:ext uri="{FF2B5EF4-FFF2-40B4-BE49-F238E27FC236}">
                    <a16:creationId xmlns:a16="http://schemas.microsoft.com/office/drawing/2014/main" id="{34BE25CA-0EBE-A23D-8DED-9BC76CA44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5703" y="4077691"/>
                <a:ext cx="2136739" cy="8238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03DFF000-7D25-53A9-F0DA-7D4400CF1623}"/>
                  </a:ext>
                </a:extLst>
              </p:cNvPr>
              <p:cNvSpPr txBox="1"/>
              <p:nvPr/>
            </p:nvSpPr>
            <p:spPr>
              <a:xfrm>
                <a:off x="4640713" y="5715105"/>
                <a:ext cx="2631426" cy="9592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⃗"/>
                              <m:ctrlP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</m:e>
                        <m:sup>
                          <m: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en-GB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  <m:e>
                              <m: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en-GB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Sup>
                                <m:sSubSupPr>
                                  <m:ctrlP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sz="2400" b="0" i="1" smtClean="0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BE" sz="20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10" name="Tekstvak 9">
                <a:extLst>
                  <a:ext uri="{FF2B5EF4-FFF2-40B4-BE49-F238E27FC236}">
                    <a16:creationId xmlns:a16="http://schemas.microsoft.com/office/drawing/2014/main" id="{03DFF000-7D25-53A9-F0DA-7D4400CF16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0713" y="5715105"/>
                <a:ext cx="2631426" cy="95923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51F28489-80DB-062D-5AFC-E2EF31C1D782}"/>
              </a:ext>
            </a:extLst>
          </p:cNvPr>
          <p:cNvCxnSpPr>
            <a:cxnSpLocks/>
          </p:cNvCxnSpPr>
          <p:nvPr/>
        </p:nvCxnSpPr>
        <p:spPr>
          <a:xfrm flipH="1">
            <a:off x="4256048" y="5524616"/>
            <a:ext cx="367990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4" name="Rechte verbindingslijn met pijl 13">
            <a:extLst>
              <a:ext uri="{FF2B5EF4-FFF2-40B4-BE49-F238E27FC236}">
                <a16:creationId xmlns:a16="http://schemas.microsoft.com/office/drawing/2014/main" id="{DA82DFEC-1709-AA44-1B65-8CAEB7E0C807}"/>
              </a:ext>
            </a:extLst>
          </p:cNvPr>
          <p:cNvCxnSpPr/>
          <p:nvPr/>
        </p:nvCxnSpPr>
        <p:spPr>
          <a:xfrm flipV="1">
            <a:off x="1527717" y="4671548"/>
            <a:ext cx="0" cy="17061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F14C711A-E90F-FA82-59B2-2EFB52DEC256}"/>
              </a:ext>
            </a:extLst>
          </p:cNvPr>
          <p:cNvCxnSpPr>
            <a:cxnSpLocks/>
          </p:cNvCxnSpPr>
          <p:nvPr/>
        </p:nvCxnSpPr>
        <p:spPr>
          <a:xfrm>
            <a:off x="1116981" y="6131709"/>
            <a:ext cx="184552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Rechthoek 16">
            <a:extLst>
              <a:ext uri="{FF2B5EF4-FFF2-40B4-BE49-F238E27FC236}">
                <a16:creationId xmlns:a16="http://schemas.microsoft.com/office/drawing/2014/main" id="{2F071F75-C5D8-11C4-4D11-FE1B4334C1A0}"/>
              </a:ext>
            </a:extLst>
          </p:cNvPr>
          <p:cNvSpPr/>
          <p:nvPr/>
        </p:nvSpPr>
        <p:spPr>
          <a:xfrm>
            <a:off x="1873405" y="5129561"/>
            <a:ext cx="624467" cy="4869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A283D030-6B20-B390-CF33-7DA0E720F688}"/>
              </a:ext>
            </a:extLst>
          </p:cNvPr>
          <p:cNvCxnSpPr/>
          <p:nvPr/>
        </p:nvCxnSpPr>
        <p:spPr>
          <a:xfrm flipH="1">
            <a:off x="1527717" y="5129561"/>
            <a:ext cx="34568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" name="Rechte verbindingslijn 19">
            <a:extLst>
              <a:ext uri="{FF2B5EF4-FFF2-40B4-BE49-F238E27FC236}">
                <a16:creationId xmlns:a16="http://schemas.microsoft.com/office/drawing/2014/main" id="{6F02CD8F-8037-9C03-C5D5-6FE78EBBBA93}"/>
              </a:ext>
            </a:extLst>
          </p:cNvPr>
          <p:cNvCxnSpPr/>
          <p:nvPr/>
        </p:nvCxnSpPr>
        <p:spPr>
          <a:xfrm flipH="1">
            <a:off x="1507273" y="5616494"/>
            <a:ext cx="34568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Rechte verbindingslijn 20">
            <a:extLst>
              <a:ext uri="{FF2B5EF4-FFF2-40B4-BE49-F238E27FC236}">
                <a16:creationId xmlns:a16="http://schemas.microsoft.com/office/drawing/2014/main" id="{813D1A2B-2228-F417-5C48-089E3D18AD76}"/>
              </a:ext>
            </a:extLst>
          </p:cNvPr>
          <p:cNvCxnSpPr>
            <a:cxnSpLocks/>
          </p:cNvCxnSpPr>
          <p:nvPr/>
        </p:nvCxnSpPr>
        <p:spPr>
          <a:xfrm flipV="1">
            <a:off x="1873405" y="5571240"/>
            <a:ext cx="0" cy="5604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B33EBD10-584B-ADAC-0C91-C2A36459B21D}"/>
              </a:ext>
            </a:extLst>
          </p:cNvPr>
          <p:cNvCxnSpPr>
            <a:cxnSpLocks/>
          </p:cNvCxnSpPr>
          <p:nvPr/>
        </p:nvCxnSpPr>
        <p:spPr>
          <a:xfrm flipV="1">
            <a:off x="2497872" y="5571240"/>
            <a:ext cx="0" cy="560469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FB9D4FA2-26B4-D872-87CD-81F0BEA95975}"/>
                  </a:ext>
                </a:extLst>
              </p:cNvPr>
              <p:cNvSpPr txBox="1"/>
              <p:nvPr/>
            </p:nvSpPr>
            <p:spPr>
              <a:xfrm>
                <a:off x="3055918" y="6089246"/>
                <a:ext cx="18537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5" name="Tekstvak 24">
                <a:extLst>
                  <a:ext uri="{FF2B5EF4-FFF2-40B4-BE49-F238E27FC236}">
                    <a16:creationId xmlns:a16="http://schemas.microsoft.com/office/drawing/2014/main" id="{FB9D4FA2-26B4-D872-87CD-81F0BEA95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918" y="6089246"/>
                <a:ext cx="185371" cy="276999"/>
              </a:xfrm>
              <a:prstGeom prst="rect">
                <a:avLst/>
              </a:prstGeom>
              <a:blipFill>
                <a:blip r:embed="rId8"/>
                <a:stretch>
                  <a:fillRect l="-19355" r="-16129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BC16116A-15F9-FE82-EFF2-ADED832B25BD}"/>
                  </a:ext>
                </a:extLst>
              </p:cNvPr>
              <p:cNvSpPr txBox="1"/>
              <p:nvPr/>
            </p:nvSpPr>
            <p:spPr>
              <a:xfrm>
                <a:off x="1239439" y="4533048"/>
                <a:ext cx="1782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6" name="Tekstvak 25">
                <a:extLst>
                  <a:ext uri="{FF2B5EF4-FFF2-40B4-BE49-F238E27FC236}">
                    <a16:creationId xmlns:a16="http://schemas.microsoft.com/office/drawing/2014/main" id="{BC16116A-15F9-FE82-EFF2-ADED832B25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9439" y="4533048"/>
                <a:ext cx="178254" cy="276999"/>
              </a:xfrm>
              <a:prstGeom prst="rect">
                <a:avLst/>
              </a:prstGeom>
              <a:blipFill>
                <a:blip r:embed="rId9"/>
                <a:stretch>
                  <a:fillRect l="-20000" r="-16667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CFA4272B-7386-F52D-A59C-73170F88F237}"/>
                  </a:ext>
                </a:extLst>
              </p:cNvPr>
              <p:cNvSpPr txBox="1"/>
              <p:nvPr/>
            </p:nvSpPr>
            <p:spPr>
              <a:xfrm>
                <a:off x="1755377" y="6143861"/>
                <a:ext cx="2815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7" name="Tekstvak 26">
                <a:extLst>
                  <a:ext uri="{FF2B5EF4-FFF2-40B4-BE49-F238E27FC236}">
                    <a16:creationId xmlns:a16="http://schemas.microsoft.com/office/drawing/2014/main" id="{CFA4272B-7386-F52D-A59C-73170F88F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377" y="6143861"/>
                <a:ext cx="281552" cy="276999"/>
              </a:xfrm>
              <a:prstGeom prst="rect">
                <a:avLst/>
              </a:prstGeom>
              <a:blipFill>
                <a:blip r:embed="rId10"/>
                <a:stretch>
                  <a:fillRect l="-13043" r="-8696" b="-15556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F791A355-7D23-86A6-FED0-B04588D330D8}"/>
                  </a:ext>
                </a:extLst>
              </p:cNvPr>
              <p:cNvSpPr txBox="1"/>
              <p:nvPr/>
            </p:nvSpPr>
            <p:spPr>
              <a:xfrm>
                <a:off x="2342695" y="6157571"/>
                <a:ext cx="286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8" name="Tekstvak 27">
                <a:extLst>
                  <a:ext uri="{FF2B5EF4-FFF2-40B4-BE49-F238E27FC236}">
                    <a16:creationId xmlns:a16="http://schemas.microsoft.com/office/drawing/2014/main" id="{F791A355-7D23-86A6-FED0-B04588D330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2695" y="6157571"/>
                <a:ext cx="286873" cy="276999"/>
              </a:xfrm>
              <a:prstGeom prst="rect">
                <a:avLst/>
              </a:prstGeom>
              <a:blipFill>
                <a:blip r:embed="rId11"/>
                <a:stretch>
                  <a:fillRect l="-12766" r="-8511" b="-1304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AB4EA961-C08B-6176-A32D-57CE2062DEF5}"/>
                  </a:ext>
                </a:extLst>
              </p:cNvPr>
              <p:cNvSpPr txBox="1"/>
              <p:nvPr/>
            </p:nvSpPr>
            <p:spPr>
              <a:xfrm>
                <a:off x="1190993" y="5444213"/>
                <a:ext cx="2712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29" name="Tekstvak 28">
                <a:extLst>
                  <a:ext uri="{FF2B5EF4-FFF2-40B4-BE49-F238E27FC236}">
                    <a16:creationId xmlns:a16="http://schemas.microsoft.com/office/drawing/2014/main" id="{AB4EA961-C08B-6176-A32D-57CE2062D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993" y="5444213"/>
                <a:ext cx="271293" cy="276999"/>
              </a:xfrm>
              <a:prstGeom prst="rect">
                <a:avLst/>
              </a:prstGeom>
              <a:blipFill>
                <a:blip r:embed="rId12"/>
                <a:stretch>
                  <a:fillRect l="-13333" r="-8889" b="-1304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0412D5F5-5F91-E628-1E76-3DA34262DD49}"/>
                  </a:ext>
                </a:extLst>
              </p:cNvPr>
              <p:cNvSpPr txBox="1"/>
              <p:nvPr/>
            </p:nvSpPr>
            <p:spPr>
              <a:xfrm>
                <a:off x="1190992" y="4957147"/>
                <a:ext cx="27661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BE" dirty="0"/>
              </a:p>
            </p:txBody>
          </p:sp>
        </mc:Choice>
        <mc:Fallback xmlns="">
          <p:sp>
            <p:nvSpPr>
              <p:cNvPr id="30" name="Tekstvak 29">
                <a:extLst>
                  <a:ext uri="{FF2B5EF4-FFF2-40B4-BE49-F238E27FC236}">
                    <a16:creationId xmlns:a16="http://schemas.microsoft.com/office/drawing/2014/main" id="{0412D5F5-5F91-E628-1E76-3DA34262D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0992" y="4957147"/>
                <a:ext cx="276614" cy="276999"/>
              </a:xfrm>
              <a:prstGeom prst="rect">
                <a:avLst/>
              </a:prstGeom>
              <a:blipFill>
                <a:blip r:embed="rId13"/>
                <a:stretch>
                  <a:fillRect l="-13043" r="-8696" b="-13043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Afbeelding 31" descr="Afbeelding met diagram, lijn, Perceel, ontwerp&#10;&#10;Door AI gegenereerde inhoud is mogelijk onjuist.">
            <a:extLst>
              <a:ext uri="{FF2B5EF4-FFF2-40B4-BE49-F238E27FC236}">
                <a16:creationId xmlns:a16="http://schemas.microsoft.com/office/drawing/2014/main" id="{2F77417B-C9AC-B7A5-0BC8-06BD2595638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49" t="25618" r="3907" b="5119"/>
          <a:stretch>
            <a:fillRect/>
          </a:stretch>
        </p:blipFill>
        <p:spPr>
          <a:xfrm>
            <a:off x="8439421" y="4003289"/>
            <a:ext cx="2914380" cy="237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81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F92191-74DE-05E4-E1E7-C8FBC0684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95250"/>
            <a:ext cx="10515600" cy="949008"/>
          </a:xfrm>
        </p:spPr>
        <p:txBody>
          <a:bodyPr/>
          <a:lstStyle/>
          <a:p>
            <a:r>
              <a:rPr lang="nl-BE" dirty="0"/>
              <a:t>Voorbeeld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983330D-4883-132F-2E1C-855B2009E3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723900"/>
                <a:ext cx="8724899" cy="6032499"/>
              </a:xfrm>
            </p:spPr>
            <p:txBody>
              <a:bodyPr>
                <a:normAutofit fontScale="475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sz="51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sz="51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nl-BE" sz="51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nl-BE" sz="5100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  <m:nary>
                            <m:naryPr>
                              <m:ctrlPr>
                                <a:rPr lang="nl-BE" sz="5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ad>
                                <m:radPr>
                                  <m:degHide m:val="on"/>
                                  <m:ctrlP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  <m:t>9−</m:t>
                                  </m:r>
                                  <m:sSup>
                                    <m:sSupPr>
                                      <m:ctrlP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</m:sup>
                            <m:e>
                              <m:rad>
                                <m:radPr>
                                  <m:degHide m:val="on"/>
                                  <m:ctrlP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  <m:t>9−</m:t>
                                  </m:r>
                                  <m:sSup>
                                    <m:sSupPr>
                                      <m:ctrlP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nl-BE" sz="51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𝑑𝑦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sz="5100" dirty="0"/>
              </a:p>
              <a:p>
                <a:r>
                  <a:rPr lang="nl-BE" sz="5100" dirty="0"/>
                  <a:t>Polaire coördinaten!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nl-BE" sz="51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l-BE" sz="51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nl-BE" sz="51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r>
                            <a:rPr lang="nl-BE" sz="5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nl-BE" sz="5100" i="1">
                              <a:latin typeface="Cambria Math" panose="02040503050406030204" pitchFamily="18" charset="0"/>
                            </a:rPr>
                            <m:t>𝜃</m:t>
                          </m:r>
                          <m:nary>
                            <m:naryPr>
                              <m:ctrlPr>
                                <a:rPr lang="nl-BE" sz="51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  <m:e>
                              <m:r>
                                <a:rPr lang="nl-BE" sz="51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ad>
                                <m:radPr>
                                  <m:degHide m:val="on"/>
                                  <m:ctrlPr>
                                    <a:rPr lang="nl-BE" sz="5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nl-BE" sz="5100" i="1">
                                      <a:latin typeface="Cambria Math" panose="02040503050406030204" pitchFamily="18" charset="0"/>
                                    </a:rPr>
                                    <m:t>9−</m:t>
                                  </m:r>
                                  <m:sSup>
                                    <m:sSupPr>
                                      <m:ctrlPr>
                                        <a:rPr lang="nl-BE" sz="5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nl-BE" sz="5100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p>
                                      <m:r>
                                        <a:rPr lang="nl-BE" sz="5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nl-BE" sz="5100" i="1">
                                  <a:latin typeface="Cambria Math" panose="02040503050406030204" pitchFamily="18" charset="0"/>
                                </a:rPr>
                                <m:t>𝑑𝑟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sz="5100" dirty="0"/>
              </a:p>
              <a:p>
                <a:r>
                  <a:rPr lang="nl-BE" sz="5100" b="1" dirty="0">
                    <a:solidFill>
                      <a:srgbClr val="FF0000"/>
                    </a:solidFill>
                  </a:rPr>
                  <a:t>Jacobiaan</a:t>
                </a:r>
                <a:r>
                  <a:rPr lang="nl-BE" sz="5100" dirty="0"/>
                  <a:t> toevoegen!</a:t>
                </a:r>
              </a:p>
              <a:p>
                <a:endParaRPr lang="nl-BE" sz="5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nl-BE" sz="51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func>
                                <m:funcPr>
                                  <m:ctrlP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 sz="51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func>
                                <m:funcPr>
                                  <m:ctrlP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 sz="5100" b="0" i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nl-BE" sz="5100" b="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</m:eqArr>
                        </m:e>
                      </m:d>
                    </m:oMath>
                  </m:oMathPara>
                </a14:m>
                <a:endParaRPr lang="nl-BE" sz="5100" dirty="0"/>
              </a:p>
              <a:p>
                <a:pPr marL="0" indent="0">
                  <a:buNone/>
                </a:pPr>
                <a:endParaRPr lang="nl-BE" sz="5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51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nl-BE" sz="5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5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nl-BE" sz="5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sz="51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nl-BE" sz="5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sz="5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BE" sz="51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5100" i="1">
                                        <a:latin typeface="Cambria Math" panose="02040503050406030204" pitchFamily="18" charset="0"/>
                                      </a:rPr>
                                      <m:t>𝜕𝜃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nl-BE" sz="5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sz="5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BE" sz="5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unc>
                                  <m:funcPr>
                                    <m:ctrlP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  <m:brk m:alnAt="7"/>
                                      </m:rPr>
                                      <a:rPr lang="nl-BE" sz="5100" b="0" i="0" smtClean="0">
                                        <a:latin typeface="Cambria Math" panose="02040503050406030204" pitchFamily="18" charset="0"/>
                                      </a:rPr>
                                      <m:t>c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nl-BE" sz="5100" b="0" i="0" smtClean="0">
                                        <a:latin typeface="Cambria Math" panose="02040503050406030204" pitchFamily="18" charset="0"/>
                                      </a:rPr>
                                      <m:t>os</m:t>
                                    </m:r>
                                  </m:fName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nl-BE" sz="51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nl-BE" sz="51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sz="51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func>
                                  <m:funcPr>
                                    <m:ctrlP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sz="5100" b="0" i="0" smtClean="0"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  <m:e>
                                <m:r>
                                  <a:rPr lang="nl-BE" sz="51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func>
                                  <m:funcPr>
                                    <m:ctrlP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nl-BE" sz="5100" b="0" i="0" smtClean="0"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nl-BE" sz="5100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BE" sz="5100" dirty="0"/>
              </a:p>
              <a:p>
                <a:pPr marL="0" indent="0">
                  <a:buNone/>
                </a:pPr>
                <a:endParaRPr lang="nl-BE" sz="51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nl-BE" sz="51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sz="5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nl-BE" sz="51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𝐝𝐞𝐭</m:t>
                              </m:r>
                            </m:fName>
                            <m:e>
                              <m:r>
                                <a:rPr lang="nl-BE" sz="51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𝑱</m:t>
                              </m:r>
                              <m:d>
                                <m:dPr>
                                  <m:ctrlPr>
                                    <a:rPr lang="nl-BE" sz="5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sz="5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  <m:r>
                                    <a:rPr lang="nl-BE" sz="5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sz="5100" b="1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nl-BE" sz="5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sz="51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</m:oMath>
                  </m:oMathPara>
                </a14:m>
                <a:endParaRPr lang="nl-BE" sz="51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B983330D-4883-132F-2E1C-855B2009E3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23900"/>
                <a:ext cx="8724899" cy="6032499"/>
              </a:xfrm>
              <a:blipFill>
                <a:blip r:embed="rId2"/>
                <a:stretch>
                  <a:fillRect l="-908" b="-708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Afbeelding 4">
            <a:extLst>
              <a:ext uri="{FF2B5EF4-FFF2-40B4-BE49-F238E27FC236}">
                <a16:creationId xmlns:a16="http://schemas.microsoft.com/office/drawing/2014/main" id="{48C85E70-62A8-E999-91D6-C3B7FDFB5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168" y="723900"/>
            <a:ext cx="4655666" cy="46386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FF44E6D-BD9E-2917-7575-80FD2F90E1AE}"/>
                  </a:ext>
                </a:extLst>
              </p:cNvPr>
              <p:cNvSpPr txBox="1"/>
              <p:nvPr/>
            </p:nvSpPr>
            <p:spPr>
              <a:xfrm>
                <a:off x="9071593" y="3043237"/>
                <a:ext cx="427105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36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nl-BE" sz="3600" dirty="0"/>
              </a:p>
            </p:txBody>
          </p:sp>
        </mc:Choice>
        <mc:Fallback xmlns="">
          <p:sp>
            <p:nvSpPr>
              <p:cNvPr id="6" name="Tekstvak 5">
                <a:extLst>
                  <a:ext uri="{FF2B5EF4-FFF2-40B4-BE49-F238E27FC236}">
                    <a16:creationId xmlns:a16="http://schemas.microsoft.com/office/drawing/2014/main" id="{8FF44E6D-BD9E-2917-7575-80FD2F90E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1593" y="3043237"/>
                <a:ext cx="427105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923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4CB00F68-34E1-E639-F129-130C80A76AA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3815080" y="0"/>
                <a:ext cx="10515600" cy="1016000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Wat als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nl-BE" dirty="0"/>
                  <a:t> moeilijk te bepalen is?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4CB00F68-34E1-E639-F129-130C80A76A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815080" y="0"/>
                <a:ext cx="10515600" cy="1016000"/>
              </a:xfrm>
              <a:blipFill>
                <a:blip r:embed="rId2"/>
                <a:stretch>
                  <a:fillRect l="-2377" b="-1736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D425C55-A13E-9FAD-4412-8AA3808BA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873761"/>
                <a:ext cx="11816080" cy="5984239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nl-BE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eqAr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r>
                  <a:rPr lang="nl-BE" dirty="0"/>
                  <a:t> kan moeilijk gevonden worden</a:t>
                </a:r>
              </a:p>
              <a:p>
                <a:r>
                  <a:rPr lang="nl-BE" dirty="0"/>
                  <a:t>Je hebt wel de formule van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⃗"/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p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nl-BE" i="1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eqAr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  <m:d>
                              <m:d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nl-BE" dirty="0"/>
              </a:p>
              <a:p>
                <a:endParaRPr lang="nl-BE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i="1">
                          <a:latin typeface="Cambria Math" panose="02040503050406030204" pitchFamily="18" charset="0"/>
                        </a:rPr>
                        <m:t>𝐽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2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num>
                                      <m:den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den>
                                    </m:f>
                                  </m:e>
                                </m:mr>
                                <m:mr>
                                  <m:e>
                                    <m:f>
                                      <m:f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𝑢</m:t>
                                        </m:r>
                                      </m:den>
                                    </m:f>
                                  </m:e>
                                  <m:e>
                                    <m:f>
                                      <m:fPr>
                                        <m:ctrlP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num>
                                      <m:den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𝜕</m:t>
                                        </m:r>
                                        <m:r>
                                          <a:rPr lang="nl-BE" i="1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den>
                                    </m:f>
                                  </m:e>
                                </m:mr>
                              </m:m>
                            </m:e>
                          </m:d>
                        </m:e>
                        <m:sup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num>
                                  <m:den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num>
                                  <m:den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num>
                                  <m:den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nl-BE" dirty="0"/>
              </a:p>
              <a:p>
                <a:r>
                  <a:rPr lang="nl-BE" b="1" dirty="0">
                    <a:solidFill>
                      <a:srgbClr val="FF0000"/>
                    </a:solidFill>
                  </a:rPr>
                  <a:t>Zie oefening 6.33!</a:t>
                </a:r>
              </a:p>
              <a:p>
                <a:r>
                  <a:rPr lang="nl-BE" dirty="0"/>
                  <a:t>Met andere woorden: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=1→</m:t>
                      </m:r>
                      <m:d>
                        <m:dPr>
                          <m:begChr m:val="|"/>
                          <m:endChr m:val="|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den>
                      </m:f>
                    </m:oMath>
                  </m:oMathPara>
                </a14:m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5D425C55-A13E-9FAD-4412-8AA3808BA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873761"/>
                <a:ext cx="11816080" cy="5984239"/>
              </a:xfrm>
              <a:blipFill>
                <a:blip r:embed="rId3"/>
                <a:stretch>
                  <a:fillRect l="-929" t="-71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739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BCBC7-2978-AC71-2BD2-C77B1D23C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E6C8C2B-034C-D0D4-8571-33BDE23622C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4056" y="0"/>
                <a:ext cx="10515600" cy="1016000"/>
              </a:xfrm>
            </p:spPr>
            <p:txBody>
              <a:bodyPr>
                <a:normAutofit/>
              </a:bodyPr>
              <a:lstStyle/>
              <a:p>
                <a:r>
                  <a:rPr lang="nl-BE" dirty="0"/>
                  <a:t>Wat als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</m:oMath>
                </a14:m>
                <a:r>
                  <a:rPr lang="nl-BE" dirty="0"/>
                  <a:t> moeilijk te bepalen is?</a:t>
                </a:r>
              </a:p>
            </p:txBody>
          </p:sp>
        </mc:Choice>
        <mc:Fallback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5E6C8C2B-034C-D0D4-8571-33BDE23622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4056" y="0"/>
                <a:ext cx="10515600" cy="1016000"/>
              </a:xfrm>
              <a:blipFill>
                <a:blip r:embed="rId2"/>
                <a:stretch>
                  <a:fillRect l="-2377" b="-17365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09B7971-CFCA-292E-5A95-FFD518DD0C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873761"/>
                <a:ext cx="11816080" cy="59842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  <m:func>
                            <m:funcPr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nl-BE" b="0" i="1" smtClean="0">
                          <a:latin typeface="Cambria Math" panose="02040503050406030204" pitchFamily="18" charset="0"/>
                        </a:rPr>
                        <m:t>=1→</m:t>
                      </m:r>
                      <m:d>
                        <m:dPr>
                          <m:begChr m:val="|"/>
                          <m:endChr m:val="|"/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nl-BE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den>
                      </m:f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nl-BE" dirty="0"/>
                  <a:t>Op deze manier kan je op de omgekeerde manier werken</a:t>
                </a: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det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𝑑𝑣</m:t>
                      </m:r>
                    </m:oMath>
                  </m:oMathPara>
                </a14:m>
                <a:endParaRPr lang="nl-BE" dirty="0"/>
              </a:p>
              <a:p>
                <a:r>
                  <a:rPr lang="nl-BE" dirty="0"/>
                  <a:t>Dit wordt: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nl-BE">
                                      <a:latin typeface="Cambria Math" panose="02040503050406030204" pitchFamily="18" charset="0"/>
                                    </a:rPr>
                                    <m:t>det</m:t>
                                  </m:r>
                                </m:fName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d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𝑑𝑢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𝑑𝑣</m:t>
                      </m:r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:r>
                  <a:rPr lang="en-GB" dirty="0" err="1"/>
                  <a:t>Schrijf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>
                                    <a:latin typeface="Cambria Math" panose="02040503050406030204" pitchFamily="18" charset="0"/>
                                  </a:rPr>
                                  <m:t>det</m:t>
                                </m:r>
                              </m:fName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  <m:d>
                                  <m:dPr>
                                    <m:ctrlP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nl-B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func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nl-BE" dirty="0"/>
                  <a:t> dan in termen van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nl-BE" dirty="0"/>
                  <a:t> 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</p:txBody>
          </p:sp>
        </mc:Choice>
        <mc:Fallback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D09B7971-CFCA-292E-5A95-FFD518DD0C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873761"/>
                <a:ext cx="11816080" cy="5984239"/>
              </a:xfrm>
              <a:blipFill>
                <a:blip r:embed="rId3"/>
                <a:stretch>
                  <a:fillRect l="-929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63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1D27168-0FF1-961D-9685-94E1603D443C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62011" y="104775"/>
                <a:ext cx="10515600" cy="862013"/>
              </a:xfrm>
            </p:spPr>
            <p:txBody>
              <a:bodyPr/>
              <a:lstStyle/>
              <a:p>
                <a:r>
                  <a:rPr lang="nl-BE" dirty="0"/>
                  <a:t>Wat als we dit willen toepassen voor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nl-BE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nl-BE" dirty="0"/>
                  <a:t> ?</a:t>
                </a:r>
              </a:p>
            </p:txBody>
          </p:sp>
        </mc:Choice>
        <mc:Fallback xmlns="">
          <p:sp>
            <p:nvSpPr>
              <p:cNvPr id="2" name="Titel 1">
                <a:extLst>
                  <a:ext uri="{FF2B5EF4-FFF2-40B4-BE49-F238E27FC236}">
                    <a16:creationId xmlns:a16="http://schemas.microsoft.com/office/drawing/2014/main" id="{91D27168-0FF1-961D-9685-94E1603D44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62011" y="104775"/>
                <a:ext cx="10515600" cy="862013"/>
              </a:xfrm>
              <a:blipFill>
                <a:blip r:embed="rId2"/>
                <a:stretch>
                  <a:fillRect l="-2319" t="-11268" b="-25352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A5175F0-B6AA-63E6-178F-8BA3EEA716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4299" y="819150"/>
                <a:ext cx="12077701" cy="603885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nl-BE" i="1">
                        <a:latin typeface="Cambria Math" panose="02040503050406030204" pitchFamily="18" charset="0"/>
                      </a:rPr>
                      <m:t>: </m:t>
                    </m:r>
                    <m:d>
                      <m:dPr>
                        <m:begChr m:val="{"/>
                        <m:endChr m:val=""/>
                        <m:ctrlPr>
                          <a:rPr lang="nl-B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  <m:e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d>
                              <m:d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</m:d>
                          </m:e>
                        </m:eqArr>
                      </m:e>
                    </m:d>
                  </m:oMath>
                </a14:m>
                <a:endParaRPr lang="nl-BE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b="0" i="1" smtClean="0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nl-BE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acc>
                                    <m:accPr>
                                      <m:chr m:val="⃗"/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15"/>
                                        </m:r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nl-BE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brk m:alnAt="15"/>
                                            </m:r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nl-BE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i="1" dirty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nl-BE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nl-BE" i="1" dirty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nl-BE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nl-BE" i="1" dirty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nl-B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m:rPr>
                                              <m:sty m:val="p"/>
                                            </m:rPr>
                                            <a:rPr lang="nl-BE">
                                              <a:latin typeface="Cambria Math" panose="02040503050406030204" pitchFamily="18" charset="0"/>
                                            </a:rPr>
                                            <m:t>det</m:t>
                                          </m:r>
                                        </m:fName>
                                        <m:e>
                                          <m:r>
                                            <a:rPr lang="nl-BE" i="1">
                                              <a:latin typeface="Cambria Math" panose="02040503050406030204" pitchFamily="18" charset="0"/>
                                            </a:rPr>
                                            <m:t>𝐽</m:t>
                                          </m:r>
                                          <m:d>
                                            <m:dPr>
                                              <m:ctrlP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nl-BE" i="1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i="1">
                                      <a:latin typeface="Cambria Math" panose="02040503050406030204" pitchFamily="18" charset="0"/>
                                    </a:rPr>
                                    <m:t>𝑑𝑣</m:t>
                                  </m:r>
                                </m:e>
                              </m:nary>
                              <m:r>
                                <a:rPr lang="nl-BE" i="1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dirty="0"/>
              </a:p>
              <a:p>
                <a:pPr marL="0" indent="0">
                  <a:buNone/>
                </a:pPr>
                <a:endParaRPr lang="nl-BE" dirty="0"/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nl-BE" i="1">
                        <a:latin typeface="Cambria Math" panose="02040503050406030204" pitchFamily="18" charset="0"/>
                      </a:rPr>
                      <m:t>: </m:t>
                    </m:r>
                    <m:d>
                      <m:dPr>
                        <m:begChr m:val="{"/>
                        <m:endChr m:val="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eqArr>
                      </m:e>
                    </m:d>
                    <m:r>
                      <a:rPr lang="nl-BE" b="0" i="1" smtClean="0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|"/>
                        <m:ctrlP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BE" b="1" i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𝐝𝐞𝐭</m:t>
                            </m:r>
                          </m:fName>
                          <m:e>
                            <m:r>
                              <a:rPr lang="nl-BE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  <m:d>
                              <m:dPr>
                                <m:ctrlP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𝒖</m:t>
                                </m:r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𝒛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nl-BE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𝒖</m:t>
                    </m:r>
                  </m:oMath>
                </a14:m>
                <a:endParaRPr lang="nl-BE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nl-BE" i="1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nl-BE" i="1">
                        <a:latin typeface="Cambria Math" panose="02040503050406030204" pitchFamily="18" charset="0"/>
                      </a:rPr>
                      <m:t>: </m:t>
                    </m:r>
                    <m:d>
                      <m:dPr>
                        <m:begChr m:val="{"/>
                        <m:endChr m:val=""/>
                        <m:ctrlPr>
                          <a:rPr lang="nl-B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nl-BE" i="1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  <m:func>
                              <m:funcPr>
                                <m:ctrlPr>
                                  <a:rPr lang="nl-BE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a:rPr lang="nl-BE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</m:func>
                          </m:e>
                          <m:e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nl-BE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nl-BE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func>
                              <m:funcPr>
                                <m:ctrlP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nl-BE" b="0" i="0" smtClean="0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a:rPr lang="nl-BE" b="0" i="1" smtClean="0"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func>
                          </m:e>
                        </m:eqArr>
                      </m:e>
                    </m:d>
                    <m:r>
                      <a:rPr lang="nl-BE" i="1"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|"/>
                        <m:endChr m:val="|"/>
                        <m:ctrlP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nl-B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nl-B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𝒅𝒆𝒕</m:t>
                            </m:r>
                          </m:fName>
                          <m:e>
                            <m:r>
                              <a:rPr lang="nl-BE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𝑱</m:t>
                            </m:r>
                            <m:d>
                              <m:dPr>
                                <m:ctrlPr>
                                  <a:rPr lang="nl-BE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𝒓</m:t>
                                </m:r>
                                <m:r>
                                  <a:rPr lang="nl-BE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  <m:r>
                                  <a:rPr lang="nl-BE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nl-BE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𝝓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nl-BE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p>
                        <m: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func>
                      <m:funcPr>
                        <m:ctrlP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nl-BE" b="1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nl-BE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𝝓</m:t>
                        </m:r>
                      </m:e>
                    </m:func>
                  </m:oMath>
                </a14:m>
                <a:endParaRPr lang="nl-BE" b="1" dirty="0"/>
              </a:p>
              <a:p>
                <a:endParaRPr lang="nl-BE" dirty="0"/>
              </a:p>
            </p:txBody>
          </p:sp>
        </mc:Choice>
        <mc:Fallback xmlns="">
          <p:sp>
            <p:nvSpPr>
              <p:cNvPr id="3" name="Tijdelijke aanduiding voor inhoud 2">
                <a:extLst>
                  <a:ext uri="{FF2B5EF4-FFF2-40B4-BE49-F238E27FC236}">
                    <a16:creationId xmlns:a16="http://schemas.microsoft.com/office/drawing/2014/main" id="{EA5175F0-B6AA-63E6-178F-8BA3EEA716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4299" y="819150"/>
                <a:ext cx="12077701" cy="6038850"/>
              </a:xfrm>
              <a:blipFill>
                <a:blip r:embed="rId3"/>
                <a:stretch>
                  <a:fillRect t="-303"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2637E35-D591-BDA4-AA7B-936033ED2BE5}"/>
                  </a:ext>
                </a:extLst>
              </p:cNvPr>
              <p:cNvSpPr txBox="1"/>
              <p:nvPr/>
            </p:nvSpPr>
            <p:spPr>
              <a:xfrm>
                <a:off x="7180574" y="3429000"/>
                <a:ext cx="4754250" cy="1844287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nl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d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nl-BE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</m:num>
                        <m:den>
                          <m:r>
                            <a:rPr lang="nl-BE" sz="20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d>
                        </m:den>
                      </m:f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nl-BE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nl-BE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num>
                                  <m:den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nl-BE" sz="2000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nl-BE" sz="20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nl-BE" sz="2000" dirty="0"/>
              </a:p>
            </p:txBody>
          </p:sp>
        </mc:Choice>
        <mc:Fallback xmlns="">
          <p:sp>
            <p:nvSpPr>
              <p:cNvPr id="4" name="Tekstvak 3">
                <a:extLst>
                  <a:ext uri="{FF2B5EF4-FFF2-40B4-BE49-F238E27FC236}">
                    <a16:creationId xmlns:a16="http://schemas.microsoft.com/office/drawing/2014/main" id="{32637E35-D591-BDA4-AA7B-936033ED2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574" y="3429000"/>
                <a:ext cx="4754250" cy="18442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6003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Tijdelijke aanduiding voor inhoud 7" descr="Afbeelding met zoogdier, kat, Kleine tot middelgrote katten, huiskat&#10;&#10;Door AI gegenereerde inhoud is mogelijk onjuist.">
            <a:extLst>
              <a:ext uri="{FF2B5EF4-FFF2-40B4-BE49-F238E27FC236}">
                <a16:creationId xmlns:a16="http://schemas.microsoft.com/office/drawing/2014/main" id="{FCEC9E0A-3E0F-F68D-08BF-5657C62AA4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582056" y="103970"/>
            <a:ext cx="5027887" cy="557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DA4B9D48-8C50-90EE-69B3-ABE3A1D6DF68}"/>
                  </a:ext>
                </a:extLst>
              </p:cNvPr>
              <p:cNvSpPr txBox="1"/>
              <p:nvPr/>
            </p:nvSpPr>
            <p:spPr>
              <a:xfrm>
                <a:off x="30480" y="5675037"/>
                <a:ext cx="12161520" cy="11433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nl-BE" sz="28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sub>
                                <m:sup/>
                                <m:e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  <m:r>
                                        <a:rPr lang="nl-BE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nl-BE" sz="2800" b="0" i="1" smtClean="0"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</m:d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𝑑𝑥</m:t>
                                  </m:r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𝑑𝑦</m:t>
                                  </m:r>
                                  <m:r>
                                    <a:rPr lang="nl-BE" sz="28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sz="2800" b="0" i="1" smtClean="0">
                                      <a:latin typeface="Cambria Math" panose="02040503050406030204" pitchFamily="18" charset="0"/>
                                    </a:rPr>
                                    <m:t>𝑑𝑧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  <m:r>
                        <a:rPr lang="nl-BE" sz="2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nl-BE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nary>
                            <m:naryPr>
                              <m:subHide m:val="on"/>
                              <m:supHide m:val="on"/>
                              <m:ctrlPr>
                                <a:rPr lang="nl-BE" sz="28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nary>
                                <m:naryPr>
                                  <m:ctrlP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acc>
                                    <m:accPr>
                                      <m:chr m:val="⃗"/>
                                      <m:ctrlP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brk m:alnAt="15"/>
                                        </m:rP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nl-BE" sz="2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3"/>
                                        </m:rP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</m:d>
                                </m:sub>
                                <m:sup/>
                                <m:e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nl-BE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acc>
                                        <m:accPr>
                                          <m:chr m:val="⃗"/>
                                          <m:ctrlPr>
                                            <a:rPr lang="nl-BE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brk m:alnAt="15"/>
                                            </m:rPr>
                                            <a:rPr lang="nl-BE" sz="2800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acc>
                                      <m:d>
                                        <m:dPr>
                                          <m:ctrlPr>
                                            <a:rPr lang="nl-BE" sz="28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nl-BE" sz="2800" i="1" dirty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  <m:r>
                                            <a:rPr lang="nl-BE" sz="28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nl-BE" sz="2800" i="1" dirty="0"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  <m:r>
                                            <a:rPr lang="nl-BE" sz="2800" i="1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nl-BE" sz="2800" i="1" dirty="0">
                                              <a:latin typeface="Cambria Math" panose="02040503050406030204" pitchFamily="18" charset="0"/>
                                            </a:rPr>
                                            <m:t>𝑤</m:t>
                                          </m:r>
                                        </m:e>
                                      </m:d>
                                    </m:e>
                                  </m:d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nl-BE" sz="2800" b="1" i="1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unc>
                                        <m:funcPr>
                                          <m:ctrlPr>
                                            <a:rPr lang="nl-BE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uncPr>
                                        <m:fName>
                                          <m:r>
                                            <a:rPr lang="nl-BE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𝒅𝒆𝒕</m:t>
                                          </m:r>
                                        </m:fName>
                                        <m:e>
                                          <m:r>
                                            <a:rPr lang="nl-BE" sz="2800" b="1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𝑱</m:t>
                                          </m:r>
                                          <m:d>
                                            <m:dPr>
                                              <m:ctrlPr>
                                                <a:rPr lang="nl-BE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nl-BE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𝒖</m:t>
                                              </m:r>
                                              <m:r>
                                                <a:rPr lang="nl-BE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nl-BE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𝒗</m:t>
                                              </m:r>
                                              <m:r>
                                                <a:rPr lang="nl-BE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nl-BE" sz="2800" b="1" i="1">
                                                  <a:solidFill>
                                                    <a:srgbClr val="FF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𝒘</m:t>
                                              </m:r>
                                            </m:e>
                                          </m:d>
                                        </m:e>
                                      </m:func>
                                    </m:e>
                                  </m:d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𝑑𝑢</m:t>
                                  </m:r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nl-BE" sz="2800" i="1">
                                      <a:latin typeface="Cambria Math" panose="02040503050406030204" pitchFamily="18" charset="0"/>
                                    </a:rPr>
                                    <m:t>𝑑𝑣</m:t>
                                  </m:r>
                                </m:e>
                              </m:nary>
                              <m:r>
                                <a:rPr lang="nl-BE" sz="2800" i="1">
                                  <a:latin typeface="Cambria Math" panose="02040503050406030204" pitchFamily="18" charset="0"/>
                                </a:rPr>
                                <m:t>𝑑𝑤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nl-BE" sz="2800" dirty="0"/>
              </a:p>
            </p:txBody>
          </p:sp>
        </mc:Choice>
        <mc:Fallback>
          <p:sp>
            <p:nvSpPr>
              <p:cNvPr id="3" name="Tekstvak 2">
                <a:extLst>
                  <a:ext uri="{FF2B5EF4-FFF2-40B4-BE49-F238E27FC236}">
                    <a16:creationId xmlns:a16="http://schemas.microsoft.com/office/drawing/2014/main" id="{DA4B9D48-8C50-90EE-69B3-ABE3A1D6D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" y="5675037"/>
                <a:ext cx="12161520" cy="11433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B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0013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8E411-6384-E839-F72A-BC33779DB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6C9AEC-617F-76E7-D911-2C957B029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DB5898-2D97-6BFF-B577-D29543225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787525"/>
            <a:ext cx="11449049" cy="4351338"/>
          </a:xfrm>
        </p:spPr>
        <p:txBody>
          <a:bodyPr>
            <a:normAutofit/>
          </a:bodyPr>
          <a:lstStyle/>
          <a:p>
            <a:r>
              <a:rPr lang="nl-BE" dirty="0"/>
              <a:t>8.5 F</a:t>
            </a:r>
          </a:p>
          <a:p>
            <a:r>
              <a:rPr lang="nl-BE" dirty="0"/>
              <a:t>8.6 D</a:t>
            </a:r>
          </a:p>
          <a:p>
            <a:r>
              <a:rPr lang="nl-BE" dirty="0"/>
              <a:t>8.9 O</a:t>
            </a:r>
          </a:p>
          <a:p>
            <a:r>
              <a:rPr lang="nl-BE" dirty="0"/>
              <a:t>8.12 O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b="1" dirty="0">
                <a:solidFill>
                  <a:srgbClr val="FF0000"/>
                </a:solidFill>
                <a:sym typeface="Wingdings" panose="05000000000000000000" pitchFamily="2" charset="2"/>
              </a:rPr>
              <a:t>ENKEL INTEGRAAL OPSTELLEN</a:t>
            </a:r>
            <a:endParaRPr lang="nl-BE" dirty="0"/>
          </a:p>
          <a:p>
            <a:r>
              <a:rPr lang="nl-BE" dirty="0"/>
              <a:t>8.18 </a:t>
            </a:r>
            <a:r>
              <a:rPr lang="nl-BE" dirty="0">
                <a:sym typeface="Wingdings" panose="05000000000000000000" pitchFamily="2" charset="2"/>
              </a:rPr>
              <a:t> </a:t>
            </a:r>
            <a:r>
              <a:rPr lang="nl-BE" b="1" dirty="0">
                <a:solidFill>
                  <a:srgbClr val="FF0000"/>
                </a:solidFill>
                <a:sym typeface="Wingdings" panose="05000000000000000000" pitchFamily="2" charset="2"/>
              </a:rPr>
              <a:t>ENKEL INTEGRAAL OPSTELLEN</a:t>
            </a:r>
            <a:endParaRPr lang="nl-BE" dirty="0"/>
          </a:p>
          <a:p>
            <a:r>
              <a:rPr lang="nl-BE" dirty="0"/>
              <a:t>8.24 B</a:t>
            </a:r>
            <a:r>
              <a:rPr lang="nl-BE" dirty="0">
                <a:sym typeface="Wingdings" panose="05000000000000000000" pitchFamily="2" charset="2"/>
              </a:rPr>
              <a:t>  </a:t>
            </a:r>
            <a:r>
              <a:rPr lang="nl-BE" b="1" dirty="0">
                <a:solidFill>
                  <a:srgbClr val="FF0000"/>
                </a:solidFill>
                <a:sym typeface="Wingdings" panose="05000000000000000000" pitchFamily="2" charset="2"/>
              </a:rPr>
              <a:t>ENKEL INTEGRAAL OPSTELLEN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96930196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405</Words>
  <Application>Microsoft Office PowerPoint</Application>
  <PresentationFormat>Breedbeeld</PresentationFormat>
  <Paragraphs>97</Paragraphs>
  <Slides>13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Wingdings</vt:lpstr>
      <vt:lpstr>Kantoorthema</vt:lpstr>
      <vt:lpstr>Slides Oefenzittingen komen op GitHub</vt:lpstr>
      <vt:lpstr>Analyse I, Oefenzitting 8</vt:lpstr>
      <vt:lpstr>n-parallelepipidum</vt:lpstr>
      <vt:lpstr>Volumeverandering bij Lineaire Transformatie</vt:lpstr>
      <vt:lpstr>Volumeverandering bij Niet-Lineaire Transformatie</vt:lpstr>
      <vt:lpstr>Volumeverandering bij Niet-Lineaire Transformatie</vt:lpstr>
      <vt:lpstr>Transformatie van integratie veranderlijken</vt:lpstr>
      <vt:lpstr>Voorbeeld</vt:lpstr>
      <vt:lpstr>Wat als T ⃗ moeilijk te bepalen is?</vt:lpstr>
      <vt:lpstr>Wat als T ⃗ moeilijk te bepalen is?</vt:lpstr>
      <vt:lpstr>Wat als we dit willen toepassen voor R^3 ?</vt:lpstr>
      <vt:lpstr>PowerPoint-presentatie</vt:lpstr>
      <vt:lpstr>Oefeningen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Visterin</dc:creator>
  <cp:lastModifiedBy>Jasper Visterin</cp:lastModifiedBy>
  <cp:revision>344</cp:revision>
  <dcterms:created xsi:type="dcterms:W3CDTF">2025-11-15T11:02:06Z</dcterms:created>
  <dcterms:modified xsi:type="dcterms:W3CDTF">2025-12-08T20:54:51Z</dcterms:modified>
</cp:coreProperties>
</file>