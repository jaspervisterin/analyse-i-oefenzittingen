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2" r:id="rId5"/>
    <p:sldId id="264" r:id="rId6"/>
    <p:sldId id="270" r:id="rId7"/>
    <p:sldId id="265" r:id="rId8"/>
    <p:sldId id="266" r:id="rId9"/>
    <p:sldId id="267" r:id="rId10"/>
    <p:sldId id="269" r:id="rId11"/>
    <p:sldId id="268" r:id="rId12"/>
    <p:sldId id="260" r:id="rId13"/>
    <p:sldId id="263" r:id="rId1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ECC7C-3906-43D9-8D07-8F9A7093C7ED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7CF50-24C0-49AA-A4E4-B5A225279A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1248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474DD-9203-1CB3-BC2D-EBDC94739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179B496-DD2C-0D11-AF60-E48045F5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A10C0B8-9AD1-1035-3207-A1822C4F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F11A889-BDD1-0730-2DFA-7ED75789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3E3DAC-E071-3E74-D65C-B56237B0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086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019AD-0725-311E-520F-221BAB59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EAA245-3340-4F49-3848-D4DBE10F5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73D96FD-FBA2-8B41-288A-9BE866C9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755B58-6801-DBEB-BBAB-2A400F5C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C303E7-AE4F-74E2-41E7-43A4B8D8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849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FF6AC-3F6F-70B1-F877-7AFF5401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227582-B033-D431-1992-C6A5C12E2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CFA2BC-93A5-28A9-ABCD-D16BD0D7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9C4D8FC-27E0-977D-9D85-625D0926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3656A47-32F0-5955-CC78-7B5FE2AD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010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06D6F-2813-4090-8DA0-6B3EB57F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B10288-0786-AFDA-8CDD-297EE7D8B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7E03B1A-A38A-DBE9-EE34-F92FB6583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968078D-45E4-C97F-6C0E-7D5DFC84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B5D78D9-D036-0C8D-E8FD-BCCEC2AA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107B15C-CC4E-3390-8EB1-184C0805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23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702582-69AB-4175-9FB1-1B0F52E9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F17039-5E6A-C753-87C1-54EB84F68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53D087D-2E86-EA58-9F35-ACCBDC13A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B4E9CB-7B26-AD38-27B8-F9CD7D973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7D4A364-1C1A-AE70-160F-AD04CCA63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08DE2E3-E5AC-C9EC-AEF3-39864935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D608ECD-B51C-0D2A-F793-2A409F04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D616DD-1218-BC58-8180-CB229AE4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7132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A30BD-E9A0-C4AA-2883-071DCF80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1DDAF68-820A-839B-6A84-EFDB0010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820A37C-3009-D39C-40B0-27D184E7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F289D7-40C7-A6C2-23A4-9BA0EAC2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24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68B481B-A39E-C599-A6F2-5E0C17F9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C406F44-AE76-086D-C7DF-7BD4ED87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5A47B77-32B4-3798-6C6A-F793E7F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7061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7F20C-DBFB-E0C2-F7A0-0A5C1E42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B403944-2B0F-67E6-423F-16D4C7EC5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F7C477-7A77-5538-2F4A-A8ED1AA59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452A1E-BC28-38FD-6B60-2E740F80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008DC15-BB7D-FA1B-C16E-96526DE9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EE086BE-5146-85EE-A775-2F16C627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152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F1B5DC-9173-1115-24B1-5CF6BA47A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B64178E-B8A1-4538-1DA6-5999D3F60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6149D5E-353D-3157-7682-224419DB9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9F94DF8-DDFE-6C6A-CFFC-2E6C6282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EF1AEB7-237C-8231-154C-7EF2815B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C354F6-2682-E323-7C0C-D6357B5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213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6C2C44-9C06-1C7C-18C1-4DE82E5F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8BDED12-AD52-3E7C-5BD9-705C5208A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AA6BFA-4042-E952-B581-D833E2C6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D0C39F3-037E-F9C8-8024-AF4E4F82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4881B61-2035-D979-F194-78C7BB5E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033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3A336EF4-B7F4-F209-A7C4-C7D52817D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AD7CEBA-9FA2-944A-580E-AE452ADC3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C724CC1-0E04-431E-349B-4C700E62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0F28E00-7243-26CD-76A5-6CA09BF2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4DD0E3-71AB-E498-A47B-5A8E9DB5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21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514D747-3C7D-9C13-98B4-996BFD47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678141D-15E1-6B0B-9581-11791BD46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4AC7AFD-CA9B-A866-A24A-294ECDB58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C8259-E4B4-4E3B-B947-62009A5CB78F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E32792D-35F3-F95F-2AE1-6F2DA5D59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9F45DD-97F5-0FB6-6419-19FD0CD9E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8FEB8-1CD7-47C4-9976-F3F8C9E9EC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07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4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27FA77-52F3-EF14-D4E9-80ABCE54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Afgeleide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7775765-AD10-41BD-F2CC-D6E89BDCA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962" y="1690688"/>
            <a:ext cx="6089064" cy="426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E0A1734-79EA-5788-F8CB-27EC43AD4048}"/>
                  </a:ext>
                </a:extLst>
              </p:cNvPr>
              <p:cNvSpPr txBox="1"/>
              <p:nvPr/>
            </p:nvSpPr>
            <p:spPr>
              <a:xfrm>
                <a:off x="8876127" y="2811293"/>
                <a:ext cx="9378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BE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nl-B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nl-BE" b="1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E0A1734-79EA-5788-F8CB-27EC43AD4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127" y="2811293"/>
                <a:ext cx="937821" cy="276999"/>
              </a:xfrm>
              <a:prstGeom prst="rect">
                <a:avLst/>
              </a:prstGeom>
              <a:blipFill>
                <a:blip r:embed="rId3"/>
                <a:stretch>
                  <a:fillRect l="-6494" t="-2174" b="-3260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E3CEDD25-E85A-A3DF-879B-2A6683E2BEF5}"/>
              </a:ext>
            </a:extLst>
          </p:cNvPr>
          <p:cNvCxnSpPr>
            <a:cxnSpLocks/>
          </p:cNvCxnSpPr>
          <p:nvPr/>
        </p:nvCxnSpPr>
        <p:spPr>
          <a:xfrm flipV="1">
            <a:off x="2645923" y="1297021"/>
            <a:ext cx="0" cy="4647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1C5D5F47-8F89-5F28-4ABA-A11FFA0E23FB}"/>
              </a:ext>
            </a:extLst>
          </p:cNvPr>
          <p:cNvCxnSpPr>
            <a:cxnSpLocks/>
          </p:cNvCxnSpPr>
          <p:nvPr/>
        </p:nvCxnSpPr>
        <p:spPr>
          <a:xfrm>
            <a:off x="2078476" y="4118545"/>
            <a:ext cx="7376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5CC190F6-2971-A44F-5D1F-CF2AAF44FDA2}"/>
              </a:ext>
            </a:extLst>
          </p:cNvPr>
          <p:cNvCxnSpPr>
            <a:cxnSpLocks/>
          </p:cNvCxnSpPr>
          <p:nvPr/>
        </p:nvCxnSpPr>
        <p:spPr>
          <a:xfrm>
            <a:off x="4714672" y="2898843"/>
            <a:ext cx="0" cy="121970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B8E4F15-C2B7-0785-59EC-5C130D6A0496}"/>
                  </a:ext>
                </a:extLst>
              </p:cNvPr>
              <p:cNvSpPr txBox="1"/>
              <p:nvPr/>
            </p:nvSpPr>
            <p:spPr>
              <a:xfrm>
                <a:off x="4646579" y="4069402"/>
                <a:ext cx="18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3" name="Tekstvak 12">
                <a:extLst>
                  <a:ext uri="{FF2B5EF4-FFF2-40B4-BE49-F238E27FC236}">
                    <a16:creationId xmlns:a16="http://schemas.microsoft.com/office/drawing/2014/main" id="{CB8E4F15-C2B7-0785-59EC-5C130D6A0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579" y="4069402"/>
                <a:ext cx="180370" cy="276999"/>
              </a:xfrm>
              <a:prstGeom prst="rect">
                <a:avLst/>
              </a:prstGeom>
              <a:blipFill>
                <a:blip r:embed="rId4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CCC525B6-DBEC-A9ED-E003-8D110BC05092}"/>
                  </a:ext>
                </a:extLst>
              </p:cNvPr>
              <p:cNvSpPr txBox="1"/>
              <p:nvPr/>
            </p:nvSpPr>
            <p:spPr>
              <a:xfrm>
                <a:off x="9285249" y="4118545"/>
                <a:ext cx="176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4" name="Tekstvak 13">
                <a:extLst>
                  <a:ext uri="{FF2B5EF4-FFF2-40B4-BE49-F238E27FC236}">
                    <a16:creationId xmlns:a16="http://schemas.microsoft.com/office/drawing/2014/main" id="{CCC525B6-DBEC-A9ED-E003-8D110BC05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249" y="4118545"/>
                <a:ext cx="176907" cy="276999"/>
              </a:xfrm>
              <a:prstGeom prst="rect">
                <a:avLst/>
              </a:prstGeom>
              <a:blipFill>
                <a:blip r:embed="rId5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1D438FB4-BBBF-43D1-8A3B-13F0F2DE7D65}"/>
                  </a:ext>
                </a:extLst>
              </p:cNvPr>
              <p:cNvSpPr txBox="1"/>
              <p:nvPr/>
            </p:nvSpPr>
            <p:spPr>
              <a:xfrm>
                <a:off x="2267978" y="1297021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1D438FB4-BBBF-43D1-8A3B-13F0F2DE7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978" y="1297021"/>
                <a:ext cx="180306" cy="276999"/>
              </a:xfrm>
              <a:prstGeom prst="rect">
                <a:avLst/>
              </a:prstGeom>
              <a:blipFill>
                <a:blip r:embed="rId6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7B510752-5513-BB90-C378-D20517529857}"/>
                  </a:ext>
                </a:extLst>
              </p:cNvPr>
              <p:cNvSpPr txBox="1"/>
              <p:nvPr/>
            </p:nvSpPr>
            <p:spPr>
              <a:xfrm>
                <a:off x="4854185" y="2285572"/>
                <a:ext cx="24836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d>
                        <m:d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nl-B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kstvak 15">
                <a:extLst>
                  <a:ext uri="{FF2B5EF4-FFF2-40B4-BE49-F238E27FC236}">
                    <a16:creationId xmlns:a16="http://schemas.microsoft.com/office/drawing/2014/main" id="{7B510752-5513-BB90-C378-D20517529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185" y="2285572"/>
                <a:ext cx="2483629" cy="276999"/>
              </a:xfrm>
              <a:prstGeom prst="rect">
                <a:avLst/>
              </a:prstGeom>
              <a:blipFill>
                <a:blip r:embed="rId7"/>
                <a:stretch>
                  <a:fillRect l="-2451" t="-2222" b="-35556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6C1901BC-801C-85AA-05C0-E58A5D99C724}"/>
              </a:ext>
            </a:extLst>
          </p:cNvPr>
          <p:cNvCxnSpPr/>
          <p:nvPr/>
        </p:nvCxnSpPr>
        <p:spPr>
          <a:xfrm>
            <a:off x="797446" y="2833062"/>
            <a:ext cx="5486400" cy="383269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89D7CFEB-0EAB-6B64-FC97-79250581575A}"/>
                  </a:ext>
                </a:extLst>
              </p:cNvPr>
              <p:cNvSpPr txBox="1"/>
              <p:nvPr/>
            </p:nvSpPr>
            <p:spPr>
              <a:xfrm>
                <a:off x="3007008" y="6002471"/>
                <a:ext cx="2321405" cy="449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𝒅𝒇</m:t>
                      </m:r>
                      <m:sSub>
                        <m:sSub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nl-BE" b="1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nl-BE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89D7CFEB-0EAB-6B64-FC97-79250581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008" y="6002471"/>
                <a:ext cx="2321405" cy="449931"/>
              </a:xfrm>
              <a:prstGeom prst="rect">
                <a:avLst/>
              </a:prstGeom>
              <a:blipFill>
                <a:blip r:embed="rId8"/>
                <a:stretch>
                  <a:fillRect l="-2100" t="-206849" r="-11024" b="-28904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vak 19">
                <a:extLst>
                  <a:ext uri="{FF2B5EF4-FFF2-40B4-BE49-F238E27FC236}">
                    <a16:creationId xmlns:a16="http://schemas.microsoft.com/office/drawing/2014/main" id="{40319518-F635-071A-A1A6-106009E505E7}"/>
                  </a:ext>
                </a:extLst>
              </p:cNvPr>
              <p:cNvSpPr txBox="1"/>
              <p:nvPr/>
            </p:nvSpPr>
            <p:spPr>
              <a:xfrm>
                <a:off x="6714848" y="450790"/>
                <a:ext cx="4737772" cy="147732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nl-BE" sz="2400" dirty="0"/>
                  <a:t>Lokale benaderingsstelling: </a:t>
                </a:r>
              </a:p>
              <a:p>
                <a:endParaRPr lang="nl-B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nl-BE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nl-BE" sz="2400" dirty="0"/>
              </a:p>
            </p:txBody>
          </p:sp>
        </mc:Choice>
        <mc:Fallback xmlns="">
          <p:sp>
            <p:nvSpPr>
              <p:cNvPr id="20" name="Tekstvak 19">
                <a:extLst>
                  <a:ext uri="{FF2B5EF4-FFF2-40B4-BE49-F238E27FC236}">
                    <a16:creationId xmlns:a16="http://schemas.microsoft.com/office/drawing/2014/main" id="{40319518-F635-071A-A1A6-106009E5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848" y="450790"/>
                <a:ext cx="4737772" cy="1477328"/>
              </a:xfrm>
              <a:prstGeom prst="rect">
                <a:avLst/>
              </a:prstGeom>
              <a:blipFill>
                <a:blip r:embed="rId9"/>
                <a:stretch>
                  <a:fillRect l="-3851" t="-6148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5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CCB80-7109-898E-DB2B-B9D73DAC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nl-BE" dirty="0"/>
              <a:t>Rekenregels afgeleiden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168B0CB-BC88-6D56-6B4F-B938C68531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3804"/>
                <a:ext cx="10515600" cy="566594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nl-BE" dirty="0"/>
                  <a:t> zijn differentieerbare functies,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𝑓𝑔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nl-BE" dirty="0"/>
              </a:p>
              <a:p>
                <a:endParaRPr lang="nl-BE" dirty="0"/>
              </a:p>
              <a:p>
                <a:r>
                  <a:rPr lang="nl-BE" dirty="0"/>
                  <a:t>P178 HB !!</a:t>
                </a: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168B0CB-BC88-6D56-6B4F-B938C68531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3804"/>
                <a:ext cx="10515600" cy="5665941"/>
              </a:xfrm>
              <a:blipFill>
                <a:blip r:embed="rId2"/>
                <a:stretch>
                  <a:fillRect l="-1043" t="-193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850F7840-D143-84A2-5DA1-5340BC9A4AF8}"/>
                  </a:ext>
                </a:extLst>
              </p:cNvPr>
              <p:cNvSpPr txBox="1"/>
              <p:nvPr/>
            </p:nvSpPr>
            <p:spPr>
              <a:xfrm>
                <a:off x="6692630" y="2718040"/>
                <a:ext cx="5056423" cy="2745047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nl-BE" sz="2400" dirty="0"/>
                  <a:t>Afgeleide van een inverse functie: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nl-B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BE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B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nl-B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BE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nl-BE" sz="2400" dirty="0"/>
              </a:p>
              <a:p>
                <a:r>
                  <a:rPr lang="nl-BE" sz="2400" dirty="0"/>
                  <a:t> </a:t>
                </a:r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850F7840-D143-84A2-5DA1-5340BC9A4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30" y="2718040"/>
                <a:ext cx="5056423" cy="2745047"/>
              </a:xfrm>
              <a:prstGeom prst="rect">
                <a:avLst/>
              </a:prstGeom>
              <a:blipFill>
                <a:blip r:embed="rId3"/>
                <a:stretch>
                  <a:fillRect l="-1805" t="-1549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8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2FBC8EB-35A0-2A78-19F2-AC47E40D4F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BE" dirty="0"/>
                  <a:t>Oefening 5.4(p): </a:t>
                </a:r>
                <a:r>
                  <a:rPr lang="nl-BE" sz="3200" dirty="0"/>
                  <a:t>afgeleide van </a:t>
                </a:r>
                <a14:m>
                  <m:oMath xmlns:m="http://schemas.openxmlformats.org/officeDocument/2006/math"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sz="3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nl-BE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  <m:sup>
                        <m:func>
                          <m:func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sz="3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sup>
                    </m:sSup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2FBC8EB-35A0-2A78-19F2-AC47E40D4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805B143-FF4E-AB40-D7A7-FD8C1E075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131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sup>
                    </m:sSup>
                  </m:oMath>
                </a14:m>
                <a:r>
                  <a:rPr lang="nl-BE" dirty="0"/>
                  <a:t> </a:t>
                </a:r>
                <a:endParaRPr lang="nl-BE" dirty="0">
                  <a:sym typeface="Wingdings" panose="05000000000000000000" pitchFamily="2" charset="2"/>
                </a:endParaRPr>
              </a:p>
              <a:p>
                <a:r>
                  <a:rPr lang="nl-BE" dirty="0">
                    <a:sym typeface="Wingdings" panose="05000000000000000000" pitchFamily="2" charset="2"/>
                  </a:rPr>
                  <a:t>Hier de afgeleide van nemen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sup>
                    </m:sSup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</m:func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</m:func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nl-BE" b="0" dirty="0"/>
              </a:p>
              <a:p>
                <a:endParaRPr lang="nl-BE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sup>
                    </m:s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805B143-FF4E-AB40-D7A7-FD8C1E075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1317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02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4CD50B-7D97-D69C-AE2E-057A6B0F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Limieten: Regel van </a:t>
            </a:r>
            <a:r>
              <a:rPr lang="nl-BE" dirty="0" err="1"/>
              <a:t>L’Hôpital</a:t>
            </a:r>
            <a:endParaRPr lang="nl-B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BD4B748-65A5-BF26-497B-D8A019F86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Voor gevallen van de vorm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/>
                  <a:t>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den>
                    </m:f>
                  </m:oMath>
                </a14:m>
                <a:r>
                  <a:rPr lang="nl-BE" dirty="0"/>
                  <a:t> </a:t>
                </a:r>
                <a:r>
                  <a:rPr lang="nl-BE" dirty="0">
                    <a:sym typeface="Wingdings" panose="05000000000000000000" pitchFamily="2" charset="2"/>
                  </a:rPr>
                  <a:t> Regel van </a:t>
                </a:r>
                <a:r>
                  <a:rPr lang="nl-BE" dirty="0" err="1">
                    <a:sym typeface="Wingdings" panose="05000000000000000000" pitchFamily="2" charset="2"/>
                  </a:rPr>
                  <a:t>L’Hôpital</a:t>
                </a:r>
                <a:r>
                  <a:rPr lang="nl-BE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nl-BE" dirty="0">
                    <a:sym typeface="Wingdings" panose="05000000000000000000" pitchFamily="2" charset="2"/>
                  </a:rPr>
                  <a:t>Andere gevallen omzetten hiernaar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⋅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=0⋅∞ →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num>
                      <m:den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num>
                      <m:den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den>
                        </m:f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den>
                    </m:f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=∞−∞</m:t>
                    </m:r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r>
                      <a:rPr lang="nl-BE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𝑓𝑔</m:t>
                    </m:r>
                    <m:d>
                      <m:dPr>
                        <m:ctrlP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  <m: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a:rPr lang="nl-BE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  <m:r>
                          <a:rPr lang="nl-BE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 </m:t>
                        </m:r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nl-BE" b="0" i="1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𝑓𝑔</m:t>
                            </m:r>
                          </m:den>
                        </m:f>
                      </m:den>
                    </m:f>
                  </m:oMath>
                </a14:m>
                <a:endParaRPr lang="nl-BE" dirty="0">
                  <a:sym typeface="Wingdings" panose="05000000000000000000" pitchFamily="2" charset="2"/>
                </a:endParaRPr>
              </a:p>
              <a:p>
                <a:endParaRPr lang="nl-BE" dirty="0">
                  <a:sym typeface="Wingdings" panose="05000000000000000000" pitchFamily="2" charset="2"/>
                </a:endParaRPr>
              </a:p>
              <a:p>
                <a:pPr lvl="1"/>
                <a:endParaRPr lang="nl-BE" dirty="0">
                  <a:sym typeface="Wingdings" panose="05000000000000000000" pitchFamily="2" charset="2"/>
                </a:endParaRPr>
              </a:p>
              <a:p>
                <a:pPr lvl="1"/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BD4B748-65A5-BF26-497B-D8A019F86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7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15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8C790F-7448-A8DF-FCBD-54929206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5.31(g)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4E05E72-B83E-EA66-0BC6-5D6024B76D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nl-BE" dirty="0"/>
                  <a:t> </a:t>
                </a:r>
              </a:p>
              <a:p>
                <a:r>
                  <a:rPr lang="nl-BE" b="0" dirty="0"/>
                  <a:t>Een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/>
                  <a:t> onbepaaldheid </a:t>
                </a:r>
                <a:r>
                  <a:rPr lang="nl-BE" dirty="0">
                    <a:sym typeface="Wingdings" panose="05000000000000000000" pitchFamily="2" charset="2"/>
                  </a:rPr>
                  <a:t> </a:t>
                </a:r>
                <a:r>
                  <a:rPr lang="nl-BE" dirty="0" err="1">
                    <a:sym typeface="Wingdings" panose="05000000000000000000" pitchFamily="2" charset="2"/>
                  </a:rPr>
                  <a:t>L’Hôpital</a:t>
                </a:r>
                <a:r>
                  <a:rPr lang="nl-BE" dirty="0">
                    <a:sym typeface="Wingdings" panose="05000000000000000000" pitchFamily="2" charset="2"/>
                  </a:rPr>
                  <a:t> </a:t>
                </a:r>
              </a:p>
              <a:p>
                <a:endParaRPr lang="nl-BE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func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func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func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nl-BE" dirty="0"/>
              </a:p>
              <a:p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A4E05E72-B83E-EA66-0BC6-5D6024B76D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62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576E0-4B43-711C-4966-410AF056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Limieten: Regel van </a:t>
            </a:r>
            <a:r>
              <a:rPr lang="nl-BE" dirty="0" err="1"/>
              <a:t>L’Hôpital</a:t>
            </a:r>
            <a:endParaRPr lang="nl-B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2B229F6-B2A6-C01B-7CBA-47F944972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6531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∞</m:t>
                        </m:r>
                      </m:sup>
                    </m:sSup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𝑔</m:t>
                                </m:r>
                              </m:sup>
                            </m:sSup>
                          </m:e>
                        </m:func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</m:func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𝑓</m:t>
                                </m:r>
                              </m:e>
                            </m:func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1/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𝑔</m:t>
                            </m:r>
                          </m:den>
                        </m:f>
                      </m:sup>
                    </m:sSup>
                  </m:oMath>
                </a14:m>
                <a:r>
                  <a:rPr lang="nl-BE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nor/>
                      </m:rPr>
                      <a:rPr lang="nl-BE" dirty="0" smtClean="0">
                        <a:sym typeface="Wingdings" panose="05000000000000000000" pitchFamily="2" charset="2"/>
                      </a:rPr>
                      <m:t> 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𝑔</m:t>
                                </m:r>
                              </m:sup>
                            </m:sSup>
                          </m:e>
                        </m:func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𝑔</m:t>
                        </m:r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ln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</m:func>
                      </m:sup>
                    </m:sSup>
                  </m:oMath>
                </a14:m>
                <a:endParaRPr lang="nl-BE" dirty="0"/>
              </a:p>
              <a:p>
                <a:r>
                  <a:rPr lang="nl-BE" b="0" dirty="0"/>
                  <a:t>Geval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nl-BE" dirty="0"/>
                  <a:t> in exponent, indien verdergaan met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func>
                      <m:funcPr>
                        <m:ctrlPr>
                          <a:rPr lang="nl-B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ln</m:t>
                        </m:r>
                      </m:fName>
                      <m:e>
                        <m:r>
                          <a:rPr lang="nl-B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</m:func>
                  </m:oMath>
                </a14:m>
                <a:r>
                  <a:rPr lang="nl-BE" dirty="0">
                    <a:sym typeface="Wingdings" panose="05000000000000000000" pitchFamily="2" charset="2"/>
                  </a:rPr>
                  <a:t></a:t>
                </a:r>
                <a:r>
                  <a:rPr lang="nl-BE" dirty="0"/>
                  <a:t> TERUGZETTEN!</a:t>
                </a:r>
              </a:p>
              <a:p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2B229F6-B2A6-C01B-7CBA-47F944972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65310" cy="4351338"/>
              </a:xfrm>
              <a:blipFill>
                <a:blip r:embed="rId2"/>
                <a:stretch>
                  <a:fillRect l="-97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996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13FE9-3869-30CD-AE8F-7A671F2C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Handige limieten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02CCDB-A9E9-4BE3-559B-B36B83462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nl-BE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nl-BE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=+∞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func>
                      <m:func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nl-BE" b="0" i="1" smtClean="0">
                        <a:latin typeface="Cambria Math" panose="02040503050406030204" pitchFamily="18" charset="0"/>
                      </a:rPr>
                      <m:t>=−∞</m:t>
                    </m:r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𝑙𝑖𝑚</m:t>
                            </m:r>
                          </m:e>
                          <m:lim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b="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nl-BE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nl-BE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p>
                    </m:sSup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02CCDB-A9E9-4BE3-559B-B36B83462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66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433BB9-1B32-FA52-D074-019507BD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Taylorveeltermen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63C2D4-0263-65A8-F342-34E913DCE9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26618" cy="466725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BE" b="0" i="1" smtClean="0"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! </m:t>
                        </m:r>
                      </m:den>
                    </m:f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nl-BE" dirty="0"/>
              </a:p>
              <a:p>
                <a:r>
                  <a:rPr lang="nl-BE" dirty="0"/>
                  <a:t>Wat is dit voor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nl-BE" dirty="0"/>
                  <a:t>, … ?</a:t>
                </a:r>
              </a:p>
              <a:p>
                <a:r>
                  <a:rPr lang="nl-BE" dirty="0"/>
                  <a:t>Nuttig om te gebruiken als benadering van functies</a:t>
                </a:r>
              </a:p>
              <a:p>
                <a:pPr lvl="1"/>
                <a:r>
                  <a:rPr lang="nl-BE" sz="2800" dirty="0"/>
                  <a:t>Eenvoudigere voorstelling van functie rond een punt </a:t>
                </a:r>
              </a:p>
              <a:p>
                <a:pPr lvl="1"/>
                <a:r>
                  <a:rPr lang="nl-BE" sz="2800" dirty="0"/>
                  <a:t>Handig om limieten mee uit te rekenen</a:t>
                </a:r>
                <a:endParaRPr lang="nl-BE" dirty="0"/>
              </a:p>
              <a:p>
                <a:r>
                  <a:rPr lang="nl-BE" dirty="0"/>
                  <a:t>Gebruik Taylorveeltermen ontwikkeld rond het punt waarin je de limiet wilt berekenen</a:t>
                </a:r>
              </a:p>
              <a:p>
                <a:r>
                  <a:rPr lang="nl-BE" dirty="0"/>
                  <a:t>Voeg genoeg termen toe voor limieten</a:t>
                </a:r>
              </a:p>
              <a:p>
                <a:pPr lvl="1"/>
                <a:endParaRPr lang="nl-BE" sz="2800" dirty="0"/>
              </a:p>
              <a:p>
                <a:pPr lvl="1"/>
                <a:endParaRPr lang="nl-BE" sz="2800" dirty="0"/>
              </a:p>
              <a:p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763C2D4-0263-65A8-F342-34E913DCE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26618" cy="4667250"/>
              </a:xfrm>
              <a:blipFill>
                <a:blip r:embed="rId2"/>
                <a:stretch>
                  <a:fillRect l="-923" r="-163" b="-221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05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ADFEC0-288E-53C7-77D6-AEAD176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767"/>
            <a:ext cx="10515600" cy="1325563"/>
          </a:xfrm>
        </p:spPr>
        <p:txBody>
          <a:bodyPr/>
          <a:lstStyle/>
          <a:p>
            <a:r>
              <a:rPr lang="nl-BE" dirty="0"/>
              <a:t>Hoe ziet een Taylorveelterm er uit?</a:t>
            </a:r>
          </a:p>
        </p:txBody>
      </p:sp>
      <p:pic>
        <p:nvPicPr>
          <p:cNvPr id="4" name="2025-10-24 22-39-18">
            <a:hlinkClick r:id="" action="ppaction://media"/>
            <a:extLst>
              <a:ext uri="{FF2B5EF4-FFF2-40B4-BE49-F238E27FC236}">
                <a16:creationId xmlns:a16="http://schemas.microsoft.com/office/drawing/2014/main" id="{A4C2EA8C-1DD1-98F1-D806-9D5092EFA06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3247"/>
          <a:stretch>
            <a:fillRect/>
          </a:stretch>
        </p:blipFill>
        <p:spPr>
          <a:xfrm>
            <a:off x="717755" y="1148129"/>
            <a:ext cx="9832258" cy="5350901"/>
          </a:xfrm>
        </p:spPr>
      </p:pic>
    </p:spTree>
    <p:extLst>
      <p:ext uri="{BB962C8B-B14F-4D97-AF65-F5344CB8AC3E}">
        <p14:creationId xmlns:p14="http://schemas.microsoft.com/office/powerpoint/2010/main" val="30718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AE6B9-EA42-E919-646E-5AB139B3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33"/>
            <a:ext cx="10515600" cy="861807"/>
          </a:xfrm>
        </p:spPr>
        <p:txBody>
          <a:bodyPr/>
          <a:lstStyle/>
          <a:p>
            <a:r>
              <a:rPr lang="nl-BE" dirty="0"/>
              <a:t>Voorbeeld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DAD0AB0-6E09-674C-74E1-41190EAD3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80184"/>
                <a:ext cx="10515600" cy="519677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5!</m:t>
                              </m:r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7!</m:t>
                              </m:r>
                            </m:den>
                          </m:f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BE" b="0" dirty="0"/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DAD0AB0-6E09-674C-74E1-41190EAD3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80184"/>
                <a:ext cx="10515600" cy="5196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F07DEED-8DD7-77A8-D345-0FFEC5B25ADA}"/>
                  </a:ext>
                </a:extLst>
              </p:cNvPr>
              <p:cNvSpPr txBox="1"/>
              <p:nvPr/>
            </p:nvSpPr>
            <p:spPr>
              <a:xfrm>
                <a:off x="9124265" y="2756352"/>
                <a:ext cx="2933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BE" dirty="0"/>
                  <a:t>Taylor-veelterm rond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EF07DEED-8DD7-77A8-D345-0FFEC5B25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265" y="2756352"/>
                <a:ext cx="2933974" cy="369332"/>
              </a:xfrm>
              <a:prstGeom prst="rect">
                <a:avLst/>
              </a:prstGeom>
              <a:blipFill>
                <a:blip r:embed="rId3"/>
                <a:stretch>
                  <a:fillRect l="-1871" t="-6557" b="-2623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1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75B99-0593-EF81-2DE4-8892386A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VERGEET DE KETTINGREGEL  NIET!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1A8A400-087E-CA75-DC1D-C96F44D9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23" y="1543455"/>
            <a:ext cx="4466986" cy="494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861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BE1CA-24E7-151D-B46C-746C469F2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00793D-B2CB-4515-C229-9EB786D2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5.31 (k) </a:t>
            </a:r>
            <a:r>
              <a:rPr lang="nl-BE" dirty="0">
                <a:sym typeface="Wingdings" panose="05000000000000000000" pitchFamily="2" charset="2"/>
              </a:rPr>
              <a:t> met Taylorveeltermen</a:t>
            </a:r>
            <a:endParaRPr lang="nl-BE" dirty="0"/>
          </a:p>
          <a:p>
            <a:r>
              <a:rPr lang="nl-BE" dirty="0"/>
              <a:t>5.33 (b) </a:t>
            </a:r>
            <a:r>
              <a:rPr lang="nl-BE" dirty="0">
                <a:sym typeface="Wingdings" panose="05000000000000000000" pitchFamily="2" charset="2"/>
              </a:rPr>
              <a:t> met Taylorveeltermen</a:t>
            </a:r>
            <a:endParaRPr lang="nl-BE" dirty="0"/>
          </a:p>
          <a:p>
            <a:r>
              <a:rPr lang="nl-BE" dirty="0"/>
              <a:t>5.35 (m)</a:t>
            </a:r>
          </a:p>
          <a:p>
            <a:r>
              <a:rPr lang="nl-BE" dirty="0"/>
              <a:t>5.21</a:t>
            </a:r>
          </a:p>
          <a:p>
            <a:r>
              <a:rPr lang="nl-BE" dirty="0"/>
              <a:t>5.27</a:t>
            </a:r>
          </a:p>
          <a:p>
            <a:endParaRPr lang="nl-BE" dirty="0"/>
          </a:p>
          <a:p>
            <a:r>
              <a:rPr lang="nl-BE" dirty="0"/>
              <a:t>Kijk naar formularium voor Taylorreeksen!</a:t>
            </a:r>
          </a:p>
          <a:p>
            <a:pPr lvl="1"/>
            <a:r>
              <a:rPr lang="nl-BE" dirty="0"/>
              <a:t>Achteraan Oefeningenbundel</a:t>
            </a:r>
          </a:p>
        </p:txBody>
      </p:sp>
    </p:spTree>
    <p:extLst>
      <p:ext uri="{BB962C8B-B14F-4D97-AF65-F5344CB8AC3E}">
        <p14:creationId xmlns:p14="http://schemas.microsoft.com/office/powerpoint/2010/main" val="75686835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Office PowerPoint</Application>
  <PresentationFormat>Breedbeeld</PresentationFormat>
  <Paragraphs>89</Paragraphs>
  <Slides>13</Slides>
  <Notes>1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Wingdings</vt:lpstr>
      <vt:lpstr>Kantoorthema</vt:lpstr>
      <vt:lpstr>Analyse I, Oefenzitting 4</vt:lpstr>
      <vt:lpstr>Afgeleide</vt:lpstr>
      <vt:lpstr>Rekenregels afgeleiden</vt:lpstr>
      <vt:lpstr>Oefening 5.4(p): afgeleide van f(x)=(cos⁡(x) )^sin⁡(x) </vt:lpstr>
      <vt:lpstr>Limieten: Regel van L’Hôpital</vt:lpstr>
      <vt:lpstr>Oefening 5.31(g)</vt:lpstr>
      <vt:lpstr>Limieten: Regel van L’Hôpital</vt:lpstr>
      <vt:lpstr>Handige limieten </vt:lpstr>
      <vt:lpstr>Taylorveeltermen</vt:lpstr>
      <vt:lpstr>Hoe ziet een Taylorveelterm er uit?</vt:lpstr>
      <vt:lpstr>Voorbeeld</vt:lpstr>
      <vt:lpstr>VERGEET DE KETTINGREGEL  NIET!</vt:lpstr>
      <vt:lpstr>Oefeningen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Visterin</cp:lastModifiedBy>
  <cp:revision>71</cp:revision>
  <dcterms:created xsi:type="dcterms:W3CDTF">2025-10-24T18:28:05Z</dcterms:created>
  <dcterms:modified xsi:type="dcterms:W3CDTF">2025-11-06T11:14:01Z</dcterms:modified>
</cp:coreProperties>
</file>