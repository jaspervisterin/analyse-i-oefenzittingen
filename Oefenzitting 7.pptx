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80" r:id="rId3"/>
    <p:sldId id="282" r:id="rId4"/>
    <p:sldId id="284" r:id="rId5"/>
    <p:sldId id="281" r:id="rId6"/>
    <p:sldId id="279" r:id="rId7"/>
    <p:sldId id="288" r:id="rId8"/>
    <p:sldId id="287" r:id="rId9"/>
    <p:sldId id="289" r:id="rId10"/>
    <p:sldId id="290" r:id="rId11"/>
    <p:sldId id="291" r:id="rId12"/>
    <p:sldId id="278" r:id="rId1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0F4FD-F267-40B3-9A69-A8DD38E77D27}" type="datetimeFigureOut">
              <a:rPr lang="nl-BE" smtClean="0"/>
              <a:t>4/12/2025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76DD3-C752-4F32-A067-0B606638A89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1614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23A2B-3A7C-4F06-8B68-513F80AFACE2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32286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A474D3-8000-A641-A44C-651E2CBE2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70C9D0E-C3FA-8EE6-F4C4-072EC0077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47E538F-5698-0323-4354-833DF1B5D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4/12/2025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2489E1-3E4E-23C0-A775-CFA22760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CD2F767-0228-D418-DC5B-5FA84FA2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625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1F411E-944D-0C09-CBBE-B48A201C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87FF456-7144-B2E2-96C3-36E077F50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8D25FE2-2A77-DF29-3FAE-D06F0C411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4/12/2025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A2CF12-D46A-53CB-3596-E9468A08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87FA52-6EF7-00C3-96F4-52A36AE2C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7694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D18425-35DB-A9CC-4C0C-18DC9BE97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FCD2139-D674-3917-14DF-5C78DCA7F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7A62731-583A-9D58-001B-658AFAEB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4/12/2025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BE8D01-988B-D2DE-B44D-0172D54EC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F60818C-7FDD-6948-5EB6-9A7B18B2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7608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53F62-7DB9-2CA8-9939-3ED71F35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A3CE89-68DD-4D52-B9F3-FECA562CF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752B134-53FC-8290-4B9E-E11165015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5B78C45-0BF6-1696-E3FF-FD870314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4/12/2025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BBCD7BA-9A5D-B074-CAC0-C66D47D4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AC1274D-3E33-4C8E-D946-4A575AF0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9445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D615F2-B4B9-D7FA-4A29-A3F83F73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E55A68E-156B-4910-1B6E-72AA0F939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4E9EF17-8497-63E0-85D5-32E8BF3D4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96E9596-03B5-0FCB-300F-B660CDF5A9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2892471-FCEA-B067-DEB7-BC4A34F94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0A9F16A-A054-3285-DC84-FC2BC2DA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4/12/2025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A7737A5-7060-2B0B-D559-6115DCC8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43411BC-638E-2EA7-8F25-EEF786F1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6155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025259-940A-0ACC-3002-2B1CBD32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A359C84-DA78-0CE9-4562-BF9FF69B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4/12/2025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C66A80F-9457-97BF-757C-4210FD2A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B4BCCEA-FC0A-9081-C31A-E0978733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540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FF45966-1247-B468-96C0-3F694BBA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4/12/2025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8B60F55-473F-DC3F-F57A-CB055C220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4EA2AB-F2A0-FB0B-6A0F-129E2B1B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906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58034F-F2AF-B40A-3E58-E93247A18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C85F0D6-2DD6-4A91-4695-660953A8E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3458C20-3C7F-CC68-5F82-E5F4ED3FA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F1F7419-3F23-A5E9-13C9-AB9C505DA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4/12/2025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99CB874-36BD-A521-90E4-E7D907A2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8DA60FA-6C56-A037-8F4F-5232E2C06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02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3025A8-8F47-71AA-5E56-8FF65717F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715414C-D39D-6E8E-404D-0391790AC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989E620-94AB-5510-4BEA-4D8D7641B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88CBDFB-CD7E-B7D4-6288-E99C41EE8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4/12/2025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DA5E9C4-DB22-9B87-FB52-8EFACE284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FC2BD86-4CB7-C698-BFBC-2B1A66C1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82945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D5BC49-DE12-DD73-DA2E-99B55D944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1B9C974-A11C-8572-0562-076FF3D9A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33807FE-FFCF-9EEA-ADD0-DCF909FE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4/12/2025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9EE7C86-A825-9AB0-911B-6F987933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20BEFE2-BF03-826B-CF2C-36E37584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3254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9575ABB-6A57-C0EF-CBCA-35698086A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0A2FE3B-CC0E-5E21-8F65-96D339B9A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2E74237-2DF2-F8B0-FBF1-AD49B61EE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4/12/2025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070088-D9DB-59A1-B7B7-E077CA6E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C1D32A5-2E57-0B57-7A60-0524EF2D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8765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47F9C21-3E07-D0D7-862E-492D900CC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991D335-C39D-F325-0D4E-CF72C86E2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6CD6A3-9D67-60CA-1821-4941B3442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16C08-D9A6-4DE6-A730-E89D3605CC03}" type="datetimeFigureOut">
              <a:rPr lang="nl-BE" smtClean="0"/>
              <a:t>4/12/2025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94C6036-882F-1530-4726-877B1845F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C44C185-8E0F-6028-D2F5-91B7CAB38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7317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6EDDA-160F-ACC8-BAA8-BE329F21F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Analyse I, </a:t>
            </a:r>
            <a:r>
              <a:rPr lang="en-GB" dirty="0" err="1"/>
              <a:t>Oefenzitting</a:t>
            </a:r>
            <a:r>
              <a:rPr lang="en-GB" dirty="0"/>
              <a:t> 7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AC92F39-0B86-45D7-CF47-7DB5F5D0C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Jasper.Visterin@kuleuven.be</a:t>
            </a:r>
          </a:p>
        </p:txBody>
      </p:sp>
    </p:spTree>
    <p:extLst>
      <p:ext uri="{BB962C8B-B14F-4D97-AF65-F5344CB8AC3E}">
        <p14:creationId xmlns:p14="http://schemas.microsoft.com/office/powerpoint/2010/main" val="214691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2092358-AEC4-F6DA-1AB7-A2F5E90F012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BE" dirty="0"/>
                  <a:t>-dimensionaal volume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2092358-AEC4-F6DA-1AB7-A2F5E90F01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9464F89-488C-3608-E9EC-747D32C164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2880"/>
                <a:ext cx="10515600" cy="503999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nary>
                    <m:nary>
                      <m:nary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nl-B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/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l-BE" i="1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endParaRPr lang="nl-BE" dirty="0"/>
              </a:p>
              <a:p>
                <a:r>
                  <a:rPr lang="nl-BE" dirty="0"/>
                  <a:t>Voor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nl-BE" dirty="0"/>
                  <a:t> stelt dit lengte van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nl-BE" dirty="0"/>
                  <a:t> voor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  <a:p>
                <a:r>
                  <a:rPr lang="nl-BE" dirty="0"/>
                  <a:t>Voor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nl-BE" dirty="0"/>
                  <a:t> stelt dit de oppervlakte van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nl-BE" dirty="0"/>
                  <a:t> voor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nl-B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nl-BE" dirty="0"/>
              </a:p>
              <a:p>
                <a:r>
                  <a:rPr lang="nl-BE" dirty="0"/>
                  <a:t>Voor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nl-BE" dirty="0"/>
                  <a:t> stelt dit het volume van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nl-BE" dirty="0"/>
                  <a:t> voor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nary>
                                <m:nary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/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𝑑𝑧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9464F89-488C-3608-E9EC-747D32C16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2880"/>
                <a:ext cx="10515600" cy="5039995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65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341D56-2C11-7855-3961-C35F4A6E9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6000"/>
          </a:xfrm>
        </p:spPr>
        <p:txBody>
          <a:bodyPr>
            <a:normAutofit/>
          </a:bodyPr>
          <a:lstStyle/>
          <a:p>
            <a:r>
              <a:rPr lang="nl-BE" dirty="0"/>
              <a:t>Meervoudige integralen: lengte en oppervlakte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ABD0B67-F014-6E04-5013-D930EC772A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16001"/>
                <a:ext cx="10515600" cy="51609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BE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nl-BE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ABD0B67-F014-6E04-5013-D930EC772A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16001"/>
                <a:ext cx="10515600" cy="516096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4" name="Groep 93">
            <a:extLst>
              <a:ext uri="{FF2B5EF4-FFF2-40B4-BE49-F238E27FC236}">
                <a16:creationId xmlns:a16="http://schemas.microsoft.com/office/drawing/2014/main" id="{99B988EA-FB6B-DC59-DA32-9E234FC7E362}"/>
              </a:ext>
            </a:extLst>
          </p:cNvPr>
          <p:cNvGrpSpPr/>
          <p:nvPr/>
        </p:nvGrpSpPr>
        <p:grpSpPr>
          <a:xfrm>
            <a:off x="396240" y="1107441"/>
            <a:ext cx="3108960" cy="699838"/>
            <a:chOff x="396240" y="1107441"/>
            <a:chExt cx="3108960" cy="699838"/>
          </a:xfrm>
        </p:grpSpPr>
        <p:cxnSp>
          <p:nvCxnSpPr>
            <p:cNvPr id="5" name="Rechte verbindingslijn met pijl 4">
              <a:extLst>
                <a:ext uri="{FF2B5EF4-FFF2-40B4-BE49-F238E27FC236}">
                  <a16:creationId xmlns:a16="http://schemas.microsoft.com/office/drawing/2014/main" id="{6BC5E6AA-B9A3-6984-FCA7-CDD5D5FC27D6}"/>
                </a:ext>
              </a:extLst>
            </p:cNvPr>
            <p:cNvCxnSpPr/>
            <p:nvPr/>
          </p:nvCxnSpPr>
          <p:spPr>
            <a:xfrm>
              <a:off x="396240" y="1463040"/>
              <a:ext cx="31089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Rechte verbindingslijn 6">
              <a:extLst>
                <a:ext uri="{FF2B5EF4-FFF2-40B4-BE49-F238E27FC236}">
                  <a16:creationId xmlns:a16="http://schemas.microsoft.com/office/drawing/2014/main" id="{A41EB522-353B-342D-078A-768F8EAA70E8}"/>
                </a:ext>
              </a:extLst>
            </p:cNvPr>
            <p:cNvCxnSpPr/>
            <p:nvPr/>
          </p:nvCxnSpPr>
          <p:spPr>
            <a:xfrm>
              <a:off x="629920" y="137160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Rechte verbindingslijn 7">
              <a:extLst>
                <a:ext uri="{FF2B5EF4-FFF2-40B4-BE49-F238E27FC236}">
                  <a16:creationId xmlns:a16="http://schemas.microsoft.com/office/drawing/2014/main" id="{4D690931-F048-A765-3269-9EA0A175D70B}"/>
                </a:ext>
              </a:extLst>
            </p:cNvPr>
            <p:cNvCxnSpPr/>
            <p:nvPr/>
          </p:nvCxnSpPr>
          <p:spPr>
            <a:xfrm>
              <a:off x="792480" y="137160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A4923C11-DC89-5818-50DF-B37164637074}"/>
                </a:ext>
              </a:extLst>
            </p:cNvPr>
            <p:cNvCxnSpPr/>
            <p:nvPr/>
          </p:nvCxnSpPr>
          <p:spPr>
            <a:xfrm>
              <a:off x="972820" y="137160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Rechte verbindingslijn 9">
              <a:extLst>
                <a:ext uri="{FF2B5EF4-FFF2-40B4-BE49-F238E27FC236}">
                  <a16:creationId xmlns:a16="http://schemas.microsoft.com/office/drawing/2014/main" id="{0CFA8564-031F-0EAF-8B36-9D9DF0EF3FB8}"/>
                </a:ext>
              </a:extLst>
            </p:cNvPr>
            <p:cNvCxnSpPr/>
            <p:nvPr/>
          </p:nvCxnSpPr>
          <p:spPr>
            <a:xfrm>
              <a:off x="1135380" y="137160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E8094414-D736-4B5D-F3DF-0E7125141E1A}"/>
                </a:ext>
              </a:extLst>
            </p:cNvPr>
            <p:cNvCxnSpPr/>
            <p:nvPr/>
          </p:nvCxnSpPr>
          <p:spPr>
            <a:xfrm>
              <a:off x="1285240" y="137160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Rechte verbindingslijn 13">
              <a:extLst>
                <a:ext uri="{FF2B5EF4-FFF2-40B4-BE49-F238E27FC236}">
                  <a16:creationId xmlns:a16="http://schemas.microsoft.com/office/drawing/2014/main" id="{1224ED13-F756-99BA-D0F9-EAB5A118A661}"/>
                </a:ext>
              </a:extLst>
            </p:cNvPr>
            <p:cNvCxnSpPr/>
            <p:nvPr/>
          </p:nvCxnSpPr>
          <p:spPr>
            <a:xfrm>
              <a:off x="1447800" y="137160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F41C445E-B094-CD8F-988A-B31785CD3BC5}"/>
                </a:ext>
              </a:extLst>
            </p:cNvPr>
            <p:cNvCxnSpPr/>
            <p:nvPr/>
          </p:nvCxnSpPr>
          <p:spPr>
            <a:xfrm>
              <a:off x="1628140" y="137160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Rechte verbindingslijn 15">
              <a:extLst>
                <a:ext uri="{FF2B5EF4-FFF2-40B4-BE49-F238E27FC236}">
                  <a16:creationId xmlns:a16="http://schemas.microsoft.com/office/drawing/2014/main" id="{CC630DC9-FCA3-B979-89A3-26B7D21FF171}"/>
                </a:ext>
              </a:extLst>
            </p:cNvPr>
            <p:cNvCxnSpPr/>
            <p:nvPr/>
          </p:nvCxnSpPr>
          <p:spPr>
            <a:xfrm>
              <a:off x="1790700" y="137160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9F301FC4-99FF-E34B-6729-54EC8BD844E4}"/>
                </a:ext>
              </a:extLst>
            </p:cNvPr>
            <p:cNvCxnSpPr/>
            <p:nvPr/>
          </p:nvCxnSpPr>
          <p:spPr>
            <a:xfrm>
              <a:off x="1971040" y="137922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Rechte verbindingslijn 25">
              <a:extLst>
                <a:ext uri="{FF2B5EF4-FFF2-40B4-BE49-F238E27FC236}">
                  <a16:creationId xmlns:a16="http://schemas.microsoft.com/office/drawing/2014/main" id="{291D5B84-7DF8-D162-EAB6-69453A51276F}"/>
                </a:ext>
              </a:extLst>
            </p:cNvPr>
            <p:cNvCxnSpPr/>
            <p:nvPr/>
          </p:nvCxnSpPr>
          <p:spPr>
            <a:xfrm>
              <a:off x="2133600" y="137922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Rechte verbindingslijn 26">
              <a:extLst>
                <a:ext uri="{FF2B5EF4-FFF2-40B4-BE49-F238E27FC236}">
                  <a16:creationId xmlns:a16="http://schemas.microsoft.com/office/drawing/2014/main" id="{772E0368-E04E-C0BF-2617-B70D03DE9118}"/>
                </a:ext>
              </a:extLst>
            </p:cNvPr>
            <p:cNvCxnSpPr/>
            <p:nvPr/>
          </p:nvCxnSpPr>
          <p:spPr>
            <a:xfrm>
              <a:off x="2313940" y="137922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332AFB7D-FBE4-754A-CE9E-EC6668031215}"/>
                </a:ext>
              </a:extLst>
            </p:cNvPr>
            <p:cNvCxnSpPr/>
            <p:nvPr/>
          </p:nvCxnSpPr>
          <p:spPr>
            <a:xfrm>
              <a:off x="2476500" y="137922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Rechte verbindingslijn 28">
              <a:extLst>
                <a:ext uri="{FF2B5EF4-FFF2-40B4-BE49-F238E27FC236}">
                  <a16:creationId xmlns:a16="http://schemas.microsoft.com/office/drawing/2014/main" id="{A714DD78-3927-1DEB-D0AB-882CA7052EF2}"/>
                </a:ext>
              </a:extLst>
            </p:cNvPr>
            <p:cNvCxnSpPr/>
            <p:nvPr/>
          </p:nvCxnSpPr>
          <p:spPr>
            <a:xfrm>
              <a:off x="2626360" y="137922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Rechte verbindingslijn 29">
              <a:extLst>
                <a:ext uri="{FF2B5EF4-FFF2-40B4-BE49-F238E27FC236}">
                  <a16:creationId xmlns:a16="http://schemas.microsoft.com/office/drawing/2014/main" id="{78F6B3F4-12CC-9407-31E0-595B8045D393}"/>
                </a:ext>
              </a:extLst>
            </p:cNvPr>
            <p:cNvCxnSpPr/>
            <p:nvPr/>
          </p:nvCxnSpPr>
          <p:spPr>
            <a:xfrm>
              <a:off x="2788920" y="137922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Rechte verbindingslijn 30">
              <a:extLst>
                <a:ext uri="{FF2B5EF4-FFF2-40B4-BE49-F238E27FC236}">
                  <a16:creationId xmlns:a16="http://schemas.microsoft.com/office/drawing/2014/main" id="{DF5A0144-F488-DFCD-F28B-6045568C7869}"/>
                </a:ext>
              </a:extLst>
            </p:cNvPr>
            <p:cNvCxnSpPr/>
            <p:nvPr/>
          </p:nvCxnSpPr>
          <p:spPr>
            <a:xfrm>
              <a:off x="2969260" y="137922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Rechte verbindingslijn 31">
              <a:extLst>
                <a:ext uri="{FF2B5EF4-FFF2-40B4-BE49-F238E27FC236}">
                  <a16:creationId xmlns:a16="http://schemas.microsoft.com/office/drawing/2014/main" id="{7FA5AA88-58CB-74FA-F7E3-6EF00DB72494}"/>
                </a:ext>
              </a:extLst>
            </p:cNvPr>
            <p:cNvCxnSpPr/>
            <p:nvPr/>
          </p:nvCxnSpPr>
          <p:spPr>
            <a:xfrm>
              <a:off x="3131820" y="1379220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kstvak 32">
                  <a:extLst>
                    <a:ext uri="{FF2B5EF4-FFF2-40B4-BE49-F238E27FC236}">
                      <a16:creationId xmlns:a16="http://schemas.microsoft.com/office/drawing/2014/main" id="{88CA05F5-318E-CF59-DE2A-B06129168F54}"/>
                    </a:ext>
                  </a:extLst>
                </p:cNvPr>
                <p:cNvSpPr txBox="1"/>
                <p:nvPr/>
              </p:nvSpPr>
              <p:spPr>
                <a:xfrm>
                  <a:off x="1235595" y="1107441"/>
                  <a:ext cx="3099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33" name="Tekstvak 32">
                  <a:extLst>
                    <a:ext uri="{FF2B5EF4-FFF2-40B4-BE49-F238E27FC236}">
                      <a16:creationId xmlns:a16="http://schemas.microsoft.com/office/drawing/2014/main" id="{88CA05F5-318E-CF59-DE2A-B06129168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5595" y="1107441"/>
                  <a:ext cx="30995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9608" r="-17647" b="-8889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kstvak 33">
                  <a:extLst>
                    <a:ext uri="{FF2B5EF4-FFF2-40B4-BE49-F238E27FC236}">
                      <a16:creationId xmlns:a16="http://schemas.microsoft.com/office/drawing/2014/main" id="{080E0A89-F7F6-4DDF-F5B1-BFA43D2BD885}"/>
                    </a:ext>
                  </a:extLst>
                </p:cNvPr>
                <p:cNvSpPr txBox="1"/>
                <p:nvPr/>
              </p:nvSpPr>
              <p:spPr>
                <a:xfrm>
                  <a:off x="539736" y="1507420"/>
                  <a:ext cx="1803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34" name="Tekstvak 33">
                  <a:extLst>
                    <a:ext uri="{FF2B5EF4-FFF2-40B4-BE49-F238E27FC236}">
                      <a16:creationId xmlns:a16="http://schemas.microsoft.com/office/drawing/2014/main" id="{080E0A89-F7F6-4DDF-F5B1-BFA43D2BD8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736" y="1507420"/>
                  <a:ext cx="18037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690" r="-20690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kstvak 42">
                  <a:extLst>
                    <a:ext uri="{FF2B5EF4-FFF2-40B4-BE49-F238E27FC236}">
                      <a16:creationId xmlns:a16="http://schemas.microsoft.com/office/drawing/2014/main" id="{DB7E26FB-EA5C-E8BD-B2D0-BC17DE7CB079}"/>
                    </a:ext>
                  </a:extLst>
                </p:cNvPr>
                <p:cNvSpPr txBox="1"/>
                <p:nvPr/>
              </p:nvSpPr>
              <p:spPr>
                <a:xfrm>
                  <a:off x="3041635" y="1530280"/>
                  <a:ext cx="17658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43" name="Tekstvak 42">
                  <a:extLst>
                    <a:ext uri="{FF2B5EF4-FFF2-40B4-BE49-F238E27FC236}">
                      <a16:creationId xmlns:a16="http://schemas.microsoft.com/office/drawing/2014/main" id="{DB7E26FB-EA5C-E8BD-B2D0-BC17DE7CB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1635" y="1530280"/>
                  <a:ext cx="17658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4483" r="-31034" b="-8889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Groep 94">
            <a:extLst>
              <a:ext uri="{FF2B5EF4-FFF2-40B4-BE49-F238E27FC236}">
                <a16:creationId xmlns:a16="http://schemas.microsoft.com/office/drawing/2014/main" id="{4187FF4D-07CC-235B-FA37-DCB0D64D5712}"/>
              </a:ext>
            </a:extLst>
          </p:cNvPr>
          <p:cNvGrpSpPr/>
          <p:nvPr/>
        </p:nvGrpSpPr>
        <p:grpSpPr>
          <a:xfrm>
            <a:off x="162560" y="2326640"/>
            <a:ext cx="4370646" cy="2235200"/>
            <a:chOff x="162560" y="2326640"/>
            <a:chExt cx="4370646" cy="2235200"/>
          </a:xfrm>
        </p:grpSpPr>
        <p:cxnSp>
          <p:nvCxnSpPr>
            <p:cNvPr id="44" name="Rechte verbindingslijn met pijl 43">
              <a:extLst>
                <a:ext uri="{FF2B5EF4-FFF2-40B4-BE49-F238E27FC236}">
                  <a16:creationId xmlns:a16="http://schemas.microsoft.com/office/drawing/2014/main" id="{81723787-F021-7B79-BFC0-798BEC90C768}"/>
                </a:ext>
              </a:extLst>
            </p:cNvPr>
            <p:cNvCxnSpPr/>
            <p:nvPr/>
          </p:nvCxnSpPr>
          <p:spPr>
            <a:xfrm>
              <a:off x="486425" y="3574962"/>
              <a:ext cx="31089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Rechte verbindingslijn 44">
              <a:extLst>
                <a:ext uri="{FF2B5EF4-FFF2-40B4-BE49-F238E27FC236}">
                  <a16:creationId xmlns:a16="http://schemas.microsoft.com/office/drawing/2014/main" id="{9610BA75-B70A-D9BC-A525-852853104FCD}"/>
                </a:ext>
              </a:extLst>
            </p:cNvPr>
            <p:cNvCxnSpPr/>
            <p:nvPr/>
          </p:nvCxnSpPr>
          <p:spPr>
            <a:xfrm>
              <a:off x="720105" y="348352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Rechte verbindingslijn 45">
              <a:extLst>
                <a:ext uri="{FF2B5EF4-FFF2-40B4-BE49-F238E27FC236}">
                  <a16:creationId xmlns:a16="http://schemas.microsoft.com/office/drawing/2014/main" id="{17733FE6-736A-63AC-17BA-08B0C1CA67F0}"/>
                </a:ext>
              </a:extLst>
            </p:cNvPr>
            <p:cNvCxnSpPr/>
            <p:nvPr/>
          </p:nvCxnSpPr>
          <p:spPr>
            <a:xfrm>
              <a:off x="882665" y="348352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Rechte verbindingslijn 46">
              <a:extLst>
                <a:ext uri="{FF2B5EF4-FFF2-40B4-BE49-F238E27FC236}">
                  <a16:creationId xmlns:a16="http://schemas.microsoft.com/office/drawing/2014/main" id="{151A89E2-EE8F-2021-2249-BDDC970D8504}"/>
                </a:ext>
              </a:extLst>
            </p:cNvPr>
            <p:cNvCxnSpPr/>
            <p:nvPr/>
          </p:nvCxnSpPr>
          <p:spPr>
            <a:xfrm>
              <a:off x="1063005" y="348352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Rechte verbindingslijn 47">
              <a:extLst>
                <a:ext uri="{FF2B5EF4-FFF2-40B4-BE49-F238E27FC236}">
                  <a16:creationId xmlns:a16="http://schemas.microsoft.com/office/drawing/2014/main" id="{5F445591-026A-987E-B92C-CF26EC9F3D60}"/>
                </a:ext>
              </a:extLst>
            </p:cNvPr>
            <p:cNvCxnSpPr/>
            <p:nvPr/>
          </p:nvCxnSpPr>
          <p:spPr>
            <a:xfrm>
              <a:off x="1225565" y="348352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Rechte verbindingslijn 48">
              <a:extLst>
                <a:ext uri="{FF2B5EF4-FFF2-40B4-BE49-F238E27FC236}">
                  <a16:creationId xmlns:a16="http://schemas.microsoft.com/office/drawing/2014/main" id="{CCAD12E5-3EFA-2607-F880-6669BF81ADCE}"/>
                </a:ext>
              </a:extLst>
            </p:cNvPr>
            <p:cNvCxnSpPr/>
            <p:nvPr/>
          </p:nvCxnSpPr>
          <p:spPr>
            <a:xfrm>
              <a:off x="1375425" y="348352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Rechte verbindingslijn 49">
              <a:extLst>
                <a:ext uri="{FF2B5EF4-FFF2-40B4-BE49-F238E27FC236}">
                  <a16:creationId xmlns:a16="http://schemas.microsoft.com/office/drawing/2014/main" id="{BD943ED7-B7C4-7968-0532-CA163529984F}"/>
                </a:ext>
              </a:extLst>
            </p:cNvPr>
            <p:cNvCxnSpPr/>
            <p:nvPr/>
          </p:nvCxnSpPr>
          <p:spPr>
            <a:xfrm>
              <a:off x="1537985" y="348352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Rechte verbindingslijn 50">
              <a:extLst>
                <a:ext uri="{FF2B5EF4-FFF2-40B4-BE49-F238E27FC236}">
                  <a16:creationId xmlns:a16="http://schemas.microsoft.com/office/drawing/2014/main" id="{94025EE6-5E79-446A-4F7E-248D84D46926}"/>
                </a:ext>
              </a:extLst>
            </p:cNvPr>
            <p:cNvCxnSpPr/>
            <p:nvPr/>
          </p:nvCxnSpPr>
          <p:spPr>
            <a:xfrm>
              <a:off x="1718325" y="348352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Rechte verbindingslijn 51">
              <a:extLst>
                <a:ext uri="{FF2B5EF4-FFF2-40B4-BE49-F238E27FC236}">
                  <a16:creationId xmlns:a16="http://schemas.microsoft.com/office/drawing/2014/main" id="{1375B834-AEB1-BCE0-B226-BC29B5388BA3}"/>
                </a:ext>
              </a:extLst>
            </p:cNvPr>
            <p:cNvCxnSpPr/>
            <p:nvPr/>
          </p:nvCxnSpPr>
          <p:spPr>
            <a:xfrm>
              <a:off x="1880885" y="348352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Rechte verbindingslijn 52">
              <a:extLst>
                <a:ext uri="{FF2B5EF4-FFF2-40B4-BE49-F238E27FC236}">
                  <a16:creationId xmlns:a16="http://schemas.microsoft.com/office/drawing/2014/main" id="{2F06AA50-B5A1-E84C-DC37-BA00AE44E959}"/>
                </a:ext>
              </a:extLst>
            </p:cNvPr>
            <p:cNvCxnSpPr/>
            <p:nvPr/>
          </p:nvCxnSpPr>
          <p:spPr>
            <a:xfrm>
              <a:off x="2061225" y="349114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Rechte verbindingslijn 53">
              <a:extLst>
                <a:ext uri="{FF2B5EF4-FFF2-40B4-BE49-F238E27FC236}">
                  <a16:creationId xmlns:a16="http://schemas.microsoft.com/office/drawing/2014/main" id="{7B3A3764-5FEE-613C-9D4C-3AE6F2B93AD9}"/>
                </a:ext>
              </a:extLst>
            </p:cNvPr>
            <p:cNvCxnSpPr/>
            <p:nvPr/>
          </p:nvCxnSpPr>
          <p:spPr>
            <a:xfrm>
              <a:off x="2223785" y="349114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Rechte verbindingslijn 54">
              <a:extLst>
                <a:ext uri="{FF2B5EF4-FFF2-40B4-BE49-F238E27FC236}">
                  <a16:creationId xmlns:a16="http://schemas.microsoft.com/office/drawing/2014/main" id="{3A63E029-21ED-F35C-8793-D3DCC4866042}"/>
                </a:ext>
              </a:extLst>
            </p:cNvPr>
            <p:cNvCxnSpPr/>
            <p:nvPr/>
          </p:nvCxnSpPr>
          <p:spPr>
            <a:xfrm>
              <a:off x="2404125" y="349114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Rechte verbindingslijn 55">
              <a:extLst>
                <a:ext uri="{FF2B5EF4-FFF2-40B4-BE49-F238E27FC236}">
                  <a16:creationId xmlns:a16="http://schemas.microsoft.com/office/drawing/2014/main" id="{5FCC5736-C013-F467-FF4F-78C41E1C0F31}"/>
                </a:ext>
              </a:extLst>
            </p:cNvPr>
            <p:cNvCxnSpPr/>
            <p:nvPr/>
          </p:nvCxnSpPr>
          <p:spPr>
            <a:xfrm>
              <a:off x="2566685" y="349114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Rechte verbindingslijn 56">
              <a:extLst>
                <a:ext uri="{FF2B5EF4-FFF2-40B4-BE49-F238E27FC236}">
                  <a16:creationId xmlns:a16="http://schemas.microsoft.com/office/drawing/2014/main" id="{FBE531D2-D599-77B9-0D80-9C81C5A189D8}"/>
                </a:ext>
              </a:extLst>
            </p:cNvPr>
            <p:cNvCxnSpPr/>
            <p:nvPr/>
          </p:nvCxnSpPr>
          <p:spPr>
            <a:xfrm>
              <a:off x="2716545" y="349114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FB3A8845-6F72-0928-ED88-6E702501D1D5}"/>
                </a:ext>
              </a:extLst>
            </p:cNvPr>
            <p:cNvCxnSpPr/>
            <p:nvPr/>
          </p:nvCxnSpPr>
          <p:spPr>
            <a:xfrm>
              <a:off x="2879105" y="349114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307889FE-64D1-E1D0-5A38-EAE5A5A03794}"/>
                </a:ext>
              </a:extLst>
            </p:cNvPr>
            <p:cNvCxnSpPr/>
            <p:nvPr/>
          </p:nvCxnSpPr>
          <p:spPr>
            <a:xfrm>
              <a:off x="3059445" y="349114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Rechte verbindingslijn 59">
              <a:extLst>
                <a:ext uri="{FF2B5EF4-FFF2-40B4-BE49-F238E27FC236}">
                  <a16:creationId xmlns:a16="http://schemas.microsoft.com/office/drawing/2014/main" id="{E2CFEBB0-3475-E5C4-6871-CF74CBE63574}"/>
                </a:ext>
              </a:extLst>
            </p:cNvPr>
            <p:cNvCxnSpPr/>
            <p:nvPr/>
          </p:nvCxnSpPr>
          <p:spPr>
            <a:xfrm>
              <a:off x="3222005" y="349114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kstvak 60">
                  <a:extLst>
                    <a:ext uri="{FF2B5EF4-FFF2-40B4-BE49-F238E27FC236}">
                      <a16:creationId xmlns:a16="http://schemas.microsoft.com/office/drawing/2014/main" id="{42A86DF7-406F-9260-305D-C3AFA85A91F6}"/>
                    </a:ext>
                  </a:extLst>
                </p:cNvPr>
                <p:cNvSpPr txBox="1"/>
                <p:nvPr/>
              </p:nvSpPr>
              <p:spPr>
                <a:xfrm>
                  <a:off x="1325780" y="3219363"/>
                  <a:ext cx="3099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61" name="Tekstvak 60">
                  <a:extLst>
                    <a:ext uri="{FF2B5EF4-FFF2-40B4-BE49-F238E27FC236}">
                      <a16:creationId xmlns:a16="http://schemas.microsoft.com/office/drawing/2014/main" id="{42A86DF7-406F-9260-305D-C3AFA85A91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5780" y="3219363"/>
                  <a:ext cx="30995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9608" r="-17647" b="-6522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kstvak 61">
                  <a:extLst>
                    <a:ext uri="{FF2B5EF4-FFF2-40B4-BE49-F238E27FC236}">
                      <a16:creationId xmlns:a16="http://schemas.microsoft.com/office/drawing/2014/main" id="{14992757-B998-92B5-34DE-70998547337B}"/>
                    </a:ext>
                  </a:extLst>
                </p:cNvPr>
                <p:cNvSpPr txBox="1"/>
                <p:nvPr/>
              </p:nvSpPr>
              <p:spPr>
                <a:xfrm>
                  <a:off x="629921" y="3619342"/>
                  <a:ext cx="1803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62" name="Tekstvak 61">
                  <a:extLst>
                    <a:ext uri="{FF2B5EF4-FFF2-40B4-BE49-F238E27FC236}">
                      <a16:creationId xmlns:a16="http://schemas.microsoft.com/office/drawing/2014/main" id="{14992757-B998-92B5-34DE-709985473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921" y="3619342"/>
                  <a:ext cx="18037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0000" r="-16667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kstvak 62">
                  <a:extLst>
                    <a:ext uri="{FF2B5EF4-FFF2-40B4-BE49-F238E27FC236}">
                      <a16:creationId xmlns:a16="http://schemas.microsoft.com/office/drawing/2014/main" id="{D14CB9A0-680A-41F7-A068-CA1CC57763AD}"/>
                    </a:ext>
                  </a:extLst>
                </p:cNvPr>
                <p:cNvSpPr txBox="1"/>
                <p:nvPr/>
              </p:nvSpPr>
              <p:spPr>
                <a:xfrm>
                  <a:off x="3131820" y="3642202"/>
                  <a:ext cx="17658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63" name="Tekstvak 62">
                  <a:extLst>
                    <a:ext uri="{FF2B5EF4-FFF2-40B4-BE49-F238E27FC236}">
                      <a16:creationId xmlns:a16="http://schemas.microsoft.com/office/drawing/2014/main" id="{D14CB9A0-680A-41F7-A068-CA1CC57763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1820" y="3642202"/>
                  <a:ext cx="176587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4483" r="-31034" b="-6522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Rechte verbindingslijn met pijl 64">
              <a:extLst>
                <a:ext uri="{FF2B5EF4-FFF2-40B4-BE49-F238E27FC236}">
                  <a16:creationId xmlns:a16="http://schemas.microsoft.com/office/drawing/2014/main" id="{9A2FF8FF-86A3-5CA1-0ECC-5136FEA70C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425" y="2326640"/>
              <a:ext cx="0" cy="2235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Vrije vorm: vorm 65">
              <a:extLst>
                <a:ext uri="{FF2B5EF4-FFF2-40B4-BE49-F238E27FC236}">
                  <a16:creationId xmlns:a16="http://schemas.microsoft.com/office/drawing/2014/main" id="{AA8F0005-5755-E275-2F61-4C89E5495C78}"/>
                </a:ext>
              </a:extLst>
            </p:cNvPr>
            <p:cNvSpPr/>
            <p:nvPr/>
          </p:nvSpPr>
          <p:spPr>
            <a:xfrm>
              <a:off x="162560" y="2367276"/>
              <a:ext cx="3616960" cy="894128"/>
            </a:xfrm>
            <a:custGeom>
              <a:avLst/>
              <a:gdLst>
                <a:gd name="connsiteX0" fmla="*/ 0 w 3616960"/>
                <a:gd name="connsiteY0" fmla="*/ 883924 h 894128"/>
                <a:gd name="connsiteX1" fmla="*/ 1259840 w 3616960"/>
                <a:gd name="connsiteY1" fmla="*/ 4 h 894128"/>
                <a:gd name="connsiteX2" fmla="*/ 2286000 w 3616960"/>
                <a:gd name="connsiteY2" fmla="*/ 894084 h 894128"/>
                <a:gd name="connsiteX3" fmla="*/ 3616960 w 3616960"/>
                <a:gd name="connsiteY3" fmla="*/ 30484 h 89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6960" h="894128">
                  <a:moveTo>
                    <a:pt x="0" y="883924"/>
                  </a:moveTo>
                  <a:cubicBezTo>
                    <a:pt x="439420" y="441117"/>
                    <a:pt x="878840" y="-1689"/>
                    <a:pt x="1259840" y="4"/>
                  </a:cubicBezTo>
                  <a:cubicBezTo>
                    <a:pt x="1640840" y="1697"/>
                    <a:pt x="1893147" y="889004"/>
                    <a:pt x="2286000" y="894084"/>
                  </a:cubicBezTo>
                  <a:cubicBezTo>
                    <a:pt x="2678853" y="899164"/>
                    <a:pt x="3147906" y="464824"/>
                    <a:pt x="3616960" y="30484"/>
                  </a:cubicBez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kstvak 66">
                  <a:extLst>
                    <a:ext uri="{FF2B5EF4-FFF2-40B4-BE49-F238E27FC236}">
                      <a16:creationId xmlns:a16="http://schemas.microsoft.com/office/drawing/2014/main" id="{B1DBD50F-9C07-02BF-1012-BBA971DAB9C5}"/>
                    </a:ext>
                  </a:extLst>
                </p:cNvPr>
                <p:cNvSpPr txBox="1"/>
                <p:nvPr/>
              </p:nvSpPr>
              <p:spPr>
                <a:xfrm>
                  <a:off x="3595385" y="2789963"/>
                  <a:ext cx="9378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67" name="Tekstvak 66">
                  <a:extLst>
                    <a:ext uri="{FF2B5EF4-FFF2-40B4-BE49-F238E27FC236}">
                      <a16:creationId xmlns:a16="http://schemas.microsoft.com/office/drawing/2014/main" id="{B1DBD50F-9C07-02BF-1012-BBA971DAB9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5385" y="2789963"/>
                  <a:ext cx="937821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6494" t="-4444" b="-35556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A60CFAF2-F07A-B340-DA52-E1D31ED200E0}"/>
                </a:ext>
              </a:extLst>
            </p:cNvPr>
            <p:cNvSpPr/>
            <p:nvPr/>
          </p:nvSpPr>
          <p:spPr>
            <a:xfrm>
              <a:off x="1063005" y="2458715"/>
              <a:ext cx="162551" cy="111624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grpSp>
        <p:nvGrpSpPr>
          <p:cNvPr id="96" name="Groep 95">
            <a:extLst>
              <a:ext uri="{FF2B5EF4-FFF2-40B4-BE49-F238E27FC236}">
                <a16:creationId xmlns:a16="http://schemas.microsoft.com/office/drawing/2014/main" id="{F03A9D99-1D2B-6DA5-2FC7-79B61D108834}"/>
              </a:ext>
            </a:extLst>
          </p:cNvPr>
          <p:cNvGrpSpPr/>
          <p:nvPr/>
        </p:nvGrpSpPr>
        <p:grpSpPr>
          <a:xfrm>
            <a:off x="7589520" y="4094480"/>
            <a:ext cx="4370646" cy="2235200"/>
            <a:chOff x="7589520" y="4094480"/>
            <a:chExt cx="4370646" cy="2235200"/>
          </a:xfrm>
        </p:grpSpPr>
        <p:cxnSp>
          <p:nvCxnSpPr>
            <p:cNvPr id="69" name="Rechte verbindingslijn met pijl 68">
              <a:extLst>
                <a:ext uri="{FF2B5EF4-FFF2-40B4-BE49-F238E27FC236}">
                  <a16:creationId xmlns:a16="http://schemas.microsoft.com/office/drawing/2014/main" id="{4B6B332F-304D-F398-D939-0E975BED78CA}"/>
                </a:ext>
              </a:extLst>
            </p:cNvPr>
            <p:cNvCxnSpPr/>
            <p:nvPr/>
          </p:nvCxnSpPr>
          <p:spPr>
            <a:xfrm>
              <a:off x="7913385" y="5342802"/>
              <a:ext cx="31089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26FCDF00-F811-634E-D54E-6AC0006AABE7}"/>
                </a:ext>
              </a:extLst>
            </p:cNvPr>
            <p:cNvCxnSpPr/>
            <p:nvPr/>
          </p:nvCxnSpPr>
          <p:spPr>
            <a:xfrm>
              <a:off x="8147065" y="525136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BE2903D1-CEDB-214C-65BB-B766C9DBA989}"/>
                </a:ext>
              </a:extLst>
            </p:cNvPr>
            <p:cNvCxnSpPr/>
            <p:nvPr/>
          </p:nvCxnSpPr>
          <p:spPr>
            <a:xfrm>
              <a:off x="8309625" y="525136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28B7798D-BECD-583B-9F62-788C5A26CD7F}"/>
                </a:ext>
              </a:extLst>
            </p:cNvPr>
            <p:cNvCxnSpPr/>
            <p:nvPr/>
          </p:nvCxnSpPr>
          <p:spPr>
            <a:xfrm>
              <a:off x="8489965" y="525136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00165948-043A-A7F7-0514-916BED93D398}"/>
                </a:ext>
              </a:extLst>
            </p:cNvPr>
            <p:cNvCxnSpPr/>
            <p:nvPr/>
          </p:nvCxnSpPr>
          <p:spPr>
            <a:xfrm>
              <a:off x="8652525" y="525136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Rechte verbindingslijn 73">
              <a:extLst>
                <a:ext uri="{FF2B5EF4-FFF2-40B4-BE49-F238E27FC236}">
                  <a16:creationId xmlns:a16="http://schemas.microsoft.com/office/drawing/2014/main" id="{3788E90C-6A40-2D29-C611-4E8F065A6C07}"/>
                </a:ext>
              </a:extLst>
            </p:cNvPr>
            <p:cNvCxnSpPr/>
            <p:nvPr/>
          </p:nvCxnSpPr>
          <p:spPr>
            <a:xfrm>
              <a:off x="8802385" y="525136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Rechte verbindingslijn 74">
              <a:extLst>
                <a:ext uri="{FF2B5EF4-FFF2-40B4-BE49-F238E27FC236}">
                  <a16:creationId xmlns:a16="http://schemas.microsoft.com/office/drawing/2014/main" id="{C1AC8B2D-3D88-0BC3-7058-9D9AAB1F7B3A}"/>
                </a:ext>
              </a:extLst>
            </p:cNvPr>
            <p:cNvCxnSpPr/>
            <p:nvPr/>
          </p:nvCxnSpPr>
          <p:spPr>
            <a:xfrm>
              <a:off x="8964945" y="525136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Rechte verbindingslijn 75">
              <a:extLst>
                <a:ext uri="{FF2B5EF4-FFF2-40B4-BE49-F238E27FC236}">
                  <a16:creationId xmlns:a16="http://schemas.microsoft.com/office/drawing/2014/main" id="{31AA5453-8BB4-3AAE-59E4-36C84AF90609}"/>
                </a:ext>
              </a:extLst>
            </p:cNvPr>
            <p:cNvCxnSpPr/>
            <p:nvPr/>
          </p:nvCxnSpPr>
          <p:spPr>
            <a:xfrm>
              <a:off x="9145285" y="525136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Rechte verbindingslijn 76">
              <a:extLst>
                <a:ext uri="{FF2B5EF4-FFF2-40B4-BE49-F238E27FC236}">
                  <a16:creationId xmlns:a16="http://schemas.microsoft.com/office/drawing/2014/main" id="{B4CA1BCE-D2C5-8817-049A-814781E94D2D}"/>
                </a:ext>
              </a:extLst>
            </p:cNvPr>
            <p:cNvCxnSpPr/>
            <p:nvPr/>
          </p:nvCxnSpPr>
          <p:spPr>
            <a:xfrm>
              <a:off x="9307845" y="525136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Rechte verbindingslijn 77">
              <a:extLst>
                <a:ext uri="{FF2B5EF4-FFF2-40B4-BE49-F238E27FC236}">
                  <a16:creationId xmlns:a16="http://schemas.microsoft.com/office/drawing/2014/main" id="{FBE8F872-65E5-9B17-6507-23BE810FCC2C}"/>
                </a:ext>
              </a:extLst>
            </p:cNvPr>
            <p:cNvCxnSpPr/>
            <p:nvPr/>
          </p:nvCxnSpPr>
          <p:spPr>
            <a:xfrm>
              <a:off x="9488185" y="525898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Rechte verbindingslijn 78">
              <a:extLst>
                <a:ext uri="{FF2B5EF4-FFF2-40B4-BE49-F238E27FC236}">
                  <a16:creationId xmlns:a16="http://schemas.microsoft.com/office/drawing/2014/main" id="{410C20DB-9CD3-83C4-D2F5-561003C8AB67}"/>
                </a:ext>
              </a:extLst>
            </p:cNvPr>
            <p:cNvCxnSpPr/>
            <p:nvPr/>
          </p:nvCxnSpPr>
          <p:spPr>
            <a:xfrm>
              <a:off x="9650745" y="525898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Rechte verbindingslijn 79">
              <a:extLst>
                <a:ext uri="{FF2B5EF4-FFF2-40B4-BE49-F238E27FC236}">
                  <a16:creationId xmlns:a16="http://schemas.microsoft.com/office/drawing/2014/main" id="{AE7DB4D1-C40B-DE8E-0D5F-28DC76A66351}"/>
                </a:ext>
              </a:extLst>
            </p:cNvPr>
            <p:cNvCxnSpPr/>
            <p:nvPr/>
          </p:nvCxnSpPr>
          <p:spPr>
            <a:xfrm>
              <a:off x="9831085" y="525898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Rechte verbindingslijn 80">
              <a:extLst>
                <a:ext uri="{FF2B5EF4-FFF2-40B4-BE49-F238E27FC236}">
                  <a16:creationId xmlns:a16="http://schemas.microsoft.com/office/drawing/2014/main" id="{6D0E15FD-2D96-44D8-6666-49EF1851B6A8}"/>
                </a:ext>
              </a:extLst>
            </p:cNvPr>
            <p:cNvCxnSpPr/>
            <p:nvPr/>
          </p:nvCxnSpPr>
          <p:spPr>
            <a:xfrm>
              <a:off x="9993645" y="525898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DB8ED0F4-5F5B-95C7-CD25-FE76CB8F8407}"/>
                </a:ext>
              </a:extLst>
            </p:cNvPr>
            <p:cNvCxnSpPr/>
            <p:nvPr/>
          </p:nvCxnSpPr>
          <p:spPr>
            <a:xfrm>
              <a:off x="10143505" y="525898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Rechte verbindingslijn 82">
              <a:extLst>
                <a:ext uri="{FF2B5EF4-FFF2-40B4-BE49-F238E27FC236}">
                  <a16:creationId xmlns:a16="http://schemas.microsoft.com/office/drawing/2014/main" id="{029CED98-67D8-86C4-E3D5-B22B3557B1B9}"/>
                </a:ext>
              </a:extLst>
            </p:cNvPr>
            <p:cNvCxnSpPr/>
            <p:nvPr/>
          </p:nvCxnSpPr>
          <p:spPr>
            <a:xfrm>
              <a:off x="10306065" y="525898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Rechte verbindingslijn 83">
              <a:extLst>
                <a:ext uri="{FF2B5EF4-FFF2-40B4-BE49-F238E27FC236}">
                  <a16:creationId xmlns:a16="http://schemas.microsoft.com/office/drawing/2014/main" id="{767AD2D8-4704-DD13-94C1-BF3DFCA9C00A}"/>
                </a:ext>
              </a:extLst>
            </p:cNvPr>
            <p:cNvCxnSpPr/>
            <p:nvPr/>
          </p:nvCxnSpPr>
          <p:spPr>
            <a:xfrm>
              <a:off x="10486405" y="525898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Rechte verbindingslijn 84">
              <a:extLst>
                <a:ext uri="{FF2B5EF4-FFF2-40B4-BE49-F238E27FC236}">
                  <a16:creationId xmlns:a16="http://schemas.microsoft.com/office/drawing/2014/main" id="{B7922CC3-B8D9-9A65-E1B7-BAC6DFB99A56}"/>
                </a:ext>
              </a:extLst>
            </p:cNvPr>
            <p:cNvCxnSpPr/>
            <p:nvPr/>
          </p:nvCxnSpPr>
          <p:spPr>
            <a:xfrm>
              <a:off x="10648965" y="5258982"/>
              <a:ext cx="0" cy="182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kstvak 85">
                  <a:extLst>
                    <a:ext uri="{FF2B5EF4-FFF2-40B4-BE49-F238E27FC236}">
                      <a16:creationId xmlns:a16="http://schemas.microsoft.com/office/drawing/2014/main" id="{1A1794A7-DAB3-F902-7D69-F985D23D6D76}"/>
                    </a:ext>
                  </a:extLst>
                </p:cNvPr>
                <p:cNvSpPr txBox="1"/>
                <p:nvPr/>
              </p:nvSpPr>
              <p:spPr>
                <a:xfrm>
                  <a:off x="8416267" y="4785864"/>
                  <a:ext cx="3099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86" name="Tekstvak 85">
                  <a:extLst>
                    <a:ext uri="{FF2B5EF4-FFF2-40B4-BE49-F238E27FC236}">
                      <a16:creationId xmlns:a16="http://schemas.microsoft.com/office/drawing/2014/main" id="{1A1794A7-DAB3-F902-7D69-F985D23D6D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6267" y="4785864"/>
                  <a:ext cx="309957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0000" r="-20000" b="-6522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kstvak 86">
                  <a:extLst>
                    <a:ext uri="{FF2B5EF4-FFF2-40B4-BE49-F238E27FC236}">
                      <a16:creationId xmlns:a16="http://schemas.microsoft.com/office/drawing/2014/main" id="{5F053B0F-46B2-0258-B98E-D7004E925C5C}"/>
                    </a:ext>
                  </a:extLst>
                </p:cNvPr>
                <p:cNvSpPr txBox="1"/>
                <p:nvPr/>
              </p:nvSpPr>
              <p:spPr>
                <a:xfrm>
                  <a:off x="8056881" y="5387182"/>
                  <a:ext cx="1803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87" name="Tekstvak 86">
                  <a:extLst>
                    <a:ext uri="{FF2B5EF4-FFF2-40B4-BE49-F238E27FC236}">
                      <a16:creationId xmlns:a16="http://schemas.microsoft.com/office/drawing/2014/main" id="{5F053B0F-46B2-0258-B98E-D7004E925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881" y="5387182"/>
                  <a:ext cx="18037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0690" r="-20690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kstvak 87">
                  <a:extLst>
                    <a:ext uri="{FF2B5EF4-FFF2-40B4-BE49-F238E27FC236}">
                      <a16:creationId xmlns:a16="http://schemas.microsoft.com/office/drawing/2014/main" id="{82B5FFB0-51C8-7552-D266-192C2123B9F6}"/>
                    </a:ext>
                  </a:extLst>
                </p:cNvPr>
                <p:cNvSpPr txBox="1"/>
                <p:nvPr/>
              </p:nvSpPr>
              <p:spPr>
                <a:xfrm>
                  <a:off x="10558780" y="5410042"/>
                  <a:ext cx="17658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88" name="Tekstvak 87">
                  <a:extLst>
                    <a:ext uri="{FF2B5EF4-FFF2-40B4-BE49-F238E27FC236}">
                      <a16:creationId xmlns:a16="http://schemas.microsoft.com/office/drawing/2014/main" id="{82B5FFB0-51C8-7552-D266-192C2123B9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8780" y="5410042"/>
                  <a:ext cx="176587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34483" r="-31034" b="-6522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Rechte verbindingslijn met pijl 88">
              <a:extLst>
                <a:ext uri="{FF2B5EF4-FFF2-40B4-BE49-F238E27FC236}">
                  <a16:creationId xmlns:a16="http://schemas.microsoft.com/office/drawing/2014/main" id="{A72AE402-4FC8-1C66-E347-BD23496946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3385" y="4094480"/>
              <a:ext cx="0" cy="2235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Vrije vorm: vorm 89">
              <a:extLst>
                <a:ext uri="{FF2B5EF4-FFF2-40B4-BE49-F238E27FC236}">
                  <a16:creationId xmlns:a16="http://schemas.microsoft.com/office/drawing/2014/main" id="{6AE299B1-1CEF-7396-07F2-38AF67752335}"/>
                </a:ext>
              </a:extLst>
            </p:cNvPr>
            <p:cNvSpPr/>
            <p:nvPr/>
          </p:nvSpPr>
          <p:spPr>
            <a:xfrm>
              <a:off x="7589520" y="4135116"/>
              <a:ext cx="3616960" cy="894128"/>
            </a:xfrm>
            <a:custGeom>
              <a:avLst/>
              <a:gdLst>
                <a:gd name="connsiteX0" fmla="*/ 0 w 3616960"/>
                <a:gd name="connsiteY0" fmla="*/ 883924 h 894128"/>
                <a:gd name="connsiteX1" fmla="*/ 1259840 w 3616960"/>
                <a:gd name="connsiteY1" fmla="*/ 4 h 894128"/>
                <a:gd name="connsiteX2" fmla="*/ 2286000 w 3616960"/>
                <a:gd name="connsiteY2" fmla="*/ 894084 h 894128"/>
                <a:gd name="connsiteX3" fmla="*/ 3616960 w 3616960"/>
                <a:gd name="connsiteY3" fmla="*/ 30484 h 89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6960" h="894128">
                  <a:moveTo>
                    <a:pt x="0" y="883924"/>
                  </a:moveTo>
                  <a:cubicBezTo>
                    <a:pt x="439420" y="441117"/>
                    <a:pt x="878840" y="-1689"/>
                    <a:pt x="1259840" y="4"/>
                  </a:cubicBezTo>
                  <a:cubicBezTo>
                    <a:pt x="1640840" y="1697"/>
                    <a:pt x="1893147" y="889004"/>
                    <a:pt x="2286000" y="894084"/>
                  </a:cubicBezTo>
                  <a:cubicBezTo>
                    <a:pt x="2678853" y="899164"/>
                    <a:pt x="3147906" y="464824"/>
                    <a:pt x="3616960" y="30484"/>
                  </a:cubicBez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kstvak 90">
                  <a:extLst>
                    <a:ext uri="{FF2B5EF4-FFF2-40B4-BE49-F238E27FC236}">
                      <a16:creationId xmlns:a16="http://schemas.microsoft.com/office/drawing/2014/main" id="{80783DF5-6667-5E00-B569-419005E95A2C}"/>
                    </a:ext>
                  </a:extLst>
                </p:cNvPr>
                <p:cNvSpPr txBox="1"/>
                <p:nvPr/>
              </p:nvSpPr>
              <p:spPr>
                <a:xfrm>
                  <a:off x="11022345" y="4557803"/>
                  <a:ext cx="9378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91" name="Tekstvak 90">
                  <a:extLst>
                    <a:ext uri="{FF2B5EF4-FFF2-40B4-BE49-F238E27FC236}">
                      <a16:creationId xmlns:a16="http://schemas.microsoft.com/office/drawing/2014/main" id="{80783DF5-6667-5E00-B569-419005E95A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22345" y="4557803"/>
                  <a:ext cx="937821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6494" t="-4444" b="-35556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D090DB42-9F66-CE4C-8586-08DE778B86BA}"/>
                </a:ext>
              </a:extLst>
            </p:cNvPr>
            <p:cNvSpPr/>
            <p:nvPr/>
          </p:nvSpPr>
          <p:spPr>
            <a:xfrm>
              <a:off x="8489966" y="4557803"/>
              <a:ext cx="162560" cy="18555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kstvak 92">
                  <a:extLst>
                    <a:ext uri="{FF2B5EF4-FFF2-40B4-BE49-F238E27FC236}">
                      <a16:creationId xmlns:a16="http://schemas.microsoft.com/office/drawing/2014/main" id="{8BC6111F-68B8-5452-3F7F-36BDEE89481D}"/>
                    </a:ext>
                  </a:extLst>
                </p:cNvPr>
                <p:cNvSpPr txBox="1"/>
                <p:nvPr/>
              </p:nvSpPr>
              <p:spPr>
                <a:xfrm>
                  <a:off x="8690944" y="4523587"/>
                  <a:ext cx="3133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93" name="Tekstvak 92">
                  <a:extLst>
                    <a:ext uri="{FF2B5EF4-FFF2-40B4-BE49-F238E27FC236}">
                      <a16:creationId xmlns:a16="http://schemas.microsoft.com/office/drawing/2014/main" id="{8BC6111F-68B8-5452-3F7F-36BDEE894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0944" y="4523587"/>
                  <a:ext cx="313356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7451" t="-2222" r="-27451" b="-35556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4815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1F80C-2F2E-D8AF-5782-F4F3630D0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7C90B3-261A-C5EA-C744-53353372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6000"/>
          </a:xfrm>
        </p:spPr>
        <p:txBody>
          <a:bodyPr>
            <a:normAutofit/>
          </a:bodyPr>
          <a:lstStyle/>
          <a:p>
            <a:r>
              <a:rPr lang="nl-BE"/>
              <a:t>Meervoudige integralen: volume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50741A7-11F4-C818-AD20-0A13617583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16001"/>
                <a:ext cx="10515600" cy="51609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nl-BE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b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nl-BE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b>
                            <m: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d>
                                <m:d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  <m:e>
                              <m:nary>
                                <m:nary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sup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𝑑𝑧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50741A7-11F4-C818-AD20-0A1361758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16001"/>
                <a:ext cx="10515600" cy="516096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" name="Afbeelding 41">
            <a:extLst>
              <a:ext uri="{FF2B5EF4-FFF2-40B4-BE49-F238E27FC236}">
                <a16:creationId xmlns:a16="http://schemas.microsoft.com/office/drawing/2014/main" id="{C511C5A6-62E9-1087-FC5E-3B3DE8476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69" y="883921"/>
            <a:ext cx="3821480" cy="3632584"/>
          </a:xfrm>
          <a:prstGeom prst="rect">
            <a:avLst/>
          </a:prstGeom>
        </p:spPr>
      </p:pic>
      <p:pic>
        <p:nvPicPr>
          <p:cNvPr id="94" name="Afbeelding 93">
            <a:extLst>
              <a:ext uri="{FF2B5EF4-FFF2-40B4-BE49-F238E27FC236}">
                <a16:creationId xmlns:a16="http://schemas.microsoft.com/office/drawing/2014/main" id="{6CE791A7-F2AA-F028-EE29-A1146DDDE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9524" y="3429000"/>
            <a:ext cx="3439418" cy="326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6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93AB8F-0B99-C876-2188-6C8DD8A79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nl-BE" dirty="0"/>
              <a:t>Andere toepassingen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C8DD21F5-9E04-E8EC-E5DD-26D545AB67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07440"/>
                <a:ext cx="11160760" cy="5679440"/>
              </a:xfrm>
            </p:spPr>
            <p:txBody>
              <a:bodyPr>
                <a:normAutofit fontScale="92500"/>
              </a:bodyPr>
              <a:lstStyle/>
              <a:p>
                <a:r>
                  <a:rPr lang="nl-BE" dirty="0"/>
                  <a:t>Gegeven massadichtheid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nl-BE" b="0" dirty="0"/>
              </a:p>
              <a:p>
                <a:r>
                  <a:rPr lang="nl-BE" b="0" dirty="0"/>
                  <a:t>Wat stelt dan het onderste voor?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nary>
                                <m:nary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/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𝑑𝑥𝑑𝑦𝑑𝑧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nl-BE" b="0" dirty="0"/>
              </a:p>
              <a:p>
                <a:r>
                  <a:rPr lang="nl-BE" b="0" dirty="0"/>
                  <a:t>Zwaartepunt massacentrum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nary>
                                <m:nary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/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𝑑𝑥𝑑𝑦𝑑𝑧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nary>
                                <m:nary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/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𝑑𝑥𝑑𝑦𝑑𝑧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nary>
                                <m:nary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/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𝑑𝑥𝑑𝑦𝑑𝑧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nl-BE" dirty="0"/>
              </a:p>
              <a:p>
                <a:r>
                  <a:rPr lang="nl-BE" dirty="0"/>
                  <a:t>Traagheidsmoment kan op een soortgelijke manier omschreven worden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C8DD21F5-9E04-E8EC-E5DD-26D545AB67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07440"/>
                <a:ext cx="11160760" cy="5679440"/>
              </a:xfrm>
              <a:blipFill>
                <a:blip r:embed="rId2"/>
                <a:stretch>
                  <a:fillRect l="-874" t="-1719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232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44810A-61C4-7D2B-2C2C-71255E3D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beginnen aan oefening?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592EF69F-DF87-C500-02D3-0F112A3082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dirty="0"/>
                  <a:t>Schets integratiegebied</a:t>
                </a:r>
              </a:p>
              <a:p>
                <a:r>
                  <a:rPr lang="nl-BE" dirty="0"/>
                  <a:t>Bepaal grenzen</a:t>
                </a:r>
              </a:p>
              <a:p>
                <a:r>
                  <a:rPr lang="nl-BE" dirty="0"/>
                  <a:t>Buitenste integratiegrenzen zijn altijd getallen</a:t>
                </a:r>
              </a:p>
              <a:p>
                <a:r>
                  <a:rPr lang="nl-BE" dirty="0"/>
                  <a:t>Altijd twee mogelijkheden  </a:t>
                </a:r>
              </a:p>
              <a:p>
                <a:pPr lvl="1"/>
                <a:r>
                  <a:rPr lang="nl-BE" dirty="0"/>
                  <a:t>Oftewel bakenen de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l-BE" dirty="0"/>
                  <a:t>-waarden de buitenste grenzen af</a:t>
                </a:r>
              </a:p>
              <a:p>
                <a:pPr lvl="1"/>
                <a:r>
                  <a:rPr lang="nl-BE" dirty="0"/>
                  <a:t>Oftewel de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nl-BE" dirty="0"/>
                  <a:t>-waarden</a:t>
                </a:r>
              </a:p>
              <a:p>
                <a:pPr lvl="1"/>
                <a:r>
                  <a:rPr lang="nl-BE" dirty="0"/>
                  <a:t>Maak van deze mogelijkheden gebruik!</a:t>
                </a:r>
              </a:p>
              <a:p>
                <a:r>
                  <a:rPr lang="nl-BE" dirty="0"/>
                  <a:t>Bereken de meervoudige integraal van binnen naar buiten</a:t>
                </a:r>
              </a:p>
              <a:p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pPr lvl="1"/>
                <a:endParaRPr lang="nl-BE" dirty="0"/>
              </a:p>
              <a:p>
                <a:pPr lvl="1"/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592EF69F-DF87-C500-02D3-0F112A3082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0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50753-998E-4434-9A36-3B395577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18E34F-F989-B217-D349-81C7A690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69035"/>
          </a:xfrm>
        </p:spPr>
        <p:txBody>
          <a:bodyPr/>
          <a:lstStyle/>
          <a:p>
            <a:r>
              <a:rPr lang="nl-BE" dirty="0"/>
              <a:t>Voorbeeld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8E9B2A9-ED39-4C0B-0E0A-38831C662B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56640"/>
                <a:ext cx="10515600" cy="5120323"/>
              </a:xfrm>
            </p:spPr>
            <p:txBody>
              <a:bodyPr/>
              <a:lstStyle/>
              <a:p>
                <a:r>
                  <a:rPr lang="nl-BE" dirty="0"/>
                  <a:t>Bepaal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nary>
                          <m:nary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nl-B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  <m:sup/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e>
                        </m:nary>
                      </m:e>
                    </m:nary>
                  </m:oMath>
                </a14:m>
                <a:r>
                  <a:rPr lang="nl-BE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nl-BE" dirty="0"/>
                  <a:t> begrensd  door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nl-BE" dirty="0"/>
                  <a:t>,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nl-BE" dirty="0"/>
                  <a:t> en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nl-BE" dirty="0"/>
              </a:p>
              <a:p>
                <a:r>
                  <a:rPr lang="nl-BE" dirty="0"/>
                  <a:t>Wat berekenen we hier eigenlijk?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8E9B2A9-ED39-4C0B-0E0A-38831C662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56640"/>
                <a:ext cx="10515600" cy="5120323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fbeelding 3">
            <a:extLst>
              <a:ext uri="{FF2B5EF4-FFF2-40B4-BE49-F238E27FC236}">
                <a16:creationId xmlns:a16="http://schemas.microsoft.com/office/drawing/2014/main" id="{5F7BCBA5-3565-677C-9634-05E6273B0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411" y="2875279"/>
            <a:ext cx="3821480" cy="3632584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EBA00BBF-7BF3-C96B-9EA8-1A42A9A3A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369" y="2875279"/>
            <a:ext cx="3916791" cy="3642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999598B4-2456-DB5F-DFDC-983C2BF10868}"/>
                  </a:ext>
                </a:extLst>
              </p:cNvPr>
              <p:cNvSpPr txBox="1"/>
              <p:nvPr/>
            </p:nvSpPr>
            <p:spPr>
              <a:xfrm>
                <a:off x="4023360" y="5349240"/>
                <a:ext cx="2135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999598B4-2456-DB5F-DFDC-983C2BF10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360" y="5349240"/>
                <a:ext cx="213520" cy="276999"/>
              </a:xfrm>
              <a:prstGeom prst="rect">
                <a:avLst/>
              </a:prstGeom>
              <a:blipFill>
                <a:blip r:embed="rId5"/>
                <a:stretch>
                  <a:fillRect l="-25714" r="-22857" b="-666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96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4C7FC-D9B7-EC13-0BF1-37B94E8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A0F09E-B38F-0EFD-56C8-7FE7B698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69035"/>
          </a:xfrm>
        </p:spPr>
        <p:txBody>
          <a:bodyPr/>
          <a:lstStyle/>
          <a:p>
            <a:r>
              <a:rPr lang="nl-BE" dirty="0"/>
              <a:t>Voorbeeld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35B81FE-3CFB-E366-6E4C-30F5983E61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56640"/>
                <a:ext cx="10515600" cy="5638800"/>
              </a:xfrm>
            </p:spPr>
            <p:txBody>
              <a:bodyPr>
                <a:normAutofit/>
              </a:bodyPr>
              <a:lstStyle/>
              <a:p>
                <a:r>
                  <a:rPr lang="nl-BE" dirty="0"/>
                  <a:t>Bepaal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nary>
                          <m:nary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nl-B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  <m:sup/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e>
                        </m:nary>
                      </m:e>
                    </m:nary>
                  </m:oMath>
                </a14:m>
                <a:r>
                  <a:rPr lang="nl-BE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nl-BE" dirty="0"/>
                  <a:t> begrensd  door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nl-BE" dirty="0"/>
                  <a:t>,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nl-BE" dirty="0"/>
                  <a:t> en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nl-BE" dirty="0"/>
              </a:p>
              <a:p>
                <a:endParaRPr lang="nl-BE" dirty="0"/>
              </a:p>
              <a:p>
                <a:r>
                  <a:rPr lang="nl-BE" dirty="0"/>
                  <a:t>Enerzijds kiezen voor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nl-BE" dirty="0"/>
              </a:p>
              <a:p>
                <a:r>
                  <a:rPr lang="nl-BE" dirty="0"/>
                  <a:t>Dan geldt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nl-BE" dirty="0"/>
              </a:p>
              <a:p>
                <a:endParaRPr lang="nl-BE" dirty="0"/>
              </a:p>
              <a:p>
                <a:r>
                  <a:rPr lang="nl-BE" dirty="0"/>
                  <a:t>Anderzijds kiezen voor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nl-BE" dirty="0"/>
              </a:p>
              <a:p>
                <a:r>
                  <a:rPr lang="nl-BE" dirty="0"/>
                  <a:t>Dan geldt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a:rPr lang="nl-BE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nl-BE" dirty="0"/>
              </a:p>
              <a:p>
                <a:endParaRPr lang="nl-BE" dirty="0"/>
              </a:p>
              <a:p>
                <a:r>
                  <a:rPr lang="nl-BE" dirty="0"/>
                  <a:t>Er geldt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↔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35B81FE-3CFB-E366-6E4C-30F5983E61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56640"/>
                <a:ext cx="10515600" cy="5638800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Afbeelding 5">
            <a:extLst>
              <a:ext uri="{FF2B5EF4-FFF2-40B4-BE49-F238E27FC236}">
                <a16:creationId xmlns:a16="http://schemas.microsoft.com/office/drawing/2014/main" id="{B50FFFA4-07B3-CE00-D4E9-8F20D4B2C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649" y="2763519"/>
            <a:ext cx="3916791" cy="3642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1C61F881-B79C-896E-B303-EDE20FBAF518}"/>
                  </a:ext>
                </a:extLst>
              </p:cNvPr>
              <p:cNvSpPr txBox="1"/>
              <p:nvPr/>
            </p:nvSpPr>
            <p:spPr>
              <a:xfrm>
                <a:off x="10454640" y="5237480"/>
                <a:ext cx="2135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1C61F881-B79C-896E-B303-EDE20FBAF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4640" y="5237480"/>
                <a:ext cx="213520" cy="276999"/>
              </a:xfrm>
              <a:prstGeom prst="rect">
                <a:avLst/>
              </a:prstGeom>
              <a:blipFill>
                <a:blip r:embed="rId4"/>
                <a:stretch>
                  <a:fillRect l="-25714" r="-22857" b="-6522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6194EA77-724D-2C2A-6E88-3C571E7CCEB8}"/>
              </a:ext>
            </a:extLst>
          </p:cNvPr>
          <p:cNvCxnSpPr/>
          <p:nvPr/>
        </p:nvCxnSpPr>
        <p:spPr>
          <a:xfrm flipV="1">
            <a:off x="11104880" y="3820160"/>
            <a:ext cx="0" cy="2356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71B6876B-4193-26FB-EE28-530776EB9E13}"/>
              </a:ext>
            </a:extLst>
          </p:cNvPr>
          <p:cNvCxnSpPr>
            <a:cxnSpLocks/>
          </p:cNvCxnSpPr>
          <p:nvPr/>
        </p:nvCxnSpPr>
        <p:spPr>
          <a:xfrm>
            <a:off x="10419080" y="4754880"/>
            <a:ext cx="1061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14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6586BD-EC89-9547-11E0-CB01F8FF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FB0813EB-5B7C-2908-AE73-3F5CA70853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nl-B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sSup>
                                    <m:sSup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p>
                                <m:e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</m:e>
                              </m:nary>
                            </m:e>
                          </m:d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Sup>
                            <m:sSubSup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b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5+2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FB0813EB-5B7C-2908-AE73-3F5CA70853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97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7CE6D029-8CC3-B727-D5D3-0769965AF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760" y="3307458"/>
            <a:ext cx="3444240" cy="33883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EABBB2D-9118-D538-E983-471983882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240"/>
            <a:ext cx="10515600" cy="888048"/>
          </a:xfrm>
        </p:spPr>
        <p:txBody>
          <a:bodyPr/>
          <a:lstStyle/>
          <a:p>
            <a:r>
              <a:rPr lang="nl-BE" dirty="0"/>
              <a:t>Voorbeeld 2, Oefening 8.4 (h)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9A17D89-A040-3A7D-B6BA-799ED7CA08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44880"/>
                <a:ext cx="10515600" cy="57508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ad>
                                <m:radPr>
                                  <m:degHide m:val="on"/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</m:sub>
                            <m:sup>
                              <m:r>
                                <a:rPr lang="nl-BE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nl-BE" dirty="0"/>
              </a:p>
              <a:p>
                <a:r>
                  <a:rPr lang="nl-BE" dirty="0"/>
                  <a:t>Domein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nl-BE" dirty="0"/>
                  <a:t> is voorgesteld door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nl-BE" dirty="0"/>
                  <a:t> 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nl-BE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nl-BE" dirty="0"/>
              </a:p>
              <a:p>
                <a:r>
                  <a:rPr lang="nl-BE" dirty="0"/>
                  <a:t>Dit is een beest!  Wat doen we hiermee?</a:t>
                </a:r>
              </a:p>
              <a:p>
                <a:r>
                  <a:rPr lang="nl-BE" dirty="0"/>
                  <a:t>Grenzen omdraaien, wat wordt dit?</a:t>
                </a:r>
              </a:p>
              <a:p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0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nl-BE" dirty="0"/>
                  <a:t> en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nl-BE" dirty="0"/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  <m:e>
                              <m:sSup>
                                <m:sSup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r>
                  <a:rPr lang="nl-BE" dirty="0"/>
                  <a:t>Integraal wordt gemakkelijker!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9A17D89-A040-3A7D-B6BA-799ED7CA08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44880"/>
                <a:ext cx="10515600" cy="5750879"/>
              </a:xfrm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E9572ED9-9FEE-F732-755D-707895D1737E}"/>
                  </a:ext>
                </a:extLst>
              </p:cNvPr>
              <p:cNvSpPr txBox="1"/>
              <p:nvPr/>
            </p:nvSpPr>
            <p:spPr>
              <a:xfrm>
                <a:off x="9428480" y="3947160"/>
                <a:ext cx="2135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E9572ED9-9FEE-F732-755D-707895D17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8480" y="3947160"/>
                <a:ext cx="213520" cy="276999"/>
              </a:xfrm>
              <a:prstGeom prst="rect">
                <a:avLst/>
              </a:prstGeom>
              <a:blipFill>
                <a:blip r:embed="rId4"/>
                <a:stretch>
                  <a:fillRect l="-28571" r="-22857" b="-666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681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F92191-74DE-05E4-E1E7-C8FBC0684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601"/>
            <a:ext cx="10515600" cy="949008"/>
          </a:xfrm>
        </p:spPr>
        <p:txBody>
          <a:bodyPr/>
          <a:lstStyle/>
          <a:p>
            <a:r>
              <a:rPr lang="nl-BE" dirty="0"/>
              <a:t>Voorbeeld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983330D-4883-132F-2E1C-855B2009E3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6400" y="863600"/>
                <a:ext cx="5923280" cy="58927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ad>
                                <m:radPr>
                                  <m:degHide m:val="on"/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9−</m:t>
                                  </m:r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sup>
                            <m:e>
                              <m:rad>
                                <m:radPr>
                                  <m:degHide m:val="on"/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9−</m:t>
                                  </m:r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nl-BE" dirty="0"/>
              </a:p>
              <a:p>
                <a:r>
                  <a:rPr lang="nl-BE" dirty="0"/>
                  <a:t>Wat zouden we hier doen? </a:t>
                </a:r>
              </a:p>
              <a:p>
                <a:pPr marL="0" indent="0">
                  <a:buNone/>
                </a:pPr>
                <a:endParaRPr lang="nl-B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𝜃</m:t>
                          </m:r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r>
                                <a:rPr lang="nl-BE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ad>
                                <m:radPr>
                                  <m:degHide m:val="on"/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9−</m:t>
                                  </m:r>
                                  <m:sSup>
                                    <m:sSup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r>
                  <a:rPr lang="nl-BE" dirty="0"/>
                  <a:t>Polaire coördinaten! </a:t>
                </a:r>
              </a:p>
              <a:p>
                <a:r>
                  <a:rPr lang="nl-BE" dirty="0"/>
                  <a:t>Voor meer transformaties: zie komende oefenzitting</a:t>
                </a:r>
              </a:p>
              <a:p>
                <a:r>
                  <a:rPr lang="nl-BE" b="1" dirty="0">
                    <a:solidFill>
                      <a:srgbClr val="FF0000"/>
                    </a:solidFill>
                  </a:rPr>
                  <a:t>Jacobiaan</a:t>
                </a:r>
                <a:r>
                  <a:rPr lang="nl-BE" dirty="0"/>
                  <a:t> toevoegen!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983330D-4883-132F-2E1C-855B2009E3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863600"/>
                <a:ext cx="5923280" cy="5892799"/>
              </a:xfrm>
              <a:blipFill>
                <a:blip r:embed="rId2"/>
                <a:stretch>
                  <a:fillRect l="-1854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>
            <a:extLst>
              <a:ext uri="{FF2B5EF4-FFF2-40B4-BE49-F238E27FC236}">
                <a16:creationId xmlns:a16="http://schemas.microsoft.com/office/drawing/2014/main" id="{48C85E70-62A8-E999-91D6-C3B7FDFB5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505" y="1153432"/>
            <a:ext cx="5220429" cy="52013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8FF44E6D-BD9E-2917-7575-80FD2F90E1AE}"/>
                  </a:ext>
                </a:extLst>
              </p:cNvPr>
              <p:cNvSpPr txBox="1"/>
              <p:nvPr/>
            </p:nvSpPr>
            <p:spPr>
              <a:xfrm>
                <a:off x="8199120" y="3745749"/>
                <a:ext cx="42710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36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nl-BE" sz="3600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8FF44E6D-BD9E-2917-7575-80FD2F90E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120" y="3745749"/>
                <a:ext cx="427105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923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8E411-6384-E839-F72A-BC33779DB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6C9AEC-617F-76E7-D911-2C957B02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3DB5898-2D97-6BFF-B577-D29543225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787525"/>
            <a:ext cx="11449049" cy="4351338"/>
          </a:xfrm>
        </p:spPr>
        <p:txBody>
          <a:bodyPr/>
          <a:lstStyle/>
          <a:p>
            <a:r>
              <a:rPr lang="nl-BE" dirty="0"/>
              <a:t>8.2 (</a:t>
            </a:r>
            <a:r>
              <a:rPr lang="nl-BE" dirty="0" err="1"/>
              <a:t>f,k</a:t>
            </a:r>
            <a:r>
              <a:rPr lang="nl-BE" dirty="0"/>
              <a:t>)</a:t>
            </a:r>
          </a:p>
          <a:p>
            <a:r>
              <a:rPr lang="nl-BE" dirty="0"/>
              <a:t>8.3 (j)</a:t>
            </a:r>
          </a:p>
          <a:p>
            <a:r>
              <a:rPr lang="nl-BE" dirty="0"/>
              <a:t>8.11 (e)</a:t>
            </a:r>
          </a:p>
          <a:p>
            <a:r>
              <a:rPr lang="nl-BE" dirty="0"/>
              <a:t>8.12 (m) </a:t>
            </a:r>
            <a:r>
              <a:rPr lang="nl-BE" dirty="0">
                <a:sym typeface="Wingdings" panose="05000000000000000000" pitchFamily="2" charset="2"/>
              </a:rPr>
              <a:t> </a:t>
            </a:r>
            <a:r>
              <a:rPr lang="nl-BE" b="1" dirty="0">
                <a:solidFill>
                  <a:srgbClr val="FF0000"/>
                </a:solidFill>
                <a:sym typeface="Wingdings" panose="05000000000000000000" pitchFamily="2" charset="2"/>
              </a:rPr>
              <a:t>ENKEL INTEGRAAL OPSTELLEN</a:t>
            </a:r>
            <a:endParaRPr lang="nl-BE" b="1" dirty="0">
              <a:solidFill>
                <a:srgbClr val="FF0000"/>
              </a:solidFill>
            </a:endParaRPr>
          </a:p>
          <a:p>
            <a:r>
              <a:rPr lang="nl-BE" dirty="0"/>
              <a:t>8.13 (g)  </a:t>
            </a:r>
            <a:r>
              <a:rPr lang="nl-BE" dirty="0">
                <a:sym typeface="Wingdings" panose="05000000000000000000" pitchFamily="2" charset="2"/>
              </a:rPr>
              <a:t> </a:t>
            </a:r>
            <a:r>
              <a:rPr lang="nl-BE" b="1" dirty="0">
                <a:solidFill>
                  <a:srgbClr val="FF0000"/>
                </a:solidFill>
                <a:sym typeface="Wingdings" panose="05000000000000000000" pitchFamily="2" charset="2"/>
              </a:rPr>
              <a:t>ENKEL INTEGRAAL OPSTELLEN</a:t>
            </a:r>
          </a:p>
          <a:p>
            <a:r>
              <a:rPr lang="nl-BE" dirty="0">
                <a:sym typeface="Wingdings" panose="05000000000000000000" pitchFamily="2" charset="2"/>
              </a:rPr>
              <a:t>8.21 (c)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9693019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420</Words>
  <Application>Microsoft Office PowerPoint</Application>
  <PresentationFormat>Breedbeeld</PresentationFormat>
  <Paragraphs>111</Paragraphs>
  <Slides>12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Wingdings</vt:lpstr>
      <vt:lpstr>Kantoorthema</vt:lpstr>
      <vt:lpstr>Analyse I, Oefenzitting 7</vt:lpstr>
      <vt:lpstr>n-dimensionaal volume</vt:lpstr>
      <vt:lpstr>Meervoudige integralen: lengte en oppervlakte</vt:lpstr>
      <vt:lpstr>Meervoudige integralen: volume</vt:lpstr>
      <vt:lpstr>Andere toepassingen</vt:lpstr>
      <vt:lpstr>Hoe beginnen aan oefening?</vt:lpstr>
      <vt:lpstr>Voorbeeld 1</vt:lpstr>
      <vt:lpstr>Voorbeeld 1</vt:lpstr>
      <vt:lpstr>Voorbeeld 1</vt:lpstr>
      <vt:lpstr>Voorbeeld 2, Oefening 8.4 (h)</vt:lpstr>
      <vt:lpstr>Voorbeeld 3</vt:lpstr>
      <vt:lpstr>Oefeningen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Visterin</dc:creator>
  <cp:lastModifiedBy>Jasper Visterin</cp:lastModifiedBy>
  <cp:revision>264</cp:revision>
  <dcterms:created xsi:type="dcterms:W3CDTF">2025-11-15T11:02:06Z</dcterms:created>
  <dcterms:modified xsi:type="dcterms:W3CDTF">2025-12-04T18:10:19Z</dcterms:modified>
</cp:coreProperties>
</file>