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86" r:id="rId3"/>
    <p:sldId id="289" r:id="rId4"/>
    <p:sldId id="287" r:id="rId5"/>
    <p:sldId id="288" r:id="rId6"/>
    <p:sldId id="290" r:id="rId7"/>
    <p:sldId id="292" r:id="rId8"/>
    <p:sldId id="291" r:id="rId9"/>
    <p:sldId id="293" r:id="rId10"/>
    <p:sldId id="295" r:id="rId11"/>
    <p:sldId id="296" r:id="rId12"/>
    <p:sldId id="297" r:id="rId13"/>
    <p:sldId id="299" r:id="rId14"/>
    <p:sldId id="302" r:id="rId15"/>
    <p:sldId id="300" r:id="rId16"/>
    <p:sldId id="301" r:id="rId17"/>
    <p:sldId id="278" r:id="rId1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5656"/>
    <a:srgbClr val="4585CD"/>
    <a:srgbClr val="308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10" autoAdjust="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0F4FD-F267-40B3-9A69-A8DD38E77D27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76DD3-C752-4F32-A067-0B606638A89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61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474D3-8000-A641-A44C-651E2CBE2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0C9D0E-C3FA-8EE6-F4C4-072EC0077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7E538F-5698-0323-4354-833DF1B5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2489E1-3E4E-23C0-A775-CFA22760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D2F767-0228-D418-DC5B-5FA84FA2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25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F411E-944D-0C09-CBBE-B48A201C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7FF456-7144-B2E2-96C3-36E077F5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D25FE2-2A77-DF29-3FAE-D06F0C41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A2CF12-D46A-53CB-3596-E9468A08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87FA52-6EF7-00C3-96F4-52A36AE2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694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18425-35DB-A9CC-4C0C-18DC9BE9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CD2139-D674-3917-14DF-5C78DCA7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7A62731-583A-9D58-001B-658AFAE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BE8D01-988B-D2DE-B44D-0172D54E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60818C-7FDD-6948-5EB6-9A7B18B2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760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53F62-7DB9-2CA8-9939-3ED71F35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A3CE89-68DD-4D52-B9F3-FECA562CF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752B134-53FC-8290-4B9E-E11165015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5B78C45-0BF6-1696-E3FF-FD870314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BBCD7BA-9A5D-B074-CAC0-C66D47D4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AC1274D-3E33-4C8E-D946-4A575AF0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45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615F2-B4B9-D7FA-4A29-A3F83F73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E55A68E-156B-4910-1B6E-72AA0F939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E9EF17-8497-63E0-85D5-32E8BF3D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96E9596-03B5-0FCB-300F-B660CDF5A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2892471-FCEA-B067-DEB7-BC4A34F94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0A9F16A-A054-3285-DC84-FC2BC2DA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A7737A5-7060-2B0B-D559-6115DCC8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43411BC-638E-2EA7-8F25-EEF786F1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155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25259-940A-0ACC-3002-2B1CBD32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A359C84-DA78-0CE9-4562-BF9FF69B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C66A80F-9457-97BF-757C-4210FD2A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B4BCCEA-FC0A-9081-C31A-E0978733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40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FF45966-1247-B468-96C0-3F694BBA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8B60F55-473F-DC3F-F57A-CB055C22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4EA2AB-F2A0-FB0B-6A0F-129E2B1B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06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8034F-F2AF-B40A-3E58-E93247A1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85F0D6-2DD6-4A91-4695-660953A8E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3458C20-3C7F-CC68-5F82-E5F4ED3F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1F7419-3F23-A5E9-13C9-AB9C505D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99CB874-36BD-A521-90E4-E7D907A2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8DA60FA-6C56-A037-8F4F-5232E2C0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02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025A8-8F47-71AA-5E56-8FF6571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715414C-D39D-6E8E-404D-0391790AC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89E620-94AB-5510-4BEA-4D8D7641B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8CBDFB-CD7E-B7D4-6288-E99C41E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DA5E9C4-DB22-9B87-FB52-8EFACE28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FC2BD86-4CB7-C698-BFBC-2B1A66C1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8294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5BC49-DE12-DD73-DA2E-99B55D94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1B9C974-A11C-8572-0562-076FF3D9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3807FE-FFCF-9EEA-ADD0-DCF909FE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EE7C86-A825-9AB0-911B-6F987933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20BEFE2-BF03-826B-CF2C-36E37584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254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9575ABB-6A57-C0EF-CBCA-35698086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0A2FE3B-CC0E-5E21-8F65-96D339B9A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E74237-2DF2-F8B0-FBF1-AD49B61E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070088-D9DB-59A1-B7B7-E077CA6E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1D32A5-2E57-0B57-7A60-0524EF2D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765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47F9C21-3E07-D0D7-862E-492D900C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91D335-C39D-F325-0D4E-CF72C86E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CD6A3-9D67-60CA-1821-4941B3442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16C08-D9A6-4DE6-A730-E89D3605CC03}" type="datetimeFigureOut">
              <a:rPr lang="nl-BE" smtClean="0"/>
              <a:t>20/12/2025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4C6036-882F-1530-4726-877B1845F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C44C185-8E0F-6028-D2F5-91B7CAB3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7317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9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470DD-07B6-A07A-34A8-A3AA429A7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Asymptotisch</a:t>
            </a:r>
            <a:r>
              <a:rPr lang="en-GB" dirty="0"/>
              <a:t> </a:t>
            </a:r>
            <a:r>
              <a:rPr lang="en-GB" dirty="0" err="1"/>
              <a:t>equivalente</a:t>
            </a:r>
            <a:r>
              <a:rPr lang="en-GB" dirty="0"/>
              <a:t> </a:t>
            </a:r>
            <a:r>
              <a:rPr lang="en-GB" dirty="0" err="1"/>
              <a:t>functies</a:t>
            </a:r>
            <a:endParaRPr lang="en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0FD9BB4-0357-BFD2-81A6-C3E28D2B6D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9616"/>
                <a:ext cx="10515600" cy="491032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zijn</a:t>
                </a:r>
                <a:r>
                  <a:rPr lang="en-GB" dirty="0"/>
                  <a:t> </a:t>
                </a:r>
                <a:r>
                  <a:rPr lang="en-GB" dirty="0" err="1"/>
                  <a:t>asymptotisch</a:t>
                </a:r>
                <a:r>
                  <a:rPr lang="en-GB" dirty="0"/>
                  <a:t> equivalent </a:t>
                </a:r>
                <a:r>
                  <a:rPr lang="en-GB" dirty="0" err="1"/>
                  <a:t>als</a:t>
                </a:r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Hoe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vinden</a:t>
                </a:r>
                <a:r>
                  <a:rPr lang="en-GB" dirty="0"/>
                  <a:t> </a:t>
                </a:r>
                <a:r>
                  <a:rPr lang="en-GB" dirty="0" err="1"/>
                  <a:t>voor</a:t>
                </a:r>
                <a:r>
                  <a:rPr lang="en-GB" dirty="0"/>
                  <a:t> willekeurige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? </m:t>
                    </m:r>
                  </m:oMath>
                </a14:m>
                <a:endParaRPr lang="en-GB" dirty="0"/>
              </a:p>
              <a:p>
                <a:pPr lvl="1"/>
                <a:r>
                  <a:rPr lang="en-GB" sz="2800" dirty="0" err="1"/>
                  <a:t>Taylorreeks</a:t>
                </a:r>
                <a:r>
                  <a:rPr lang="en-GB" sz="2800" dirty="0"/>
                  <a:t>! </a:t>
                </a:r>
              </a:p>
              <a:p>
                <a:pPr lvl="1"/>
                <a:r>
                  <a:rPr lang="en-GB" sz="2800" dirty="0" err="1"/>
                  <a:t>Verwaarlozen</a:t>
                </a:r>
                <a:r>
                  <a:rPr lang="en-GB" sz="2800" dirty="0"/>
                  <a:t> van ‘</a:t>
                </a:r>
                <a:r>
                  <a:rPr lang="en-GB" sz="2800" dirty="0" err="1"/>
                  <a:t>kleine</a:t>
                </a:r>
                <a:r>
                  <a:rPr lang="en-GB" sz="2800" dirty="0"/>
                  <a:t>’ termen van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BE" sz="280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0FD9BB4-0357-BFD2-81A6-C3E28D2B6D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9616"/>
                <a:ext cx="10515600" cy="4910328"/>
              </a:xfrm>
              <a:blipFill>
                <a:blip r:embed="rId2"/>
                <a:stretch>
                  <a:fillRect l="-1043" t="-210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6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E3701FD-FEEB-C9B5-E469-420416DEFF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Grafisch idee van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voor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B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E3701FD-FEEB-C9B5-E469-420416DEFF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Tijdelijke aanduiding voor inhoud 4" descr="Afbeelding met schermopname, lijn&#10;&#10;Door AI gegenereerde inhoud is mogelijk onjuist.">
            <a:extLst>
              <a:ext uri="{FF2B5EF4-FFF2-40B4-BE49-F238E27FC236}">
                <a16:creationId xmlns:a16="http://schemas.microsoft.com/office/drawing/2014/main" id="{B44EF25A-9131-33CD-E8F0-8571B9A5C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805" y="1825625"/>
            <a:ext cx="8728389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EEA2DDEC-A8CE-089D-B665-632491B70838}"/>
                  </a:ext>
                </a:extLst>
              </p:cNvPr>
              <p:cNvSpPr txBox="1"/>
              <p:nvPr/>
            </p:nvSpPr>
            <p:spPr>
              <a:xfrm>
                <a:off x="8481060" y="5019238"/>
                <a:ext cx="2473882" cy="86177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unc>
                        <m:func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unc>
                        <m:funcPr>
                          <m:ctrlPr>
                            <a:rPr lang="en-GB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BE" sz="28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EEA2DDEC-A8CE-089D-B665-632491B70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1060" y="5019238"/>
                <a:ext cx="2473882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140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C44CF0-C70E-1FFD-D8EB-7462B7847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148779"/>
            <a:ext cx="10515600" cy="1009651"/>
          </a:xfrm>
        </p:spPr>
        <p:txBody>
          <a:bodyPr/>
          <a:lstStyle/>
          <a:p>
            <a:r>
              <a:rPr lang="en-GB" dirty="0" err="1"/>
              <a:t>Taylorreeks</a:t>
            </a:r>
            <a:endParaRPr lang="en-B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6CEFB06-94D5-002A-8181-84BC65415D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4592" y="1280160"/>
                <a:ext cx="11740896" cy="5330951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Eerste </a:t>
                </a:r>
                <a:r>
                  <a:rPr lang="nl-NL" dirty="0"/>
                  <a:t>van nul verschillende term van Taylorveelterm voor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NL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i="1" dirty="0"/>
                  <a:t> </a:t>
                </a:r>
                <a:r>
                  <a:rPr lang="en-GB" dirty="0"/>
                  <a:t>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i="1" dirty="0"/>
                  <a:t>.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i="1" dirty="0"/>
                  <a:t> </a:t>
                </a:r>
                <a:r>
                  <a:rPr lang="en-GB" dirty="0" err="1"/>
                  <a:t>voor</a:t>
                </a:r>
                <a:r>
                  <a:rPr lang="en-GB" i="1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i="1" dirty="0"/>
                  <a:t> </a:t>
                </a:r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𝒙</m:t>
                        </m:r>
                      </m:sup>
                    </m:sSup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GB" b="1" i="1" dirty="0"/>
                  <a:t> </a:t>
                </a:r>
                <a:r>
                  <a:rPr lang="en-GB" b="1" dirty="0" err="1"/>
                  <a:t>voor</a:t>
                </a:r>
                <a:r>
                  <a:rPr lang="en-GB" b="1" dirty="0"/>
                  <a:t>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i="1" dirty="0"/>
              </a:p>
              <a:p>
                <a:endParaRPr lang="en-GB" b="1" i="1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i="1" dirty="0"/>
                  <a:t> </a:t>
                </a:r>
                <a:r>
                  <a:rPr lang="en-GB" dirty="0" err="1"/>
                  <a:t>voor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i="1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𝐥𝐧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b="1" i="1" dirty="0"/>
                  <a:t> </a:t>
                </a:r>
                <a:r>
                  <a:rPr lang="en-GB" b="1" dirty="0"/>
                  <a:t>voor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i="1" dirty="0"/>
              </a:p>
              <a:p>
                <a:endParaRPr lang="en-GB" b="1" i="1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 voor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i="1" dirty="0"/>
                  <a:t> </a:t>
                </a:r>
                <a:endParaRPr lang="en-GB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en-GB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GB" b="1" i="1" dirty="0"/>
                  <a:t> </a:t>
                </a:r>
                <a:r>
                  <a:rPr lang="en-GB" b="1" dirty="0"/>
                  <a:t>voor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nl-BE" b="1" i="1" smtClean="0"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GB" b="1" i="1" dirty="0"/>
              </a:p>
              <a:p>
                <a:endParaRPr lang="en-BE" i="1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36CEFB06-94D5-002A-8181-84BC65415D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4592" y="1280160"/>
                <a:ext cx="11740896" cy="5330951"/>
              </a:xfrm>
              <a:blipFill>
                <a:blip r:embed="rId2"/>
                <a:stretch>
                  <a:fillRect l="-935" t="-1945" b="-91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58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6BF93-DD26-B061-8DBA-77CE67B32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40664"/>
          </a:xfrm>
        </p:spPr>
        <p:txBody>
          <a:bodyPr/>
          <a:lstStyle/>
          <a:p>
            <a:r>
              <a:rPr lang="en-GB" dirty="0"/>
              <a:t>In </a:t>
            </a:r>
            <a:r>
              <a:rPr lang="en-GB" dirty="0" err="1"/>
              <a:t>moeilijke</a:t>
            </a:r>
            <a:r>
              <a:rPr lang="en-GB" dirty="0"/>
              <a:t> </a:t>
            </a:r>
            <a:r>
              <a:rPr lang="en-GB" dirty="0" err="1"/>
              <a:t>gevallen</a:t>
            </a:r>
            <a:r>
              <a:rPr lang="en-GB" dirty="0"/>
              <a:t>: </a:t>
            </a:r>
            <a:r>
              <a:rPr lang="en-GB" dirty="0" err="1"/>
              <a:t>substitutie</a:t>
            </a:r>
            <a:r>
              <a:rPr lang="en-GB" dirty="0"/>
              <a:t>!</a:t>
            </a:r>
            <a:endParaRPr lang="en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42FA721-151A-7637-24B8-B1165A6C5B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40664"/>
                <a:ext cx="10515600" cy="609904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Zoek </a:t>
                </a:r>
                <a:r>
                  <a:rPr lang="en-GB" dirty="0" err="1"/>
                  <a:t>een</a:t>
                </a:r>
                <a:r>
                  <a:rPr lang="nl-NL" dirty="0"/>
                  <a:t> asymptotisch equivalente functie voor </a:t>
                </a:r>
              </a:p>
              <a:p>
                <a:endParaRPr lang="nl-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sSup>
                            <m:sSup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−1,    </m:t>
                      </m:r>
                      <m:r>
                        <a:rPr lang="nl-NL" sz="3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3200" i="1" dirty="0">
                          <a:latin typeface="Cambria Math" panose="02040503050406030204" pitchFamily="18" charset="0"/>
                        </a:rPr>
                        <m:t>→∞</m:t>
                      </m:r>
                      <m:r>
                        <a:rPr lang="en-GB" sz="3200" b="0" i="0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b="0" i="0" dirty="0">
                  <a:latin typeface="Cambria Math" panose="02040503050406030204" pitchFamily="18" charset="0"/>
                </a:endParaRPr>
              </a:p>
              <a:p>
                <a:r>
                  <a:rPr lang="en-GB" dirty="0"/>
                  <a:t>Kies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b="0" i="0" dirty="0">
                    <a:latin typeface="Cambria Math" panose="02040503050406030204" pitchFamily="18" charset="0"/>
                  </a:rPr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De </a:t>
                </a:r>
                <a:r>
                  <a:rPr lang="en-GB" dirty="0" err="1"/>
                  <a:t>functie</a:t>
                </a:r>
                <a:r>
                  <a:rPr lang="en-GB" dirty="0"/>
                  <a:t> </a:t>
                </a:r>
                <a:r>
                  <a:rPr lang="en-GB" dirty="0" err="1"/>
                  <a:t>verandert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−1,        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→0.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−1,        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→0.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vervangen</a:t>
                </a:r>
                <a:r>
                  <a:rPr lang="en-GB" dirty="0"/>
                  <a:t> door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geeft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→∞.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42FA721-151A-7637-24B8-B1165A6C5B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40664"/>
                <a:ext cx="10515600" cy="6099047"/>
              </a:xfrm>
              <a:blipFill>
                <a:blip r:embed="rId2"/>
                <a:stretch>
                  <a:fillRect l="-928" t="-210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77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 descr="Afbeelding met lijn, Perceel, tekst, diagram&#10;&#10;Door AI gegenereerde inhoud is mogelijk onjuist.">
            <a:extLst>
              <a:ext uri="{FF2B5EF4-FFF2-40B4-BE49-F238E27FC236}">
                <a16:creationId xmlns:a16="http://schemas.microsoft.com/office/drawing/2014/main" id="{13905A05-963E-757C-83D4-FBEC84701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7447" y="-1344925"/>
            <a:ext cx="13019447" cy="82029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A6C46A0-AF1A-9356-6879-83F11F5EF4DE}"/>
                  </a:ext>
                </a:extLst>
              </p:cNvPr>
              <p:cNvSpPr txBox="1"/>
              <p:nvPr/>
            </p:nvSpPr>
            <p:spPr>
              <a:xfrm>
                <a:off x="5150358" y="909425"/>
                <a:ext cx="6094476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GB" sz="2800" b="1" i="1" smtClean="0">
                                  <a:solidFill>
                                    <a:srgbClr val="30837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1" i="1" smtClean="0">
                                  <a:solidFill>
                                    <a:srgbClr val="308377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800" b="1" i="1" smtClean="0">
                                  <a:solidFill>
                                    <a:srgbClr val="308377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  <m:r>
                        <a:rPr lang="en-GB" sz="2800" b="1" i="1" smtClean="0">
                          <a:solidFill>
                            <a:srgbClr val="30837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rgbClr val="308377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800" b="1" i="1" smtClean="0">
                          <a:solidFill>
                            <a:srgbClr val="308377"/>
                          </a:solidFill>
                          <a:latin typeface="Cambria Math" panose="02040503050406030204" pitchFamily="18" charset="0"/>
                        </a:rPr>
                        <m:t>  ~  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800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 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BE" sz="2800" b="1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CA6C46A0-AF1A-9356-6879-83F11F5EF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358" y="909425"/>
                <a:ext cx="6094476" cy="901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02579FF3-55E5-77A4-47B3-D3F1E62BC027}"/>
                  </a:ext>
                </a:extLst>
              </p:cNvPr>
              <p:cNvSpPr txBox="1"/>
              <p:nvPr/>
            </p:nvSpPr>
            <p:spPr>
              <a:xfrm>
                <a:off x="5150358" y="1957937"/>
                <a:ext cx="6094476" cy="901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2800" b="1" i="1" smtClean="0">
                              <a:solidFill>
                                <a:srgbClr val="308377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GB" sz="2800" b="1" i="1" smtClean="0">
                                  <a:solidFill>
                                    <a:srgbClr val="30837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1" i="1" smtClean="0">
                                  <a:solidFill>
                                    <a:srgbClr val="308377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800" b="1" i="1" smtClean="0">
                                  <a:solidFill>
                                    <a:srgbClr val="308377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sup>
                      </m:sSup>
                      <m:r>
                        <a:rPr lang="en-GB" sz="2800" b="1" i="1" smtClean="0">
                          <a:solidFill>
                            <a:srgbClr val="30837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b="1" i="1" smtClean="0">
                          <a:solidFill>
                            <a:srgbClr val="308377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GB" sz="2800" b="1" i="1" smtClean="0">
                          <a:solidFill>
                            <a:srgbClr val="308377"/>
                          </a:solidFill>
                          <a:latin typeface="Cambria Math" panose="02040503050406030204" pitchFamily="18" charset="0"/>
                        </a:rPr>
                        <m:t>  ~  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GB" sz="2800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800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sz="2800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800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GB" sz="2800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sz="2800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</m:den>
                      </m:f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   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BE" sz="2800" b="1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02579FF3-55E5-77A4-47B3-D3F1E62BC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358" y="1957937"/>
                <a:ext cx="6094476" cy="9017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23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3647D-167A-A705-9231-88EDD68E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Een </a:t>
            </a:r>
            <a:r>
              <a:rPr lang="en-GB" dirty="0" err="1"/>
              <a:t>functie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nooit </a:t>
            </a:r>
            <a:r>
              <a:rPr lang="en-GB" dirty="0" err="1"/>
              <a:t>asymptotisch</a:t>
            </a:r>
            <a:r>
              <a:rPr lang="en-GB" dirty="0"/>
              <a:t> equivalent </a:t>
            </a:r>
            <a:r>
              <a:rPr lang="en-GB" dirty="0" err="1"/>
              <a:t>zijn</a:t>
            </a:r>
            <a:r>
              <a:rPr lang="en-GB" dirty="0"/>
              <a:t> met 0!</a:t>
            </a:r>
            <a:endParaRPr lang="en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20818BD-EA33-DA02-71D0-F26026C9D5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Indien </a:t>
                </a:r>
                <a:r>
                  <a:rPr lang="en-GB" dirty="0" err="1"/>
                  <a:t>dit</a:t>
                </a:r>
                <a:r>
                  <a:rPr lang="en-GB" dirty="0"/>
                  <a:t> </a:t>
                </a:r>
                <a:r>
                  <a:rPr lang="en-GB" dirty="0" err="1"/>
                  <a:t>wel</a:t>
                </a:r>
                <a:r>
                  <a:rPr lang="en-GB" dirty="0"/>
                  <a:t> het </a:t>
                </a:r>
                <a:r>
                  <a:rPr lang="en-GB" dirty="0" err="1"/>
                  <a:t>geval</a:t>
                </a:r>
                <a:r>
                  <a:rPr lang="en-GB" dirty="0"/>
                  <a:t> </a:t>
                </a:r>
                <a:r>
                  <a:rPr lang="en-GB" dirty="0" err="1"/>
                  <a:t>zou</a:t>
                </a:r>
                <a:r>
                  <a:rPr lang="en-GB" dirty="0"/>
                  <a:t> </a:t>
                </a:r>
                <a:r>
                  <a:rPr lang="en-GB" dirty="0" err="1"/>
                  <a:t>zijn</a:t>
                </a:r>
                <a:r>
                  <a:rPr lang="en-GB" dirty="0"/>
                  <a:t> </a:t>
                </a:r>
                <a:r>
                  <a:rPr lang="en-GB" dirty="0" err="1"/>
                  <a:t>zou</a:t>
                </a:r>
                <a:r>
                  <a:rPr lang="en-GB" dirty="0"/>
                  <a:t> er dan </a:t>
                </a:r>
                <a:r>
                  <a:rPr lang="en-GB" dirty="0" err="1"/>
                  <a:t>gelden</a:t>
                </a:r>
                <a:r>
                  <a:rPr lang="en-GB" dirty="0"/>
                  <a:t> </a:t>
                </a:r>
                <a:r>
                  <a:rPr lang="en-GB" dirty="0" err="1"/>
                  <a:t>dat</a:t>
                </a:r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Deling door </a:t>
                </a:r>
                <a:r>
                  <a:rPr lang="en-GB" dirty="0" err="1"/>
                  <a:t>nul</a:t>
                </a:r>
                <a:r>
                  <a:rPr lang="en-GB" dirty="0"/>
                  <a:t>! </a:t>
                </a:r>
              </a:p>
              <a:p>
                <a:pPr lvl="1"/>
                <a:r>
                  <a:rPr lang="en-GB" dirty="0" err="1"/>
                  <a:t>Niet</a:t>
                </a:r>
                <a:r>
                  <a:rPr lang="en-GB" dirty="0"/>
                  <a:t> </a:t>
                </a:r>
                <a:r>
                  <a:rPr lang="en-GB" dirty="0" err="1"/>
                  <a:t>gedefinieerd</a:t>
                </a:r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Dus </a:t>
                </a:r>
                <a:r>
                  <a:rPr lang="en-GB" dirty="0" err="1"/>
                  <a:t>ook</a:t>
                </a:r>
                <a:r>
                  <a:rPr lang="en-GB" dirty="0"/>
                  <a:t> </a:t>
                </a:r>
                <a:r>
                  <a:rPr lang="en-GB" dirty="0" err="1"/>
                  <a:t>niet</a:t>
                </a:r>
                <a:r>
                  <a:rPr lang="en-GB" dirty="0"/>
                  <a:t> correct</a:t>
                </a:r>
              </a:p>
              <a:p>
                <a:r>
                  <a:rPr lang="en-GB" dirty="0"/>
                  <a:t>Neem </a:t>
                </a:r>
                <a:r>
                  <a:rPr lang="en-GB" dirty="0" err="1"/>
                  <a:t>genoeg</a:t>
                </a:r>
                <a:r>
                  <a:rPr lang="en-GB" dirty="0"/>
                  <a:t> termen </a:t>
                </a:r>
                <a:r>
                  <a:rPr lang="en-GB" dirty="0" err="1"/>
                  <a:t>voor</a:t>
                </a:r>
                <a:r>
                  <a:rPr lang="en-GB" dirty="0"/>
                  <a:t> je </a:t>
                </a:r>
                <a:r>
                  <a:rPr lang="en-GB" dirty="0" err="1"/>
                  <a:t>Taylorreeks</a:t>
                </a:r>
                <a:r>
                  <a:rPr lang="en-GB" dirty="0"/>
                  <a:t>!</a:t>
                </a:r>
              </a:p>
              <a:p>
                <a:r>
                  <a:rPr lang="en-GB" dirty="0" err="1"/>
                  <a:t>Zie</a:t>
                </a:r>
                <a:r>
                  <a:rPr lang="en-GB" dirty="0"/>
                  <a:t> </a:t>
                </a:r>
                <a:r>
                  <a:rPr lang="en-GB" dirty="0" err="1"/>
                  <a:t>Oefenzitting</a:t>
                </a:r>
                <a:r>
                  <a:rPr lang="en-GB" dirty="0"/>
                  <a:t> </a:t>
                </a:r>
                <a:r>
                  <a:rPr lang="en-GB" dirty="0" err="1"/>
                  <a:t>limieten</a:t>
                </a:r>
                <a:endParaRPr lang="en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F20818BD-EA33-DA02-71D0-F26026C9D5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5828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B0D2D-CF2C-8BC8-9024-8364342B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Termen </a:t>
            </a:r>
            <a:r>
              <a:rPr lang="en-GB" dirty="0" err="1"/>
              <a:t>verwaarlozen</a:t>
            </a:r>
            <a:endParaRPr lang="en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FEDDDA1-CCCE-DBAE-FDF8-E5B290C89A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30418"/>
                <a:ext cx="10515600" cy="5207266"/>
              </a:xfrm>
            </p:spPr>
            <p:txBody>
              <a:bodyPr/>
              <a:lstStyle/>
              <a:p>
                <a:r>
                  <a:rPr lang="en-GB" dirty="0"/>
                  <a:t>Termen van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die heel </a:t>
                </a:r>
                <a:r>
                  <a:rPr lang="en-GB" dirty="0" err="1"/>
                  <a:t>klein</a:t>
                </a:r>
                <a:r>
                  <a:rPr lang="en-GB" dirty="0"/>
                  <a:t> </a:t>
                </a:r>
                <a:r>
                  <a:rPr lang="en-GB" dirty="0" err="1"/>
                  <a:t>worden</a:t>
                </a:r>
                <a:r>
                  <a:rPr lang="en-GB" dirty="0"/>
                  <a:t> </a:t>
                </a:r>
                <a:r>
                  <a:rPr lang="en-GB" dirty="0" err="1"/>
                  <a:t>kunnen</a:t>
                </a:r>
                <a:r>
                  <a:rPr lang="en-GB" dirty="0"/>
                  <a:t> </a:t>
                </a:r>
                <a:r>
                  <a:rPr lang="en-GB" dirty="0" err="1"/>
                  <a:t>verwaarloosd</a:t>
                </a:r>
                <a:r>
                  <a:rPr lang="en-GB" dirty="0"/>
                  <a:t> </a:t>
                </a:r>
                <a:r>
                  <a:rPr lang="en-GB" dirty="0" err="1"/>
                  <a:t>worden</a:t>
                </a:r>
                <a:endParaRPr lang="en-GB" dirty="0"/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𝐥𝐧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=1,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FEDDDA1-CCCE-DBAE-FDF8-E5B290C89A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30418"/>
                <a:ext cx="10515600" cy="5207266"/>
              </a:xfrm>
              <a:blipFill>
                <a:blip r:embed="rId2"/>
                <a:stretch>
                  <a:fillRect l="-1043" t="-199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40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CF205-B640-92ED-C67A-A00E4643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504"/>
            <a:ext cx="10515600" cy="939917"/>
          </a:xfrm>
        </p:spPr>
        <p:txBody>
          <a:bodyPr/>
          <a:lstStyle/>
          <a:p>
            <a:r>
              <a:rPr lang="en-GB" dirty="0" err="1"/>
              <a:t>Oneigenlijke</a:t>
            </a:r>
            <a:r>
              <a:rPr lang="en-GB" dirty="0"/>
              <a:t> </a:t>
            </a:r>
            <a:r>
              <a:rPr lang="en-GB" dirty="0" err="1"/>
              <a:t>integralen</a:t>
            </a:r>
            <a:endParaRPr lang="en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F9095E-07A2-552E-9E0E-1C27EC4AF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18" y="930293"/>
            <a:ext cx="10515600" cy="4351338"/>
          </a:xfrm>
        </p:spPr>
        <p:txBody>
          <a:bodyPr/>
          <a:lstStyle/>
          <a:p>
            <a:r>
              <a:rPr lang="en-GB" dirty="0"/>
              <a:t>Twee </a:t>
            </a:r>
            <a:r>
              <a:rPr lang="en-GB" dirty="0" err="1"/>
              <a:t>soorten</a:t>
            </a:r>
            <a:endParaRPr lang="en-GB" dirty="0"/>
          </a:p>
          <a:p>
            <a:r>
              <a:rPr lang="en-GB" dirty="0" err="1"/>
              <a:t>Onbegrensd</a:t>
            </a:r>
            <a:r>
              <a:rPr lang="en-GB" dirty="0"/>
              <a:t> </a:t>
            </a:r>
            <a:r>
              <a:rPr lang="en-GB" dirty="0" err="1"/>
              <a:t>integratiedomein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 err="1"/>
              <a:t>Onbegrensde</a:t>
            </a:r>
            <a:r>
              <a:rPr lang="en-GB" dirty="0"/>
              <a:t> integrand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Afbeelding 4" descr="Afbeelding met tekst, Lettertype, lijn, handschrift&#10;&#10;Door AI gegenereerde inhoud is mogelijk onjuist.">
            <a:extLst>
              <a:ext uri="{FF2B5EF4-FFF2-40B4-BE49-F238E27FC236}">
                <a16:creationId xmlns:a16="http://schemas.microsoft.com/office/drawing/2014/main" id="{B1DD7A45-E267-2E44-4BAF-062687A7C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70" y="1870210"/>
            <a:ext cx="8118260" cy="1202705"/>
          </a:xfrm>
          <a:prstGeom prst="rect">
            <a:avLst/>
          </a:prstGeom>
        </p:spPr>
      </p:pic>
      <p:pic>
        <p:nvPicPr>
          <p:cNvPr id="7" name="Afbeelding 6" descr="Afbeelding met tekst, Lettertype, diagram, lijn&#10;&#10;Door AI gegenereerde inhoud is mogelijk onjuist.">
            <a:extLst>
              <a:ext uri="{FF2B5EF4-FFF2-40B4-BE49-F238E27FC236}">
                <a16:creationId xmlns:a16="http://schemas.microsoft.com/office/drawing/2014/main" id="{6431EAEA-9DE8-62EE-B645-DA8201DA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30"/>
          <a:stretch>
            <a:fillRect/>
          </a:stretch>
        </p:blipFill>
        <p:spPr>
          <a:xfrm>
            <a:off x="1936286" y="3479763"/>
            <a:ext cx="7670584" cy="326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45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A99F-7439-14E7-234D-908039B0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E5E555-0F04-58A5-E8D3-18E4FE50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" y="-94808"/>
            <a:ext cx="10515600" cy="939917"/>
          </a:xfrm>
        </p:spPr>
        <p:txBody>
          <a:bodyPr/>
          <a:lstStyle/>
          <a:p>
            <a:r>
              <a:rPr lang="nl-BE" noProof="0" dirty="0"/>
              <a:t>Oneigenlijke integralen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B85CF2B-BD72-0B4D-E34F-E4EEC00CDC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259" y="722376"/>
                <a:ext cx="11665819" cy="6020119"/>
              </a:xfrm>
            </p:spPr>
            <p:txBody>
              <a:bodyPr>
                <a:normAutofit/>
              </a:bodyPr>
              <a:lstStyle/>
              <a:p>
                <a:r>
                  <a:rPr lang="nl-BE" noProof="0" dirty="0"/>
                  <a:t>Een combinatie van beiden kan ook bestaan</a:t>
                </a:r>
              </a:p>
              <a:p>
                <a:r>
                  <a:rPr lang="nl-BE" noProof="0" dirty="0"/>
                  <a:t>Integraal kan convergeren of divergeren</a:t>
                </a:r>
              </a:p>
              <a:p>
                <a:endParaRPr lang="nl-BE" noProof="0" dirty="0"/>
              </a:p>
              <a:p>
                <a:pPr marL="0" indent="0">
                  <a:buNone/>
                </a:pPr>
                <a:r>
                  <a:rPr lang="nl-BE" b="1" noProof="0" dirty="0"/>
                  <a:t>1.</a:t>
                </a:r>
                <a:r>
                  <a:rPr lang="nl-BE" noProof="0" dirty="0"/>
                  <a:t> bepaal </a:t>
                </a:r>
                <a:r>
                  <a:rPr lang="nl-BE" b="1" noProof="0" dirty="0"/>
                  <a:t>moeilijke punten (inclusief </a:t>
                </a:r>
                <a14:m>
                  <m:oMath xmlns:m="http://schemas.openxmlformats.org/officeDocument/2006/math">
                    <m:r>
                      <a:rPr lang="en-GB" b="1" i="1" noProof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nl-BE" b="1" noProof="0" dirty="0"/>
                  <a:t>) </a:t>
                </a:r>
                <a:r>
                  <a:rPr lang="nl-BE" noProof="0" dirty="0"/>
                  <a:t>van de oneigenlijke integraal</a:t>
                </a:r>
              </a:p>
              <a:p>
                <a:pPr marL="0" indent="0">
                  <a:buNone/>
                </a:pPr>
                <a:r>
                  <a:rPr lang="nl-BE" b="1" dirty="0"/>
                  <a:t>2.</a:t>
                </a:r>
                <a:r>
                  <a:rPr lang="nl-BE" dirty="0"/>
                  <a:t> </a:t>
                </a:r>
                <a:r>
                  <a:rPr lang="nl-BE" b="1" dirty="0"/>
                  <a:t>splits op in deelintegralen</a:t>
                </a:r>
                <a:r>
                  <a:rPr lang="nl-BE" dirty="0"/>
                  <a:t>, in elke integraal slechts één moeilijk punt</a:t>
                </a:r>
              </a:p>
              <a:p>
                <a:endParaRPr lang="nl-BE" dirty="0"/>
              </a:p>
              <a:p>
                <a:r>
                  <a:rPr lang="nl-BE" dirty="0"/>
                  <a:t>Gegeven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nl-BE" noProof="0" dirty="0"/>
                  <a:t> voor </a:t>
                </a:r>
                <a14:m>
                  <m:oMath xmlns:m="http://schemas.openxmlformats.org/officeDocument/2006/math"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GB" b="0" i="1" noProof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lang="nl-BE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noProof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noProof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b="0" i="1" noProof="0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nl-BE" noProof="0" dirty="0"/>
                  <a:t> convergeert </a:t>
                </a:r>
                <a14:m>
                  <m:oMath xmlns:m="http://schemas.openxmlformats.org/officeDocument/2006/math">
                    <m:r>
                      <a:rPr lang="en-GB" b="0" i="1" noProof="0" smtClean="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nl-BE" noProof="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nl-BE" noProof="0" dirty="0"/>
                  <a:t> convergeert</a:t>
                </a:r>
                <a:r>
                  <a:rPr lang="nl-BE" dirty="0"/>
                  <a:t> </a:t>
                </a:r>
              </a:p>
              <a:p>
                <a:endParaRPr lang="nl-BE" dirty="0"/>
              </a:p>
              <a:p>
                <a:r>
                  <a:rPr lang="nl-BE" dirty="0"/>
                  <a:t>Kijk naar referentie-integralen, is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nl-BE" dirty="0"/>
                  <a:t> een referentie-integraal?</a:t>
                </a:r>
                <a:endParaRPr lang="nl-BE" noProof="0" dirty="0"/>
              </a:p>
              <a:p>
                <a:endParaRPr lang="nl-BE" noProof="0" dirty="0"/>
              </a:p>
              <a:p>
                <a:endParaRPr lang="nl-BE" noProof="0" dirty="0"/>
              </a:p>
              <a:p>
                <a:endParaRPr lang="nl-BE" noProof="0" dirty="0"/>
              </a:p>
              <a:p>
                <a:endParaRPr lang="nl-BE" noProof="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B85CF2B-BD72-0B4D-E34F-E4EEC00CDC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259" y="722376"/>
                <a:ext cx="11665819" cy="6020119"/>
              </a:xfrm>
              <a:blipFill>
                <a:blip r:embed="rId2"/>
                <a:stretch>
                  <a:fillRect l="-1098" t="-1824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5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Tijdelijke aanduiding voor inhoud 4" descr="Afbeelding met tekst, Lettertype, handschrift, lijn&#10;&#10;Door AI gegenereerde inhoud is mogelijk onjuist.">
            <a:extLst>
              <a:ext uri="{FF2B5EF4-FFF2-40B4-BE49-F238E27FC236}">
                <a16:creationId xmlns:a16="http://schemas.microsoft.com/office/drawing/2014/main" id="{33D01C11-D18A-3AEE-FEF5-DB200B645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743" y="914400"/>
            <a:ext cx="9244314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65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276965-6A03-99BB-9449-DAB42061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Indien dit niet helpt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D6DAF54-3196-E310-6A62-11677E9E6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5336"/>
                <a:ext cx="10515600" cy="5129784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Vergelijkingstest gebruiken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convergent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pPr marL="0" indent="0">
                  <a:buNone/>
                </a:pPr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nl-B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r>
                  <a:rPr lang="en-GB" dirty="0"/>
                  <a:t>We </a:t>
                </a:r>
                <a:r>
                  <a:rPr lang="en-GB" dirty="0" err="1"/>
                  <a:t>weten</a:t>
                </a:r>
                <a:r>
                  <a:rPr lang="en-GB" dirty="0"/>
                  <a:t> </a:t>
                </a:r>
                <a:r>
                  <a:rPr lang="en-GB" dirty="0" err="1"/>
                  <a:t>dat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dx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convergent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D6DAF54-3196-E310-6A62-11677E9E6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5336"/>
                <a:ext cx="10515600" cy="5129784"/>
              </a:xfrm>
              <a:blipFill>
                <a:blip r:embed="rId2"/>
                <a:stretch>
                  <a:fillRect l="-1217" t="-214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94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88AE1-491A-66B9-187C-81264696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1D095-F9A3-C078-62E8-E4F1D0E6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168"/>
            <a:ext cx="10515600" cy="1032320"/>
          </a:xfrm>
        </p:spPr>
        <p:txBody>
          <a:bodyPr/>
          <a:lstStyle/>
          <a:p>
            <a:r>
              <a:rPr lang="nl-BE" dirty="0"/>
              <a:t>Vergelijkingstest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D13B825-8DED-B51F-E6BC-A8CEE462A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1097"/>
                <a:ext cx="10515600" cy="5542215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Vergelijkingstest gebruiken</a:t>
                </a:r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convergent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nl-BE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Dus </a:t>
                </a:r>
                <a:r>
                  <a:rPr lang="en-GB" dirty="0" err="1"/>
                  <a:t>kunnen</a:t>
                </a:r>
                <a:r>
                  <a:rPr lang="en-GB" dirty="0"/>
                  <a:t> we </a:t>
                </a:r>
                <a:r>
                  <a:rPr lang="en-GB" dirty="0" err="1"/>
                  <a:t>concluderen</a:t>
                </a:r>
                <a:r>
                  <a:rPr lang="en-GB" dirty="0"/>
                  <a:t>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integraal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is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convergent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D13B825-8DED-B51F-E6BC-A8CEE462A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1097"/>
                <a:ext cx="10515600" cy="5542215"/>
              </a:xfrm>
              <a:blipFill>
                <a:blip r:embed="rId2"/>
                <a:stretch>
                  <a:fillRect l="-1217" t="-1870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444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Tijdelijke aanduiding voor inhoud 4" descr="Afbeelding met lijn, Perceel, tekst, Parallel&#10;&#10;Door AI gegenereerde inhoud is mogelijk onjuist.">
            <a:extLst>
              <a:ext uri="{FF2B5EF4-FFF2-40B4-BE49-F238E27FC236}">
                <a16:creationId xmlns:a16="http://schemas.microsoft.com/office/drawing/2014/main" id="{C992E804-F344-939B-E49B-4D1B88CA6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80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A164291-6152-E6E5-37DE-9A80E3FB758B}"/>
                  </a:ext>
                </a:extLst>
              </p:cNvPr>
              <p:cNvSpPr txBox="1"/>
              <p:nvPr/>
            </p:nvSpPr>
            <p:spPr>
              <a:xfrm>
                <a:off x="1970532" y="164592"/>
                <a:ext cx="2270109" cy="629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GB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1" i="1" smtClean="0">
                                      <a:solidFill>
                                        <a:srgbClr val="4585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solidFill>
                                        <a:srgbClr val="4585CD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solidFill>
                                        <a:srgbClr val="4585CD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GB" b="1" i="1" smtClean="0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𝒄𝒐𝒏𝒗𝒆𝒓𝒈𝒆𝒏𝒕</m:t>
                      </m:r>
                    </m:oMath>
                  </m:oMathPara>
                </a14:m>
                <a:endParaRPr lang="nl-BE" b="1" dirty="0">
                  <a:solidFill>
                    <a:srgbClr val="4585CD"/>
                  </a:solidFill>
                </a:endParaRPr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A164291-6152-E6E5-37DE-9A80E3FB7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532" y="164592"/>
                <a:ext cx="2270109" cy="629468"/>
              </a:xfrm>
              <a:prstGeom prst="rect">
                <a:avLst/>
              </a:prstGeom>
              <a:blipFill>
                <a:blip r:embed="rId3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43974658-2429-13CF-54C0-0B0C529C63CC}"/>
                  </a:ext>
                </a:extLst>
              </p:cNvPr>
              <p:cNvSpPr txBox="1"/>
              <p:nvPr/>
            </p:nvSpPr>
            <p:spPr>
              <a:xfrm>
                <a:off x="1894332" y="1011936"/>
                <a:ext cx="2105000" cy="6294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1" i="1" smtClean="0">
                                      <a:solidFill>
                                        <a:srgbClr val="DB565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solidFill>
                                        <a:srgbClr val="DB5656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solidFill>
                                        <a:srgbClr val="DB5656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𝒅𝒊𝒗𝒆𝒓𝒈𝒆𝒏𝒕</m:t>
                      </m:r>
                    </m:oMath>
                  </m:oMathPara>
                </a14:m>
                <a:endParaRPr lang="nl-BE" b="1" dirty="0">
                  <a:solidFill>
                    <a:srgbClr val="DB5656"/>
                  </a:solidFill>
                </a:endParaRPr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43974658-2429-13CF-54C0-0B0C529C6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332" y="1011936"/>
                <a:ext cx="2105000" cy="629468"/>
              </a:xfrm>
              <a:prstGeom prst="rect">
                <a:avLst/>
              </a:prstGeom>
              <a:blipFill>
                <a:blip r:embed="rId4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39D463A5-5603-94B1-953D-DFE428C2A085}"/>
                  </a:ext>
                </a:extLst>
              </p:cNvPr>
              <p:cNvSpPr txBox="1"/>
              <p:nvPr/>
            </p:nvSpPr>
            <p:spPr>
              <a:xfrm>
                <a:off x="8295132" y="5163312"/>
                <a:ext cx="2324611" cy="597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1" i="1" smtClean="0">
                                      <a:solidFill>
                                        <a:srgbClr val="DB565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solidFill>
                                        <a:srgbClr val="DB5656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solidFill>
                                        <a:srgbClr val="DB5656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𝒄𝒐𝒏𝒗𝒆𝒓𝒈𝒆𝒏𝒕</m:t>
                      </m:r>
                    </m:oMath>
                  </m:oMathPara>
                </a14:m>
                <a:endParaRPr lang="nl-BE" b="1" dirty="0">
                  <a:solidFill>
                    <a:srgbClr val="DB5656"/>
                  </a:solidFill>
                </a:endParaRPr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39D463A5-5603-94B1-953D-DFE428C2A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32" y="5163312"/>
                <a:ext cx="2324611" cy="5975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C4C61A88-6515-1D5F-89DE-B581E1C086EB}"/>
                  </a:ext>
                </a:extLst>
              </p:cNvPr>
              <p:cNvSpPr txBox="1"/>
              <p:nvPr/>
            </p:nvSpPr>
            <p:spPr>
              <a:xfrm>
                <a:off x="8295132" y="4456176"/>
                <a:ext cx="2159502" cy="5975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smtClean="0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GB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GB" b="1" i="1" smtClean="0">
                                      <a:solidFill>
                                        <a:srgbClr val="4585CD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solidFill>
                                        <a:srgbClr val="4585CD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GB" b="1" i="1" smtClean="0">
                                      <a:solidFill>
                                        <a:srgbClr val="4585CD"/>
                                      </a:solidFill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GB" b="1" i="1" smtClean="0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𝒅𝒊𝒗𝒆𝒓𝒈𝒆𝒏𝒕</m:t>
                      </m:r>
                    </m:oMath>
                  </m:oMathPara>
                </a14:m>
                <a:endParaRPr lang="nl-BE" b="1" dirty="0">
                  <a:solidFill>
                    <a:srgbClr val="4585CD"/>
                  </a:solidFill>
                </a:endParaRPr>
              </a:p>
            </p:txBody>
          </p:sp>
        </mc:Choice>
        <mc:Fallback xmlns="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C4C61A88-6515-1D5F-89DE-B581E1C08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32" y="4456176"/>
                <a:ext cx="2159502" cy="5975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DB699A2F-1C66-27F7-5FB0-003DEADECA4B}"/>
                  </a:ext>
                </a:extLst>
              </p:cNvPr>
              <p:cNvSpPr txBox="1"/>
              <p:nvPr/>
            </p:nvSpPr>
            <p:spPr>
              <a:xfrm>
                <a:off x="5180729" y="154831"/>
                <a:ext cx="5541264" cy="39113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</m:oMath>
                  </m:oMathPara>
                </a14:m>
                <a:endParaRPr lang="en-GB" b="1" i="1" dirty="0"/>
              </a:p>
              <a:p>
                <a:endParaRPr lang="en-GB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solidFill>
                                <a:srgbClr val="DB565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 smtClean="0">
                                  <a:solidFill>
                                    <a:srgbClr val="DB5656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p>
                          </m:sSup>
                        </m:den>
                      </m:f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𝒎𝒆𝒕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GB" b="1" i="1" smtClean="0">
                          <a:solidFill>
                            <a:srgbClr val="DB565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nl-BE" b="1" i="1" dirty="0">
                  <a:solidFill>
                    <a:srgbClr val="DB5656"/>
                  </a:solidFill>
                </a:endParaRPr>
              </a:p>
              <a:p>
                <a:endParaRPr lang="nl-BE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solidFill>
                                <a:srgbClr val="4585CD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GB" b="1" i="1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n-GB" b="1" i="1">
                                  <a:solidFill>
                                    <a:srgbClr val="4585CD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p>
                          </m:sSup>
                        </m:den>
                      </m:f>
                      <m:r>
                        <a:rPr lang="en-GB" b="1" i="1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𝒎𝒆𝒕</m:t>
                      </m:r>
                      <m:r>
                        <a:rPr lang="en-GB" b="1" i="1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GB" b="1" i="1" smtClean="0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>
                          <a:solidFill>
                            <a:srgbClr val="4585CD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nl-BE" b="1" i="1" dirty="0">
                  <a:solidFill>
                    <a:srgbClr val="4585CD"/>
                  </a:solidFill>
                </a:endParaRPr>
              </a:p>
              <a:p>
                <a:endParaRPr lang="nl-BE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𝒊𝒔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𝒆𝒆𝒏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𝒈𝒓𝒆𝒏𝒔𝒈𝒆𝒗𝒂𝒍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𝒗𝒐𝒐𝒓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𝒅𝒊𝒗𝒆𝒓𝒈𝒆𝒏𝒕𝒊𝒆</m:t>
                      </m:r>
                    </m:oMath>
                  </m:oMathPara>
                </a14:m>
                <a:endParaRPr lang="en-GB" b="1" i="1" dirty="0"/>
              </a:p>
              <a:p>
                <a:endParaRPr lang="nl-BE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GB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f>
                            <m:fPr>
                              <m:ctrlP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r>
                                <a:rPr lang="en-GB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nary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𝒅𝒊𝒗𝒆𝒓𝒈𝒆𝒏𝒕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𝒆𝒏</m:t>
                      </m:r>
                      <m:r>
                        <a:rPr lang="en-GB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trlPr>
                            <a:rPr lang="nl-BE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𝒅𝒙</m:t>
                              </m:r>
                            </m:num>
                            <m:den>
                              <m:r>
                                <a:rPr lang="en-GB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nary>
                      <m:r>
                        <a:rPr lang="en-GB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𝒅𝒊𝒗𝒆𝒓𝒈𝒆𝒏𝒕</m:t>
                      </m:r>
                      <m:r>
                        <a:rPr lang="en-GB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BE" b="1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DB699A2F-1C66-27F7-5FB0-003DEADEC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729" y="154831"/>
                <a:ext cx="5541264" cy="39113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908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A3020FE-EF50-B84B-DBF7-48AEDD0B11B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32322" y="0"/>
                <a:ext cx="10515600" cy="100729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l-BE" dirty="0"/>
                  <a:t>-test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7A3020FE-EF50-B84B-DBF7-48AEDD0B11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32322" y="0"/>
                <a:ext cx="10515600" cy="1007294"/>
              </a:xfrm>
              <a:blipFill>
                <a:blip r:embed="rId2"/>
                <a:stretch>
                  <a:fillRect t="-3030" b="-14545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Tijdelijke aanduiding voor inhoud 4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8A45AD17-401F-C971-FC59-C55F6D7AF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2322" y="1045795"/>
            <a:ext cx="10515600" cy="37373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19CD5816-B7D0-740A-26D1-8FA8BA00EFF1}"/>
                  </a:ext>
                </a:extLst>
              </p:cNvPr>
              <p:cNvSpPr txBox="1"/>
              <p:nvPr/>
            </p:nvSpPr>
            <p:spPr>
              <a:xfrm>
                <a:off x="1386038" y="5125691"/>
                <a:ext cx="2737544" cy="15220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f>
                                <m:fPr>
                                  <m:ctrlP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func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19CD5816-B7D0-740A-26D1-8FA8BA00E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038" y="5125691"/>
                <a:ext cx="2737544" cy="15220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Tijdelijke aanduiding voor inhoud 4" descr="Afbeelding met tekst, Lettertype, handschrift, lijn&#10;&#10;Door AI gegenereerde inhoud is mogelijk onjuist.">
            <a:extLst>
              <a:ext uri="{FF2B5EF4-FFF2-40B4-BE49-F238E27FC236}">
                <a16:creationId xmlns:a16="http://schemas.microsoft.com/office/drawing/2014/main" id="{7E0480D2-62DB-9286-9E8C-198AAB874F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74" t="28476" r="23280" b="46922"/>
          <a:stretch>
            <a:fillRect/>
          </a:stretch>
        </p:blipFill>
        <p:spPr>
          <a:xfrm>
            <a:off x="5990122" y="5125691"/>
            <a:ext cx="5245768" cy="122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6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6EE7-AA4C-522A-18B5-DD5F8C31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0465C6A-D1CD-FBD6-D507-64165BC54E1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32322" y="0"/>
                <a:ext cx="10515600" cy="100729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l-BE" dirty="0"/>
                  <a:t>-test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C0465C6A-D1CD-FBD6-D507-64165BC54E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32322" y="0"/>
                <a:ext cx="10515600" cy="1007294"/>
              </a:xfrm>
              <a:blipFill>
                <a:blip r:embed="rId2"/>
                <a:stretch>
                  <a:fillRect t="-3030" b="-14545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5EB17FC3-4B42-F057-7EAF-E1F3ED9A769E}"/>
                  </a:ext>
                </a:extLst>
              </p:cNvPr>
              <p:cNvSpPr txBox="1"/>
              <p:nvPr/>
            </p:nvSpPr>
            <p:spPr>
              <a:xfrm>
                <a:off x="1089099" y="5133519"/>
                <a:ext cx="3681008" cy="1626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36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p>
                                <m:sSupPr>
                                  <m:ctrlP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f>
                                <m:fPr>
                                  <m:ctrlP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GB" sz="3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  <m:r>
                                            <a:rPr lang="en-GB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GB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GB" sz="36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func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5EB17FC3-4B42-F057-7EAF-E1F3ED9A7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099" y="5133519"/>
                <a:ext cx="3681008" cy="1626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 descr="Afbeelding met tekst, Lettertype, schermopname, algebra&#10;&#10;Door AI gegenereerde inhoud is mogelijk onjuist.">
            <a:extLst>
              <a:ext uri="{FF2B5EF4-FFF2-40B4-BE49-F238E27FC236}">
                <a16:creationId xmlns:a16="http://schemas.microsoft.com/office/drawing/2014/main" id="{53DF29D6-C09C-25C3-9AEB-48455B2A3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22" y="910989"/>
            <a:ext cx="10156192" cy="4068486"/>
          </a:xfrm>
          <a:prstGeom prst="rect">
            <a:avLst/>
          </a:prstGeom>
        </p:spPr>
      </p:pic>
      <p:pic>
        <p:nvPicPr>
          <p:cNvPr id="11" name="Afbeelding 10" descr="Afbeelding met tekst, Lettertype, lijn, wit&#10;&#10;Door AI gegenereerde inhoud is mogelijk onjuist.">
            <a:extLst>
              <a:ext uri="{FF2B5EF4-FFF2-40B4-BE49-F238E27FC236}">
                <a16:creationId xmlns:a16="http://schemas.microsoft.com/office/drawing/2014/main" id="{553D281E-C93E-E4B2-8BF2-E4E08EABDB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4831"/>
          <a:stretch>
            <a:fillRect/>
          </a:stretch>
        </p:blipFill>
        <p:spPr>
          <a:xfrm>
            <a:off x="6737684" y="5469892"/>
            <a:ext cx="3869356" cy="963259"/>
          </a:xfrm>
          <a:prstGeom prst="rect">
            <a:avLst/>
          </a:prstGeom>
        </p:spPr>
      </p:pic>
      <p:pic>
        <p:nvPicPr>
          <p:cNvPr id="12" name="Afbeelding 11" descr="Afbeelding met tekst, Lettertype, lijn, wit&#10;&#10;Door AI gegenereerde inhoud is mogelijk onjuist.">
            <a:extLst>
              <a:ext uri="{FF2B5EF4-FFF2-40B4-BE49-F238E27FC236}">
                <a16:creationId xmlns:a16="http://schemas.microsoft.com/office/drawing/2014/main" id="{4BBCEE11-1B21-35BB-2716-C91ECBBD71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662"/>
          <a:stretch>
            <a:fillRect/>
          </a:stretch>
        </p:blipFill>
        <p:spPr>
          <a:xfrm>
            <a:off x="8604984" y="5469892"/>
            <a:ext cx="2969393" cy="96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19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E411-6384-E839-F72A-BC33779D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C9AEC-617F-76E7-D911-2C957B02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C9DDEC02-F61E-DEF5-8D78-A779EBA13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9495"/>
          </a:xfrm>
        </p:spPr>
        <p:txBody>
          <a:bodyPr/>
          <a:lstStyle/>
          <a:p>
            <a:r>
              <a:rPr lang="nl-BE" dirty="0"/>
              <a:t>Haal de OZ 9 tutorial erbij! </a:t>
            </a:r>
          </a:p>
          <a:p>
            <a:r>
              <a:rPr lang="nl-BE" dirty="0"/>
              <a:t>9.10 D, G</a:t>
            </a:r>
          </a:p>
          <a:p>
            <a:r>
              <a:rPr lang="nl-BE" dirty="0"/>
              <a:t>9.11 C</a:t>
            </a:r>
          </a:p>
          <a:p>
            <a:r>
              <a:rPr lang="nl-BE" dirty="0"/>
              <a:t>9.13 F </a:t>
            </a:r>
          </a:p>
          <a:p>
            <a:r>
              <a:rPr lang="nl-BE" dirty="0"/>
              <a:t>9.14 S</a:t>
            </a:r>
          </a:p>
          <a:p>
            <a:r>
              <a:rPr lang="nl-BE" dirty="0"/>
              <a:t>9.15 K</a:t>
            </a:r>
          </a:p>
          <a:p>
            <a:r>
              <a:rPr lang="nl-BE" dirty="0"/>
              <a:t>9.16 G L</a:t>
            </a:r>
          </a:p>
          <a:p>
            <a:r>
              <a:rPr lang="nl-BE" dirty="0"/>
              <a:t>9.22 E</a:t>
            </a:r>
          </a:p>
          <a:p>
            <a:r>
              <a:rPr lang="nl-BE" dirty="0"/>
              <a:t>9.23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79393777-1B9E-1D8D-F5D0-F507D14D74F0}"/>
                  </a:ext>
                </a:extLst>
              </p:cNvPr>
              <p:cNvSpPr txBox="1"/>
              <p:nvPr/>
            </p:nvSpPr>
            <p:spPr>
              <a:xfrm>
                <a:off x="7296912" y="365125"/>
                <a:ext cx="4538953" cy="440120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nl-BE" sz="2000" b="1" dirty="0"/>
                  <a:t>Zie OZ 9 Tutorial </a:t>
                </a:r>
              </a:p>
              <a:p>
                <a:endParaRPr lang="nl-BE" sz="2000" dirty="0"/>
              </a:p>
              <a:p>
                <a:r>
                  <a:rPr lang="nl-BE" sz="2000" dirty="0"/>
                  <a:t>Is integraal convergent of divergent? </a:t>
                </a:r>
              </a:p>
              <a:p>
                <a:endParaRPr lang="nl-BE" sz="2000" dirty="0"/>
              </a:p>
              <a:p>
                <a:pPr marL="342900" indent="-342900">
                  <a:buAutoNum type="arabicPeriod"/>
                </a:pPr>
                <a:r>
                  <a:rPr lang="nl-BE" sz="2000" dirty="0"/>
                  <a:t>Moeilijke punten</a:t>
                </a:r>
              </a:p>
              <a:p>
                <a:pPr marL="342900" indent="-342900">
                  <a:buAutoNum type="arabicPeriod"/>
                </a:pPr>
                <a:r>
                  <a:rPr lang="nl-BE" sz="2000" dirty="0"/>
                  <a:t>Deelintegralen</a:t>
                </a:r>
              </a:p>
              <a:p>
                <a:pPr marL="800100" lvl="1" indent="-342900">
                  <a:buAutoNum type="arabicPeriod"/>
                </a:pPr>
                <a:r>
                  <a:rPr lang="nl-BE" sz="2000" dirty="0"/>
                  <a:t>Asymptotische equivalentie</a:t>
                </a:r>
              </a:p>
              <a:p>
                <a:pPr marL="800100" lvl="1" indent="-342900">
                  <a:buAutoNum type="arabicPeriod"/>
                </a:pPr>
                <a:r>
                  <a:rPr lang="nl-BE" sz="2000" dirty="0"/>
                  <a:t>Referentie-integralen</a:t>
                </a:r>
              </a:p>
              <a:p>
                <a:pPr marL="800100" lvl="1" indent="-342900">
                  <a:buAutoNum type="arabicPeriod"/>
                </a:pPr>
                <a:r>
                  <a:rPr lang="nl-BE" sz="2000" dirty="0"/>
                  <a:t>Vergelijkingstest</a:t>
                </a:r>
              </a:p>
              <a:p>
                <a:pPr marL="800100" lvl="1" indent="-342900">
                  <a:buAutoNum type="arabicPeriod"/>
                </a:pP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l-BE" sz="2000" dirty="0"/>
                  <a:t> – test</a:t>
                </a:r>
              </a:p>
              <a:p>
                <a:pPr marL="342900" indent="-342900">
                  <a:buAutoNum type="arabicPeriod"/>
                </a:pPr>
                <a:r>
                  <a:rPr lang="nl-BE" sz="2000" dirty="0"/>
                  <a:t>Alle deelintegralen convergent?</a:t>
                </a:r>
              </a:p>
              <a:p>
                <a:endParaRPr lang="nl-BE" sz="2000" dirty="0"/>
              </a:p>
              <a:p>
                <a:r>
                  <a:rPr lang="nl-BE" sz="2000" dirty="0"/>
                  <a:t>Dan is de volledige integraal ook convergent!</a:t>
                </a:r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79393777-1B9E-1D8D-F5D0-F507D14D7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6912" y="365125"/>
                <a:ext cx="4538953" cy="4401205"/>
              </a:xfrm>
              <a:prstGeom prst="rect">
                <a:avLst/>
              </a:prstGeom>
              <a:blipFill>
                <a:blip r:embed="rId2"/>
                <a:stretch>
                  <a:fillRect l="-1339" t="-691" b="-138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93019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584</Words>
  <Application>Microsoft Office PowerPoint</Application>
  <PresentationFormat>Breedbeeld</PresentationFormat>
  <Paragraphs>138</Paragraphs>
  <Slides>17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Kantoorthema</vt:lpstr>
      <vt:lpstr>Analyse I, Oefenzitting 9</vt:lpstr>
      <vt:lpstr>Asymptotisch equivalente functies</vt:lpstr>
      <vt:lpstr>Grafisch idee van f(x)  ~ g(x) voor x→c</vt:lpstr>
      <vt:lpstr>Taylorreeks</vt:lpstr>
      <vt:lpstr>In moeilijke gevallen: substitutie!</vt:lpstr>
      <vt:lpstr>PowerPoint-presentatie</vt:lpstr>
      <vt:lpstr>Een functie kan nooit asymptotisch equivalent zijn met 0!</vt:lpstr>
      <vt:lpstr>Termen verwaarlozen</vt:lpstr>
      <vt:lpstr>Oneigenlijke integralen</vt:lpstr>
      <vt:lpstr>Oneigenlijke integralen</vt:lpstr>
      <vt:lpstr>PowerPoint-presentatie</vt:lpstr>
      <vt:lpstr>Indien dit niet helpt</vt:lpstr>
      <vt:lpstr>Vergelijkingstest</vt:lpstr>
      <vt:lpstr>PowerPoint-presentatie</vt:lpstr>
      <vt:lpstr>p-test</vt:lpstr>
      <vt:lpstr>p-test</vt:lpstr>
      <vt:lpstr>Oefeningen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Visterin</cp:lastModifiedBy>
  <cp:revision>383</cp:revision>
  <dcterms:created xsi:type="dcterms:W3CDTF">2025-11-15T11:02:06Z</dcterms:created>
  <dcterms:modified xsi:type="dcterms:W3CDTF">2025-12-20T11:28:53Z</dcterms:modified>
</cp:coreProperties>
</file>