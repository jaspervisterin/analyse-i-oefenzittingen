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65" r:id="rId6"/>
    <p:sldId id="268" r:id="rId7"/>
    <p:sldId id="260" r:id="rId8"/>
    <p:sldId id="258" r:id="rId9"/>
    <p:sldId id="259" r:id="rId10"/>
    <p:sldId id="266" r:id="rId11"/>
    <p:sldId id="261" r:id="rId12"/>
    <p:sldId id="270" r:id="rId13"/>
    <p:sldId id="267" r:id="rId14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4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DAB33B-CE76-3FB7-5300-47EB973BE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A6C7CE9-310D-6DB6-E397-A8452E20AC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GB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32A6DF1-A48C-B0B2-494F-537540B1A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78489-0109-4234-B997-5BF3D8763553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DEB32BF-2CEF-8EAE-8F59-857E10B35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F51C7CE-1601-9DAB-BD2E-9E90C655E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DB0B4-B73C-44EB-91F1-D36441C002F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3678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5CC48A-F6C4-5034-86DB-E8D152423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8582839-4FE0-9255-EE39-D9A10F77C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1BDCE93-7835-B480-2133-917516BDE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78489-0109-4234-B997-5BF3D8763553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C14618B-E896-E7F7-350C-AC99BC925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068F169-B612-FC8F-793B-6CCEFF46E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DB0B4-B73C-44EB-91F1-D36441C002F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4510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093A6D-42F5-3DC8-1638-12351B3D3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1E1B21B-50E6-6F18-FC15-A5C634D07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200CC0A-F4CA-78D7-4F47-937FCDA75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78489-0109-4234-B997-5BF3D8763553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24A6D39-8CA5-94C9-31F1-AB544FCAF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AAAE353-5CFE-C95F-4B35-1E5DC38E0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DB0B4-B73C-44EB-91F1-D36441C002F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687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6D219F-83F7-4A81-165E-A289FBA15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0F94D46-F77E-8FF4-8C01-E8BB708193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CA904F71-496D-0D76-34E3-4E204C096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041B3B69-BE54-CC33-4498-EABF8D558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78489-0109-4234-B997-5BF3D8763553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B23902B-24A2-FD80-D1FD-34CBD9CFC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C2262BC-674D-4DED-E112-46F25BC9A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DB0B4-B73C-44EB-91F1-D36441C002F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0489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59FB38-903C-8E10-F3D2-25B7686C7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840A03F-5818-43CF-7A92-1901B63F5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80E5F47-1956-3EAD-C7FE-F619BD6736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AE5AC8D5-41A0-F884-B53A-19156126BF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ED9F09FE-92C7-ECD1-8C78-0CA224B06D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A05A670D-0F6C-5689-B990-0183B952F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78489-0109-4234-B997-5BF3D8763553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A39BFAE7-45D5-EBF5-8492-F355C747C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BB55E951-62D2-53D8-2D6B-E332432E7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DB0B4-B73C-44EB-91F1-D36441C002F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6012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F3AE24-56B8-1182-8B1D-A23C87BF8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02E1321-7CED-9D73-F736-2BD46DCB4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78489-0109-4234-B997-5BF3D8763553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7B4A57B-D26F-D0BC-CB08-21257AAFF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A3E55BCD-5E0C-FB0E-3C90-9AF84486E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DB0B4-B73C-44EB-91F1-D36441C002F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8908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B6545E8-4A85-FC9B-AFB7-36B4056F2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78489-0109-4234-B997-5BF3D8763553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206AF11C-492B-60A8-B470-3367192CF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02A949F-3933-16EF-5C60-9FB40A662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DB0B4-B73C-44EB-91F1-D36441C002F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0968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3569B6-E185-1E80-1977-01CF573FE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18474C9-18A1-82FB-FADE-5B336F175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52481C76-492E-933C-A11B-DC85288481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F0F67F6-E436-6818-8496-E74CFABB3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78489-0109-4234-B997-5BF3D8763553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8CD665F-38BF-3249-70F4-250EDF3EB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C2C4E7B-5F9F-9F15-79D8-E882F4FC5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DB0B4-B73C-44EB-91F1-D36441C002F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6282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C6AE8A-5A3B-261F-ECBB-0FB72D5C0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67581087-386B-C30C-44EC-862C051262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1E784C9-0EB1-A525-13D4-7C4E9FA60C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209CE08-F4D7-58C3-38C3-B28B4C095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78489-0109-4234-B997-5BF3D8763553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1A736BA0-4F36-955C-C80F-23415B9B3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8794DA5F-D499-221E-6617-724B53F78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DB0B4-B73C-44EB-91F1-D36441C002F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3351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48A47C-DFE9-49B9-6FCA-DF0B32E76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0B5DE84E-A873-CD1A-8316-2193D5B663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C6EDFF2-AC31-D18D-E9EF-4E50F5116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78489-0109-4234-B997-5BF3D8763553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D46CD82-5FAE-7CDF-31BF-93A7F5C8F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01BCB54-D099-8963-8C87-1A6715AD4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DB0B4-B73C-44EB-91F1-D36441C002F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858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BAE33AA3-88AA-C411-DF62-BE4C0FC343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6DB59623-BB2B-B2C5-3972-0E238BBAB9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E4607A2-7B1C-EE2C-69F6-988F32F42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78489-0109-4234-B997-5BF3D8763553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85DB4AF-F81D-4907-4381-DD05718A2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1D0EBFD-1619-4FE0-61CB-A6F986DF9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DB0B4-B73C-44EB-91F1-D36441C002F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1766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8E26FED3-DDFD-0273-BEE4-E5F6A14EB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652292E-8EC1-F32C-DBA4-B7F074402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997F88B-62F1-CA78-67C7-B7DE7AFCD1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C78489-0109-4234-B997-5BF3D8763553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D454419-0519-62EB-2588-09336173E6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1DEDDB0-5791-F53B-B639-8C9416E0FD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6DB0B4-B73C-44EB-91F1-D36441C002F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3509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46EDDA-160F-ACC8-BAA8-BE329F21F3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Analyse I, </a:t>
            </a:r>
            <a:r>
              <a:rPr lang="en-GB" dirty="0" err="1"/>
              <a:t>Oefenzitting</a:t>
            </a:r>
            <a:r>
              <a:rPr lang="en-GB" dirty="0"/>
              <a:t> 2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BAC92F39-0B86-45D7-CF47-7DB5F5D0CB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Jasper.Visterin@kuleuven.be</a:t>
            </a:r>
          </a:p>
        </p:txBody>
      </p:sp>
    </p:spTree>
    <p:extLst>
      <p:ext uri="{BB962C8B-B14F-4D97-AF65-F5344CB8AC3E}">
        <p14:creationId xmlns:p14="http://schemas.microsoft.com/office/powerpoint/2010/main" val="2146910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D6BEB5-1B85-2E2F-3A43-4BF438CCF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Vorige</a:t>
            </a:r>
            <a:r>
              <a:rPr lang="en-GB" dirty="0"/>
              <a:t> </a:t>
            </a:r>
            <a:r>
              <a:rPr lang="en-GB" dirty="0" err="1"/>
              <a:t>Oefenzitting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AF1A0872-999A-9430-09CE-7CD045DFEB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nl-BE" dirty="0"/>
                  <a:t>Oefening 1.3B</a:t>
                </a:r>
                <a:endParaRPr lang="nl-BE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den>
                        </m:f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dirty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GB" i="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AF1A0872-999A-9430-09CE-7CD045DFEB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Afbeelding 4" descr="Afbeelding met tekst, lijn, schermopname, diagram&#10;&#10;Door AI gegenereerde inhoud is mogelijk onjuist.">
            <a:extLst>
              <a:ext uri="{FF2B5EF4-FFF2-40B4-BE49-F238E27FC236}">
                <a16:creationId xmlns:a16="http://schemas.microsoft.com/office/drawing/2014/main" id="{4151BB35-2D66-757D-7394-2047AAF74D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3717" y="343535"/>
            <a:ext cx="6149340" cy="6149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75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43656A-B4DE-8C36-88E5-01DFE296B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2025-10-14 10-27-50">
            <a:hlinkClick r:id="" action="ppaction://media"/>
            <a:extLst>
              <a:ext uri="{FF2B5EF4-FFF2-40B4-BE49-F238E27FC236}">
                <a16:creationId xmlns:a16="http://schemas.microsoft.com/office/drawing/2014/main" id="{3677CCBE-71C4-BE54-F696-3C4372514219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98463" y="179705"/>
            <a:ext cx="11224577" cy="6313682"/>
          </a:xfrm>
        </p:spPr>
      </p:pic>
    </p:spTree>
    <p:extLst>
      <p:ext uri="{BB962C8B-B14F-4D97-AF65-F5344CB8AC3E}">
        <p14:creationId xmlns:p14="http://schemas.microsoft.com/office/powerpoint/2010/main" val="3357456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04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93D3788B-7CA5-BD3C-CDEE-F6E814EB19E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7767320" y="-29405"/>
                <a:ext cx="10515600" cy="1009651"/>
              </a:xfrm>
            </p:spPr>
            <p:txBody>
              <a:bodyPr/>
              <a:lstStyle/>
              <a:p>
                <a:r>
                  <a:rPr lang="en-GB" dirty="0" err="1"/>
                  <a:t>Krommen</a:t>
                </a:r>
                <a:r>
                  <a:rPr lang="en-GB" dirty="0"/>
                  <a:t>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GB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93D3788B-7CA5-BD3C-CDEE-F6E814EB19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767320" y="-29405"/>
                <a:ext cx="10515600" cy="1009651"/>
              </a:xfrm>
              <a:blipFill>
                <a:blip r:embed="rId2"/>
                <a:stretch>
                  <a:fillRect l="-2319" t="-2410" b="-144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ijdelijke aanduiding voor inhoud 3">
                <a:extLst>
                  <a:ext uri="{FF2B5EF4-FFF2-40B4-BE49-F238E27FC236}">
                    <a16:creationId xmlns:a16="http://schemas.microsoft.com/office/drawing/2014/main" id="{242FFF29-2F3F-FF88-EA03-8C1EC2C253E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168840040"/>
                  </p:ext>
                </p:extLst>
              </p:nvPr>
            </p:nvGraphicFramePr>
            <p:xfrm>
              <a:off x="330199" y="1111884"/>
              <a:ext cx="11531601" cy="2231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29032">
                      <a:extLst>
                        <a:ext uri="{9D8B030D-6E8A-4147-A177-3AD203B41FA5}">
                          <a16:colId xmlns:a16="http://schemas.microsoft.com/office/drawing/2014/main" val="1428409758"/>
                        </a:ext>
                      </a:extLst>
                    </a:gridCol>
                    <a:gridCol w="3558621">
                      <a:extLst>
                        <a:ext uri="{9D8B030D-6E8A-4147-A177-3AD203B41FA5}">
                          <a16:colId xmlns:a16="http://schemas.microsoft.com/office/drawing/2014/main" val="4203753842"/>
                        </a:ext>
                      </a:extLst>
                    </a:gridCol>
                    <a:gridCol w="4643948">
                      <a:extLst>
                        <a:ext uri="{9D8B030D-6E8A-4147-A177-3AD203B41FA5}">
                          <a16:colId xmlns:a16="http://schemas.microsoft.com/office/drawing/2014/main" val="2062659668"/>
                        </a:ext>
                      </a:extLst>
                    </a:gridCol>
                  </a:tblGrid>
                  <a:tr h="582613">
                    <a:tc>
                      <a:txBody>
                        <a:bodyPr/>
                        <a:lstStyle/>
                        <a:p>
                          <a:r>
                            <a:rPr lang="en-GB" sz="2400" dirty="0" err="1"/>
                            <a:t>Expliciet</a:t>
                          </a:r>
                          <a:endParaRPr lang="en-GB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 err="1"/>
                            <a:t>Impliciet</a:t>
                          </a:r>
                          <a:endParaRPr lang="en-GB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 err="1"/>
                            <a:t>Parametervorm</a:t>
                          </a:r>
                          <a:endParaRPr lang="en-GB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5120533"/>
                      </a:ext>
                    </a:extLst>
                  </a:tr>
                  <a:tr h="58261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BE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nl-BE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nl-BE" sz="24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nl-BE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BE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 sz="2400" dirty="0"/>
                        </a:p>
                        <a:p>
                          <a:endParaRPr lang="en-GB" sz="2400" dirty="0"/>
                        </a:p>
                        <a:p>
                          <a:pPr marL="285750" indent="-285750">
                            <a:buFontTx/>
                            <a:buChar char="-"/>
                          </a:pPr>
                          <a:r>
                            <a:rPr lang="nl-BE" sz="2400" b="0" dirty="0"/>
                            <a:t>Rechte: </a:t>
                          </a:r>
                          <a14:m>
                            <m:oMath xmlns:m="http://schemas.openxmlformats.org/officeDocument/2006/math"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nl-BE" sz="24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285750" indent="-285750">
                            <a:buFontTx/>
                            <a:buChar char="-"/>
                          </a:pPr>
                          <a:r>
                            <a:rPr lang="nl-BE" sz="2400" b="0" dirty="0"/>
                            <a:t>Parabool: </a:t>
                          </a:r>
                          <a14:m>
                            <m:oMath xmlns:m="http://schemas.openxmlformats.org/officeDocument/2006/math"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BE" sz="2400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d>
                                  <m:dPr>
                                    <m:ctrlPr>
                                      <a:rPr lang="nl-BE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BE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nl-BE" sz="2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nl-BE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nl-BE" sz="2400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nl-BE" sz="2400" b="0" dirty="0"/>
                        </a:p>
                        <a:p>
                          <a:endParaRPr lang="en-GB" sz="2400" b="0" i="0" dirty="0">
                            <a:latin typeface="+mn-lt"/>
                          </a:endParaRPr>
                        </a:p>
                        <a:p>
                          <a:pPr marL="285750" indent="-285750">
                            <a:buFontTx/>
                            <a:buChar char="-"/>
                          </a:pPr>
                          <a:r>
                            <a:rPr lang="en-GB" sz="2400" b="0" i="0" baseline="0" dirty="0">
                              <a:latin typeface="+mn-lt"/>
                            </a:rPr>
                            <a:t>Cirkel: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−1=0</m:t>
                              </m:r>
                            </m:oMath>
                          </a14:m>
                          <a:endParaRPr lang="nl-BE" sz="24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285750" indent="-285750">
                            <a:buFontTx/>
                            <a:buChar char="-"/>
                          </a:pPr>
                          <a:r>
                            <a:rPr lang="nl-BE" sz="2400" b="0" dirty="0"/>
                            <a:t>Rechte: </a:t>
                          </a:r>
                          <a14:m>
                            <m:oMath xmlns:m="http://schemas.openxmlformats.org/officeDocument/2006/math"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endParaRPr lang="en-GB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nl-BE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l-BE" sz="2400" b="0" i="1" smtClean="0">
                                          <a:latin typeface="Cambria Math" panose="02040503050406030204" pitchFamily="18" charset="0"/>
                                        </a:rPr>
                                        <m:t>𝛾</m:t>
                                      </m:r>
                                    </m:e>
                                    <m:sub>
                                      <m:r>
                                        <a:rPr lang="nl-BE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nl-BE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nl-BE" sz="24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nl-BE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l-BE" sz="2400" b="0" i="1" smtClean="0">
                                          <a:latin typeface="Cambria Math" panose="02040503050406030204" pitchFamily="18" charset="0"/>
                                        </a:rPr>
                                        <m:t>𝛾</m:t>
                                      </m:r>
                                    </m:e>
                                    <m:sub>
                                      <m:r>
                                        <a:rPr lang="nl-BE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nl-BE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nl-BE" sz="24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oMath>
                          </a14:m>
                          <a:r>
                            <a:rPr lang="en-GB" sz="2400" dirty="0"/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oMath>
                          </a14:m>
                          <a:endParaRPr lang="en-GB" sz="2400" dirty="0"/>
                        </a:p>
                        <a:p>
                          <a:endParaRPr lang="en-GB" sz="2400" dirty="0"/>
                        </a:p>
                        <a:p>
                          <a:pPr marL="285750" indent="-285750">
                            <a:buFontTx/>
                            <a:buChar char="-"/>
                          </a:pPr>
                          <a:r>
                            <a:rPr lang="en-GB" sz="2400" dirty="0" err="1"/>
                            <a:t>Functie</a:t>
                          </a:r>
                          <a:r>
                            <a:rPr lang="en-GB" sz="2400" dirty="0"/>
                            <a:t>: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nl-BE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nl-BE" sz="24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oMath>
                          </a14:m>
                          <a:endParaRPr lang="en-GB" sz="2400" dirty="0"/>
                        </a:p>
                        <a:p>
                          <a:pPr marL="285750" indent="-285750">
                            <a:buFontTx/>
                            <a:buChar char="-"/>
                          </a:pPr>
                          <a:r>
                            <a:rPr lang="en-GB" sz="2400" dirty="0" err="1"/>
                            <a:t>Parabool</a:t>
                          </a:r>
                          <a:r>
                            <a:rPr lang="en-GB" sz="2400" dirty="0"/>
                            <a:t>: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nl-BE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nl-BE" sz="24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p>
                                      <m:r>
                                        <a:rPr lang="nl-BE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oMath>
                          </a14:m>
                          <a:r>
                            <a:rPr lang="en-GB" sz="2400" dirty="0"/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  <m:t>ℝ</m:t>
                              </m:r>
                            </m:oMath>
                          </a14:m>
                          <a:endParaRPr lang="en-GB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0904709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ijdelijke aanduiding voor inhoud 3">
                <a:extLst>
                  <a:ext uri="{FF2B5EF4-FFF2-40B4-BE49-F238E27FC236}">
                    <a16:creationId xmlns:a16="http://schemas.microsoft.com/office/drawing/2014/main" id="{242FFF29-2F3F-FF88-EA03-8C1EC2C253E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168840040"/>
                  </p:ext>
                </p:extLst>
              </p:nvPr>
            </p:nvGraphicFramePr>
            <p:xfrm>
              <a:off x="330199" y="1111884"/>
              <a:ext cx="11531601" cy="2231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29032">
                      <a:extLst>
                        <a:ext uri="{9D8B030D-6E8A-4147-A177-3AD203B41FA5}">
                          <a16:colId xmlns:a16="http://schemas.microsoft.com/office/drawing/2014/main" val="1428409758"/>
                        </a:ext>
                      </a:extLst>
                    </a:gridCol>
                    <a:gridCol w="3558621">
                      <a:extLst>
                        <a:ext uri="{9D8B030D-6E8A-4147-A177-3AD203B41FA5}">
                          <a16:colId xmlns:a16="http://schemas.microsoft.com/office/drawing/2014/main" val="4203753842"/>
                        </a:ext>
                      </a:extLst>
                    </a:gridCol>
                    <a:gridCol w="4643948">
                      <a:extLst>
                        <a:ext uri="{9D8B030D-6E8A-4147-A177-3AD203B41FA5}">
                          <a16:colId xmlns:a16="http://schemas.microsoft.com/office/drawing/2014/main" val="2062659668"/>
                        </a:ext>
                      </a:extLst>
                    </a:gridCol>
                  </a:tblGrid>
                  <a:tr h="582613">
                    <a:tc>
                      <a:txBody>
                        <a:bodyPr/>
                        <a:lstStyle/>
                        <a:p>
                          <a:r>
                            <a:rPr lang="en-GB" sz="2400" dirty="0" err="1"/>
                            <a:t>Expliciet</a:t>
                          </a:r>
                          <a:endParaRPr lang="en-GB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 err="1"/>
                            <a:t>Impliciet</a:t>
                          </a:r>
                          <a:endParaRPr lang="en-GB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 err="1"/>
                            <a:t>Parametervorm</a:t>
                          </a:r>
                          <a:endParaRPr lang="en-GB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5120533"/>
                      </a:ext>
                    </a:extLst>
                  </a:tr>
                  <a:tr h="1648587">
                    <a:tc>
                      <a:txBody>
                        <a:bodyPr/>
                        <a:lstStyle/>
                        <a:p>
                          <a:endParaRPr lang="nl-BE"/>
                        </a:p>
                      </a:txBody>
                      <a:tcPr>
                        <a:blipFill>
                          <a:blip r:embed="rId3"/>
                          <a:stretch>
                            <a:fillRect l="-183" t="-38376" r="-247253" b="-84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BE"/>
                        </a:p>
                      </a:txBody>
                      <a:tcPr>
                        <a:blipFill>
                          <a:blip r:embed="rId3"/>
                          <a:stretch>
                            <a:fillRect l="-93664" t="-38376" r="-131164" b="-84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BE"/>
                        </a:p>
                      </a:txBody>
                      <a:tcPr>
                        <a:blipFill>
                          <a:blip r:embed="rId3"/>
                          <a:stretch>
                            <a:fillRect l="-148425" t="-38376" r="-525" b="-84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904709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ijdelijke aanduiding voor inhoud 3">
                <a:extLst>
                  <a:ext uri="{FF2B5EF4-FFF2-40B4-BE49-F238E27FC236}">
                    <a16:creationId xmlns:a16="http://schemas.microsoft.com/office/drawing/2014/main" id="{F709C7B7-12BB-E2BB-A5F6-6BD4F2054803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4229024"/>
                  </p:ext>
                </p:extLst>
              </p:nvPr>
            </p:nvGraphicFramePr>
            <p:xfrm>
              <a:off x="330199" y="3936365"/>
              <a:ext cx="11760201" cy="236283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79868">
                      <a:extLst>
                        <a:ext uri="{9D8B030D-6E8A-4147-A177-3AD203B41FA5}">
                          <a16:colId xmlns:a16="http://schemas.microsoft.com/office/drawing/2014/main" val="1428409758"/>
                        </a:ext>
                      </a:extLst>
                    </a:gridCol>
                    <a:gridCol w="3100333">
                      <a:extLst>
                        <a:ext uri="{9D8B030D-6E8A-4147-A177-3AD203B41FA5}">
                          <a16:colId xmlns:a16="http://schemas.microsoft.com/office/drawing/2014/main" val="4203753842"/>
                        </a:ext>
                      </a:extLst>
                    </a:gridCol>
                    <a:gridCol w="5080000">
                      <a:extLst>
                        <a:ext uri="{9D8B030D-6E8A-4147-A177-3AD203B41FA5}">
                          <a16:colId xmlns:a16="http://schemas.microsoft.com/office/drawing/2014/main" val="2062659668"/>
                        </a:ext>
                      </a:extLst>
                    </a:gridCol>
                  </a:tblGrid>
                  <a:tr h="539870">
                    <a:tc>
                      <a:txBody>
                        <a:bodyPr/>
                        <a:lstStyle/>
                        <a:p>
                          <a:r>
                            <a:rPr lang="en-GB" sz="2400" dirty="0" err="1"/>
                            <a:t>Expliciet</a:t>
                          </a:r>
                          <a:endParaRPr lang="en-GB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 err="1"/>
                            <a:t>Impliciet</a:t>
                          </a:r>
                          <a:endParaRPr lang="en-GB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 err="1"/>
                            <a:t>Parametervorm</a:t>
                          </a:r>
                          <a:endParaRPr lang="en-GB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5120533"/>
                      </a:ext>
                    </a:extLst>
                  </a:tr>
                  <a:tr h="182296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BE" sz="24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nl-BE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nl-BE" sz="24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d>
                                  <m:dPr>
                                    <m:ctrlPr>
                                      <a:rPr lang="nl-BE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BE" sz="2400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 sz="2400" dirty="0"/>
                        </a:p>
                        <a:p>
                          <a:endParaRPr lang="en-GB" sz="2400" dirty="0"/>
                        </a:p>
                        <a:p>
                          <a:pPr marL="285750" indent="-285750">
                            <a:buFontTx/>
                            <a:buChar char="-"/>
                          </a:pPr>
                          <a:r>
                            <a:rPr lang="nl-BE" sz="2400" b="0" dirty="0"/>
                            <a:t>Cirkel: </a:t>
                          </a:r>
                          <a14:m>
                            <m:oMath xmlns:m="http://schemas.openxmlformats.org/officeDocument/2006/math"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=2</m:t>
                              </m:r>
                            </m:oMath>
                          </a14:m>
                          <a:endParaRPr lang="nl-BE" sz="24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285750" indent="-285750">
                            <a:buFontTx/>
                            <a:buChar char="-"/>
                          </a:pPr>
                          <a:r>
                            <a:rPr lang="nl-BE" sz="2400" dirty="0" err="1"/>
                            <a:t>Cardoïde</a:t>
                          </a:r>
                          <a:r>
                            <a:rPr lang="nl-BE" sz="2400" dirty="0"/>
                            <a:t> (</a:t>
                          </a:r>
                          <a:r>
                            <a:rPr lang="nl-BE" sz="2400" dirty="0" err="1"/>
                            <a:t>Fig</a:t>
                          </a:r>
                          <a:r>
                            <a:rPr lang="nl-BE" sz="2400" dirty="0"/>
                            <a:t> 2.18 HB)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BE" sz="24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d>
                                  <m:dPr>
                                    <m:ctrlPr>
                                      <a:rPr lang="nl-BE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BE" sz="24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nl-BE" sz="2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nl-BE" sz="2400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  <m:r>
                                  <a:rPr lang="nl-BE" sz="2400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nl-BE" sz="2400" b="0" dirty="0"/>
                        </a:p>
                        <a:p>
                          <a:endParaRPr lang="nl-BE" sz="2400" b="0" dirty="0"/>
                        </a:p>
                        <a:p>
                          <a:pPr marL="342900" indent="-342900">
                            <a:buFontTx/>
                            <a:buChar char="-"/>
                          </a:pPr>
                          <a:r>
                            <a:rPr lang="nl-BE" sz="2400" b="0" dirty="0"/>
                            <a:t>Zie </a:t>
                          </a:r>
                          <a:r>
                            <a:rPr lang="nl-BE" sz="2400" b="0" dirty="0" err="1"/>
                            <a:t>Fig</a:t>
                          </a:r>
                          <a:r>
                            <a:rPr lang="nl-BE" sz="2400" b="0" dirty="0"/>
                            <a:t> 2.22 HB</a:t>
                          </a:r>
                        </a:p>
                        <a:p>
                          <a:pPr marL="342900" indent="-342900">
                            <a:buFontTx/>
                            <a:buChar char="-"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endParaRPr lang="nl-BE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nl-BE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l-BE" sz="2400" b="0" i="1" smtClean="0">
                                          <a:latin typeface="Cambria Math" panose="02040503050406030204" pitchFamily="18" charset="0"/>
                                        </a:rPr>
                                        <m:t>𝛾</m:t>
                                      </m:r>
                                    </m:e>
                                    <m:sub>
                                      <m:r>
                                        <a:rPr lang="nl-BE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nl-BE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nl-BE" sz="24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nl-BE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l-BE" sz="2400" b="0" i="1" smtClean="0">
                                          <a:latin typeface="Cambria Math" panose="02040503050406030204" pitchFamily="18" charset="0"/>
                                        </a:rPr>
                                        <m:t>𝛾</m:t>
                                      </m:r>
                                    </m:e>
                                    <m:sub>
                                      <m:r>
                                        <a:rPr lang="nl-BE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nl-BE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nl-BE" sz="24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oMath>
                          </a14:m>
                          <a:r>
                            <a:rPr lang="en-GB" sz="2400" dirty="0"/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oMath>
                          </a14:m>
                          <a:endParaRPr lang="en-GB" sz="2400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400" dirty="0"/>
                        </a:p>
                        <a:p>
                          <a:pPr marL="342900" indent="-342900">
                            <a:buFontTx/>
                            <a:buChar char="-"/>
                          </a:pPr>
                          <a:r>
                            <a:rPr lang="nl-BE" sz="2400" b="0" dirty="0"/>
                            <a:t>Zie </a:t>
                          </a:r>
                          <a:r>
                            <a:rPr lang="nl-BE" sz="2400" b="0" dirty="0" err="1"/>
                            <a:t>Fig</a:t>
                          </a:r>
                          <a:r>
                            <a:rPr lang="nl-BE" sz="2400" b="0" dirty="0"/>
                            <a:t> 2.22 HB</a:t>
                          </a:r>
                        </a:p>
                        <a:p>
                          <a:pPr marL="342900" indent="-342900">
                            <a:buFontTx/>
                            <a:buChar char="-"/>
                          </a:pP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nl-BE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nl-BE" sz="2400" b="0" i="0" smtClean="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nl-BE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nl-BE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e>
                                  </m:func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func>
                                    <m:funcPr>
                                      <m:ctrlPr>
                                        <a:rPr lang="nl-BE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nl-BE" sz="2400" b="0" i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nl-BE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nl-BE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</m:oMath>
                          </a14:m>
                          <a:r>
                            <a:rPr lang="nl-BE" sz="2400" b="0" dirty="0"/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["/>
                                  <m:ctrlP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0,2</m:t>
                                  </m:r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oMath>
                          </a14:m>
                          <a:endParaRPr lang="nl-BE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0904709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ijdelijke aanduiding voor inhoud 3">
                <a:extLst>
                  <a:ext uri="{FF2B5EF4-FFF2-40B4-BE49-F238E27FC236}">
                    <a16:creationId xmlns:a16="http://schemas.microsoft.com/office/drawing/2014/main" id="{F709C7B7-12BB-E2BB-A5F6-6BD4F2054803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4229024"/>
                  </p:ext>
                </p:extLst>
              </p:nvPr>
            </p:nvGraphicFramePr>
            <p:xfrm>
              <a:off x="330199" y="3936365"/>
              <a:ext cx="11760201" cy="236283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79868">
                      <a:extLst>
                        <a:ext uri="{9D8B030D-6E8A-4147-A177-3AD203B41FA5}">
                          <a16:colId xmlns:a16="http://schemas.microsoft.com/office/drawing/2014/main" val="1428409758"/>
                        </a:ext>
                      </a:extLst>
                    </a:gridCol>
                    <a:gridCol w="3100333">
                      <a:extLst>
                        <a:ext uri="{9D8B030D-6E8A-4147-A177-3AD203B41FA5}">
                          <a16:colId xmlns:a16="http://schemas.microsoft.com/office/drawing/2014/main" val="4203753842"/>
                        </a:ext>
                      </a:extLst>
                    </a:gridCol>
                    <a:gridCol w="5080000">
                      <a:extLst>
                        <a:ext uri="{9D8B030D-6E8A-4147-A177-3AD203B41FA5}">
                          <a16:colId xmlns:a16="http://schemas.microsoft.com/office/drawing/2014/main" val="2062659668"/>
                        </a:ext>
                      </a:extLst>
                    </a:gridCol>
                  </a:tblGrid>
                  <a:tr h="539870">
                    <a:tc>
                      <a:txBody>
                        <a:bodyPr/>
                        <a:lstStyle/>
                        <a:p>
                          <a:r>
                            <a:rPr lang="en-GB" sz="2400" dirty="0" err="1"/>
                            <a:t>Expliciet</a:t>
                          </a:r>
                          <a:endParaRPr lang="en-GB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 err="1"/>
                            <a:t>Impliciet</a:t>
                          </a:r>
                          <a:endParaRPr lang="en-GB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 err="1"/>
                            <a:t>Parametervorm</a:t>
                          </a:r>
                          <a:endParaRPr lang="en-GB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5120533"/>
                      </a:ext>
                    </a:extLst>
                  </a:tr>
                  <a:tr h="1822966">
                    <a:tc>
                      <a:txBody>
                        <a:bodyPr/>
                        <a:lstStyle/>
                        <a:p>
                          <a:endParaRPr lang="nl-BE"/>
                        </a:p>
                      </a:txBody>
                      <a:tcPr>
                        <a:blipFill>
                          <a:blip r:embed="rId4"/>
                          <a:stretch>
                            <a:fillRect l="-170" t="-32000" r="-228912" b="-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BE"/>
                        </a:p>
                      </a:txBody>
                      <a:tcPr>
                        <a:blipFill>
                          <a:blip r:embed="rId4"/>
                          <a:stretch>
                            <a:fillRect l="-115945" t="-32000" r="-164961" b="-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BE"/>
                        </a:p>
                      </a:txBody>
                      <a:tcPr>
                        <a:blipFill>
                          <a:blip r:embed="rId4"/>
                          <a:stretch>
                            <a:fillRect l="-131535" t="-32000" r="-480" b="-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904709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itel 1">
            <a:extLst>
              <a:ext uri="{FF2B5EF4-FFF2-40B4-BE49-F238E27FC236}">
                <a16:creationId xmlns:a16="http://schemas.microsoft.com/office/drawing/2014/main" id="{F4CAA005-18CD-80F6-815E-4A0554D5E083}"/>
              </a:ext>
            </a:extLst>
          </p:cNvPr>
          <p:cNvSpPr txBox="1">
            <a:spLocks/>
          </p:cNvSpPr>
          <p:nvPr/>
        </p:nvSpPr>
        <p:spPr>
          <a:xfrm>
            <a:off x="330199" y="206325"/>
            <a:ext cx="10515600" cy="10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dirty="0" err="1"/>
              <a:t>Cartesiaanse</a:t>
            </a:r>
            <a:r>
              <a:rPr lang="en-GB" sz="2800" b="1" dirty="0"/>
              <a:t> </a:t>
            </a:r>
            <a:r>
              <a:rPr lang="en-GB" sz="2800" b="1" dirty="0" err="1"/>
              <a:t>cöordinaten</a:t>
            </a:r>
            <a:endParaRPr lang="en-GB" sz="2800" b="1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ECAF6DF9-D551-DD70-5511-E81D2DFBFDDE}"/>
              </a:ext>
            </a:extLst>
          </p:cNvPr>
          <p:cNvSpPr txBox="1">
            <a:spLocks/>
          </p:cNvSpPr>
          <p:nvPr/>
        </p:nvSpPr>
        <p:spPr>
          <a:xfrm>
            <a:off x="330199" y="3162444"/>
            <a:ext cx="10515600" cy="10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dirty="0" err="1"/>
              <a:t>Polaire</a:t>
            </a:r>
            <a:r>
              <a:rPr lang="en-GB" sz="2800" b="1" dirty="0"/>
              <a:t> </a:t>
            </a:r>
            <a:r>
              <a:rPr lang="en-GB" sz="2800" b="1" dirty="0" err="1"/>
              <a:t>cöordinaten</a:t>
            </a:r>
            <a:endParaRPr lang="en-GB" sz="2800" b="1" dirty="0"/>
          </a:p>
        </p:txBody>
      </p:sp>
    </p:spTree>
    <p:extLst>
      <p:ext uri="{BB962C8B-B14F-4D97-AF65-F5344CB8AC3E}">
        <p14:creationId xmlns:p14="http://schemas.microsoft.com/office/powerpoint/2010/main" val="4056209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AC8DA6-86CC-C5F2-512C-AEE8390FD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320" y="0"/>
            <a:ext cx="10515600" cy="1099978"/>
          </a:xfrm>
        </p:spPr>
        <p:txBody>
          <a:bodyPr/>
          <a:lstStyle/>
          <a:p>
            <a:r>
              <a:rPr lang="en-GB" dirty="0"/>
              <a:t>Hoe van de </a:t>
            </a:r>
            <a:r>
              <a:rPr lang="en-GB" dirty="0" err="1"/>
              <a:t>ene</a:t>
            </a:r>
            <a:r>
              <a:rPr lang="en-GB" dirty="0"/>
              <a:t> </a:t>
            </a:r>
            <a:r>
              <a:rPr lang="en-GB" dirty="0" err="1"/>
              <a:t>voorstelling</a:t>
            </a:r>
            <a:r>
              <a:rPr lang="en-GB" dirty="0"/>
              <a:t> </a:t>
            </a:r>
            <a:r>
              <a:rPr lang="en-GB" dirty="0" err="1"/>
              <a:t>naar</a:t>
            </a:r>
            <a:r>
              <a:rPr lang="en-GB" dirty="0"/>
              <a:t> de </a:t>
            </a:r>
            <a:r>
              <a:rPr lang="en-GB" dirty="0" err="1"/>
              <a:t>andere</a:t>
            </a:r>
            <a:r>
              <a:rPr lang="en-GB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74C6DFEE-7AB0-ED1D-085B-401D9D7D89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878998"/>
                <a:ext cx="10515600" cy="5897722"/>
              </a:xfrm>
            </p:spPr>
            <p:txBody>
              <a:bodyPr/>
              <a:lstStyle/>
              <a:p>
                <a:r>
                  <a:rPr lang="en-GB" dirty="0"/>
                  <a:t>Expliciet </a:t>
                </a:r>
                <a:r>
                  <a:rPr lang="en-GB" dirty="0">
                    <a:sym typeface="Wingdings" panose="05000000000000000000" pitchFamily="2" charset="2"/>
                  </a:rPr>
                  <a:t> </a:t>
                </a:r>
                <a:r>
                  <a:rPr lang="en-GB" dirty="0" err="1">
                    <a:sym typeface="Wingdings" panose="05000000000000000000" pitchFamily="2" charset="2"/>
                  </a:rPr>
                  <a:t>Impliciet</a:t>
                </a:r>
                <a:endParaRPr lang="en-GB" dirty="0">
                  <a:sym typeface="Wingdings" panose="05000000000000000000" pitchFamily="2" charset="2"/>
                </a:endParaRPr>
              </a:p>
              <a:p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nl-B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p>
                  </m:oMath>
                </a14:m>
                <a:endParaRPr lang="nl-BE" b="0" i="1" dirty="0">
                  <a:latin typeface="Cambria Math" panose="02040503050406030204" pitchFamily="18" charset="0"/>
                  <a:sym typeface="Wingdings" panose="05000000000000000000" pitchFamily="2" charset="2"/>
                </a:endParaRPr>
              </a:p>
              <a:p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nl-B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nl-B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𝑔</m:t>
                    </m:r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𝑦</m:t>
                        </m:r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=0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 err="1"/>
                  <a:t>Impliciet</a:t>
                </a:r>
                <a:r>
                  <a:rPr lang="en-GB" dirty="0"/>
                  <a:t> </a:t>
                </a:r>
                <a:r>
                  <a:rPr lang="en-GB" dirty="0">
                    <a:sym typeface="Wingdings" panose="05000000000000000000" pitchFamily="2" charset="2"/>
                  </a:rPr>
                  <a:t> </a:t>
                </a:r>
                <a:r>
                  <a:rPr lang="en-GB" dirty="0" err="1">
                    <a:sym typeface="Wingdings" panose="05000000000000000000" pitchFamily="2" charset="2"/>
                  </a:rPr>
                  <a:t>Expliciet</a:t>
                </a:r>
                <a:r>
                  <a:rPr lang="en-GB" dirty="0">
                    <a:sym typeface="Wingdings" panose="05000000000000000000" pitchFamily="2" charset="2"/>
                  </a:rPr>
                  <a:t>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=1→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=1−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nl-BE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=±</m:t>
                    </m:r>
                    <m:rad>
                      <m:radPr>
                        <m:degHide m:val="on"/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nl-BE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−1,1</m:t>
                        </m:r>
                      </m:e>
                    </m:d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 err="1"/>
                  <a:t>Parametervergelijking</a:t>
                </a:r>
                <a:r>
                  <a:rPr lang="en-GB" dirty="0"/>
                  <a:t> </a:t>
                </a:r>
                <a:r>
                  <a:rPr lang="en-GB" dirty="0">
                    <a:sym typeface="Wingdings" panose="05000000000000000000" pitchFamily="2" charset="2"/>
                  </a:rPr>
                  <a:t> </a:t>
                </a:r>
                <a:r>
                  <a:rPr lang="en-GB" dirty="0" err="1">
                    <a:sym typeface="Wingdings" panose="05000000000000000000" pitchFamily="2" charset="2"/>
                  </a:rPr>
                  <a:t>Impliciet</a:t>
                </a:r>
                <a:endParaRPr lang="en-GB" dirty="0">
                  <a:sym typeface="Wingdings" panose="05000000000000000000" pitchFamily="2" charset="2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−1,1</m:t>
                        </m:r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−1,1</m:t>
                        </m:r>
                      </m:e>
                    </m:d>
                  </m:oMath>
                </a14:m>
                <a:endParaRPr lang="en-GB" dirty="0"/>
              </a:p>
              <a:p>
                <a:r>
                  <a:rPr lang="en-GB" dirty="0" err="1"/>
                  <a:t>Elimineer</a:t>
                </a:r>
                <a:r>
                  <a:rPr lang="en-GB" dirty="0"/>
                  <a:t> </a:t>
                </a:r>
                <a:r>
                  <a:rPr lang="en-GB" dirty="0" err="1"/>
                  <a:t>een</a:t>
                </a:r>
                <a:r>
                  <a:rPr lang="en-GB" dirty="0"/>
                  <a:t> parameter</a:t>
                </a:r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74C6DFEE-7AB0-ED1D-085B-401D9D7D89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878998"/>
                <a:ext cx="10515600" cy="5897722"/>
              </a:xfrm>
              <a:blipFill>
                <a:blip r:embed="rId2"/>
                <a:stretch>
                  <a:fillRect l="-1043" t="-20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5110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7D47EE-BEF5-4933-F667-C919F1CE6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Polaire</a:t>
            </a:r>
            <a:r>
              <a:rPr lang="en-GB" dirty="0"/>
              <a:t> </a:t>
            </a:r>
            <a:r>
              <a:rPr lang="en-GB" dirty="0" err="1"/>
              <a:t>coördinaten</a:t>
            </a:r>
            <a:endParaRPr lang="en-GB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B1142F8-DA32-9D30-8179-3F05B7123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1917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87D2FA-A152-0BFB-F2D2-121A54542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2.2c: Zoek </a:t>
            </a:r>
            <a:r>
              <a:rPr lang="en-GB" dirty="0" err="1"/>
              <a:t>vergelijking</a:t>
            </a:r>
            <a:r>
              <a:rPr lang="en-GB" dirty="0"/>
              <a:t> in </a:t>
            </a:r>
            <a:r>
              <a:rPr lang="en-GB" dirty="0" err="1"/>
              <a:t>poolcoordinaten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0F917BD2-0DB2-1453-8DDF-95DEBAE03E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dirty="0"/>
              </a:p>
              <a:p>
                <a:r>
                  <a:rPr lang="en-GB" dirty="0"/>
                  <a:t>Hoe </a:t>
                </a:r>
                <a:r>
                  <a:rPr lang="en-GB" dirty="0" err="1"/>
                  <a:t>gaan</a:t>
                </a:r>
                <a:r>
                  <a:rPr lang="en-GB" dirty="0"/>
                  <a:t> we </a:t>
                </a:r>
                <a:r>
                  <a:rPr lang="en-GB" dirty="0" err="1"/>
                  <a:t>verder</a:t>
                </a:r>
                <a:r>
                  <a:rPr lang="en-GB" dirty="0"/>
                  <a:t>?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𝑟</m:t>
                    </m:r>
                    <m:func>
                      <m:func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nl-BE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</m:oMath>
                </a14:m>
                <a:endParaRPr lang="nl-BE" b="0" dirty="0"/>
              </a:p>
              <a:p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=2</m:t>
                    </m:r>
                    <m:func>
                      <m:func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nl-BE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</m:oMath>
                </a14:m>
                <a:endParaRPr lang="en-GB" dirty="0"/>
              </a:p>
              <a:p>
                <a:r>
                  <a:rPr lang="en-GB" dirty="0"/>
                  <a:t>Wat </a:t>
                </a:r>
                <a:r>
                  <a:rPr lang="en-GB" dirty="0" err="1"/>
                  <a:t>zijn</a:t>
                </a:r>
                <a:r>
                  <a:rPr lang="en-GB" dirty="0"/>
                  <a:t> de </a:t>
                </a:r>
                <a:r>
                  <a:rPr lang="en-GB" dirty="0" err="1"/>
                  <a:t>waarden</a:t>
                </a:r>
                <a:r>
                  <a:rPr lang="en-GB" dirty="0"/>
                  <a:t> </a:t>
                </a:r>
                <a:r>
                  <a:rPr lang="en-GB" dirty="0" err="1"/>
                  <a:t>voor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dirty="0"/>
                  <a:t>? </a:t>
                </a:r>
              </a:p>
              <a:p>
                <a:r>
                  <a:rPr lang="en-GB" dirty="0" err="1"/>
                  <a:t>Normaal</a:t>
                </a:r>
                <a:r>
                  <a:rPr lang="en-GB" dirty="0"/>
                  <a:t> </a:t>
                </a:r>
                <a:r>
                  <a:rPr lang="en-GB" dirty="0" err="1"/>
                  <a:t>kiezen</a:t>
                </a:r>
                <a:r>
                  <a:rPr lang="en-GB" dirty="0"/>
                  <a:t> we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GB" dirty="0"/>
                  <a:t> zodat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GB" dirty="0"/>
                  <a:t>  </a:t>
                </a:r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0F917BD2-0DB2-1453-8DDF-95DEBAE03E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8777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DE6840-FDD2-2961-76A8-EFECDADEA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2.2c: Kant </a:t>
            </a:r>
            <a:r>
              <a:rPr lang="en-GB" dirty="0" err="1"/>
              <a:t>tekening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6C0EF0B3-CEA6-819C-C85A-8D37B75474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nl-BE" b="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+1−1+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GB" dirty="0"/>
              </a:p>
              <a:p>
                <a:r>
                  <a:rPr lang="en-GB" dirty="0"/>
                  <a:t>Dit is </a:t>
                </a:r>
                <a:r>
                  <a:rPr lang="en-GB" dirty="0" err="1"/>
                  <a:t>een</a:t>
                </a:r>
                <a:r>
                  <a:rPr lang="en-GB" dirty="0"/>
                  <a:t> </a:t>
                </a:r>
                <a:r>
                  <a:rPr lang="en-GB" dirty="0" err="1"/>
                  <a:t>cirkel</a:t>
                </a:r>
                <a:r>
                  <a:rPr lang="en-GB" dirty="0"/>
                  <a:t> met </a:t>
                </a:r>
                <a:r>
                  <a:rPr lang="en-GB" dirty="0" err="1"/>
                  <a:t>middelpunt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1,0</m:t>
                        </m:r>
                      </m:e>
                    </m:d>
                  </m:oMath>
                </a14:m>
                <a:r>
                  <a:rPr lang="en-GB" dirty="0"/>
                  <a:t> </a:t>
                </a:r>
                <a:r>
                  <a:rPr lang="en-GB" dirty="0" err="1"/>
                  <a:t>en</a:t>
                </a:r>
                <a:r>
                  <a:rPr lang="en-GB" dirty="0"/>
                  <a:t> </a:t>
                </a:r>
                <a:r>
                  <a:rPr lang="en-GB" dirty="0" err="1"/>
                  <a:t>straal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dirty="0"/>
                  <a:t>. 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func>
                          <m:func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func>
                        <m:func>
                          <m:func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func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,2</m:t>
                        </m:r>
                        <m:func>
                          <m:func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func>
                        <m:func>
                          <m:func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</m:fName>
                          <m:e>
                            <m:d>
                              <m:d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en-GB" dirty="0"/>
              </a:p>
              <a:p>
                <a:r>
                  <a:rPr lang="en-GB" dirty="0"/>
                  <a:t>Een </a:t>
                </a:r>
                <a:r>
                  <a:rPr lang="en-GB" dirty="0" err="1"/>
                  <a:t>andere</a:t>
                </a:r>
                <a:r>
                  <a:rPr lang="en-GB" dirty="0"/>
                  <a:t> </a:t>
                </a:r>
                <a:r>
                  <a:rPr lang="en-GB" dirty="0" err="1"/>
                  <a:t>parametrisatie</a:t>
                </a:r>
                <a:r>
                  <a:rPr lang="en-GB" dirty="0"/>
                  <a:t> </a:t>
                </a:r>
                <a:r>
                  <a:rPr lang="en-GB" dirty="0" err="1"/>
                  <a:t>kan</a:t>
                </a:r>
                <a:r>
                  <a:rPr lang="en-GB" dirty="0"/>
                  <a:t> de </a:t>
                </a:r>
                <a:r>
                  <a:rPr lang="en-GB" dirty="0" err="1"/>
                  <a:t>volgende</a:t>
                </a:r>
                <a:r>
                  <a:rPr lang="en-GB" dirty="0"/>
                  <a:t> </a:t>
                </a:r>
                <a:r>
                  <a:rPr lang="en-GB" dirty="0" err="1"/>
                  <a:t>zijn</a:t>
                </a:r>
                <a:r>
                  <a:rPr lang="en-GB" dirty="0"/>
                  <a:t>: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func>
                          <m:func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func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unc>
                          <m:func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0,2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6C0EF0B3-CEA6-819C-C85A-8D37B75474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Afbeelding 4">
            <a:extLst>
              <a:ext uri="{FF2B5EF4-FFF2-40B4-BE49-F238E27FC236}">
                <a16:creationId xmlns:a16="http://schemas.microsoft.com/office/drawing/2014/main" id="{950ADB7C-B4D0-D783-3743-848CB12D9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6080" y="257473"/>
            <a:ext cx="4055937" cy="3312566"/>
          </a:xfrm>
          <a:prstGeom prst="rect">
            <a:avLst/>
          </a:prstGeom>
        </p:spPr>
      </p:pic>
      <p:cxnSp>
        <p:nvCxnSpPr>
          <p:cNvPr id="7" name="Rechte verbindingslijn met pijl 6">
            <a:extLst>
              <a:ext uri="{FF2B5EF4-FFF2-40B4-BE49-F238E27FC236}">
                <a16:creationId xmlns:a16="http://schemas.microsoft.com/office/drawing/2014/main" id="{09C64D79-A255-0156-AD77-D68BE4C37B40}"/>
              </a:ext>
            </a:extLst>
          </p:cNvPr>
          <p:cNvCxnSpPr/>
          <p:nvPr/>
        </p:nvCxnSpPr>
        <p:spPr>
          <a:xfrm flipV="1">
            <a:off x="7701280" y="1198880"/>
            <a:ext cx="2580640" cy="701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kstvak 7">
                <a:extLst>
                  <a:ext uri="{FF2B5EF4-FFF2-40B4-BE49-F238E27FC236}">
                    <a16:creationId xmlns:a16="http://schemas.microsoft.com/office/drawing/2014/main" id="{889533A7-C29F-27E7-1942-6883743DB34A}"/>
                  </a:ext>
                </a:extLst>
              </p:cNvPr>
              <p:cNvSpPr txBox="1"/>
              <p:nvPr/>
            </p:nvSpPr>
            <p:spPr>
              <a:xfrm>
                <a:off x="8580986" y="1619657"/>
                <a:ext cx="1830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kstvak 7">
                <a:extLst>
                  <a:ext uri="{FF2B5EF4-FFF2-40B4-BE49-F238E27FC236}">
                    <a16:creationId xmlns:a16="http://schemas.microsoft.com/office/drawing/2014/main" id="{889533A7-C29F-27E7-1942-6883743DB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0986" y="1619657"/>
                <a:ext cx="183062" cy="276999"/>
              </a:xfrm>
              <a:prstGeom prst="rect">
                <a:avLst/>
              </a:prstGeom>
              <a:blipFill>
                <a:blip r:embed="rId4"/>
                <a:stretch>
                  <a:fillRect l="-33333" r="-26667"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Vrije vorm: vorm 8">
            <a:extLst>
              <a:ext uri="{FF2B5EF4-FFF2-40B4-BE49-F238E27FC236}">
                <a16:creationId xmlns:a16="http://schemas.microsoft.com/office/drawing/2014/main" id="{C94E5E45-F476-5931-7F03-3D93E33EEE28}"/>
              </a:ext>
            </a:extLst>
          </p:cNvPr>
          <p:cNvSpPr/>
          <p:nvPr/>
        </p:nvSpPr>
        <p:spPr>
          <a:xfrm>
            <a:off x="8392159" y="1706880"/>
            <a:ext cx="45719" cy="189776"/>
          </a:xfrm>
          <a:custGeom>
            <a:avLst/>
            <a:gdLst>
              <a:gd name="connsiteX0" fmla="*/ 0 w 30480"/>
              <a:gd name="connsiteY0" fmla="*/ 0 h 182880"/>
              <a:gd name="connsiteX1" fmla="*/ 30480 w 30480"/>
              <a:gd name="connsiteY1" fmla="*/ 182880 h 182880"/>
              <a:gd name="connsiteX2" fmla="*/ 0 w 30480"/>
              <a:gd name="connsiteY2" fmla="*/ 0 h 182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480" h="182880">
                <a:moveTo>
                  <a:pt x="0" y="0"/>
                </a:moveTo>
                <a:lnTo>
                  <a:pt x="30480" y="18288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0864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05468B-E692-9467-4F41-48146E1FA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Zoek </a:t>
            </a:r>
            <a:r>
              <a:rPr lang="en-GB" dirty="0" err="1"/>
              <a:t>vergelijking</a:t>
            </a:r>
            <a:r>
              <a:rPr lang="en-GB" dirty="0"/>
              <a:t> in </a:t>
            </a:r>
            <a:r>
              <a:rPr lang="en-GB" dirty="0" err="1"/>
              <a:t>poolcoordinaten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83E4BBD8-D246-2585-A9B5-06A2EEC8E4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16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+9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=25</m:t>
                    </m:r>
                  </m:oMath>
                </a14:m>
                <a:endParaRPr lang="nl-BE" b="0" dirty="0"/>
              </a:p>
              <a:p>
                <a:r>
                  <a:rPr lang="en-GB" dirty="0"/>
                  <a:t>Hoe </a:t>
                </a:r>
                <a:r>
                  <a:rPr lang="en-GB" dirty="0" err="1"/>
                  <a:t>moeten</a:t>
                </a:r>
                <a:r>
                  <a:rPr lang="en-GB" dirty="0"/>
                  <a:t> we </a:t>
                </a:r>
                <a:r>
                  <a:rPr lang="en-GB" dirty="0" err="1"/>
                  <a:t>verder</a:t>
                </a:r>
                <a:r>
                  <a:rPr lang="en-GB" dirty="0"/>
                  <a:t>?</a:t>
                </a:r>
              </a:p>
              <a:p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16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+9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=25</m:t>
                    </m:r>
                  </m:oMath>
                </a14:m>
                <a:endParaRPr lang="nl-BE" b="0" dirty="0"/>
              </a:p>
              <a:p>
                <a:r>
                  <a:rPr lang="nl-BE" dirty="0"/>
                  <a:t>Dit is een getransformeerde cirkel! </a:t>
                </a:r>
                <a:endParaRPr lang="nl-BE" b="0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func>
                          <m:func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func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,5</m:t>
                        </m:r>
                        <m:func>
                          <m:func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0,2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,3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func>
                          <m:func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func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func>
                          <m:func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m:rPr>
                        <m:nor/>
                      </m:rPr>
                      <a:rPr lang="en-GB" dirty="0"/>
                      <m:t>, 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0,2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endParaRPr lang="en-GB" dirty="0"/>
              </a:p>
              <a:p>
                <a:r>
                  <a:rPr lang="en-GB" dirty="0"/>
                  <a:t>Dit is </a:t>
                </a:r>
                <a:r>
                  <a:rPr lang="en-GB" dirty="0" err="1"/>
                  <a:t>een</a:t>
                </a:r>
                <a:r>
                  <a:rPr lang="en-GB" dirty="0"/>
                  <a:t> </a:t>
                </a:r>
                <a:r>
                  <a:rPr lang="en-GB" dirty="0" err="1"/>
                  <a:t>ellips</a:t>
                </a:r>
                <a:r>
                  <a:rPr lang="en-GB" dirty="0"/>
                  <a:t> met </a:t>
                </a:r>
                <a:r>
                  <a:rPr lang="en-GB" dirty="0" err="1"/>
                  <a:t>middelpunt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0,0</m:t>
                        </m:r>
                      </m:e>
                    </m:d>
                  </m:oMath>
                </a14:m>
                <a:r>
                  <a:rPr lang="en-GB" dirty="0"/>
                  <a:t>. </a:t>
                </a:r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83E4BBD8-D246-2585-A9B5-06A2EEC8E4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4961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912C56E-392F-1F62-D4D4-EF48955DB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5786"/>
            <a:ext cx="10515600" cy="5071177"/>
          </a:xfrm>
        </p:spPr>
        <p:txBody>
          <a:bodyPr/>
          <a:lstStyle/>
          <a:p>
            <a:r>
              <a:rPr lang="en-GB" dirty="0"/>
              <a:t>Kunnen op </a:t>
            </a:r>
            <a:r>
              <a:rPr lang="en-GB" dirty="0" err="1"/>
              <a:t>dezelfde</a:t>
            </a:r>
            <a:r>
              <a:rPr lang="en-GB" dirty="0"/>
              <a:t> </a:t>
            </a:r>
            <a:r>
              <a:rPr lang="en-GB" dirty="0" err="1"/>
              <a:t>manier</a:t>
            </a:r>
            <a:r>
              <a:rPr lang="en-GB" dirty="0"/>
              <a:t> </a:t>
            </a:r>
            <a:r>
              <a:rPr lang="en-GB" dirty="0" err="1"/>
              <a:t>geconstrueerd</a:t>
            </a:r>
            <a:r>
              <a:rPr lang="en-GB" dirty="0"/>
              <a:t> </a:t>
            </a:r>
            <a:r>
              <a:rPr lang="en-GB" dirty="0" err="1"/>
              <a:t>worden</a:t>
            </a:r>
            <a:r>
              <a:rPr lang="en-GB" dirty="0"/>
              <a:t>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B0F4FDDD-64E5-1AFA-8840-1C98904E860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67320" y="-29405"/>
                <a:ext cx="10515600" cy="1009651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GB" dirty="0"/>
                  <a:t>Krommen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B0F4FDDD-64E5-1AFA-8840-1C98904E86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7320" y="-29405"/>
                <a:ext cx="10515600" cy="1009651"/>
              </a:xfrm>
              <a:prstGeom prst="rect">
                <a:avLst/>
              </a:prstGeom>
              <a:blipFill>
                <a:blip r:embed="rId2"/>
                <a:stretch>
                  <a:fillRect l="-2319" t="-2410" b="-144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 4">
                <a:extLst>
                  <a:ext uri="{FF2B5EF4-FFF2-40B4-BE49-F238E27FC236}">
                    <a16:creationId xmlns:a16="http://schemas.microsoft.com/office/drawing/2014/main" id="{90BBD243-1848-96C6-F85B-A7DDAA28DE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3808162"/>
                  </p:ext>
                </p:extLst>
              </p:nvPr>
            </p:nvGraphicFramePr>
            <p:xfrm>
              <a:off x="838200" y="1644872"/>
              <a:ext cx="11123428" cy="3108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25813">
                      <a:extLst>
                        <a:ext uri="{9D8B030D-6E8A-4147-A177-3AD203B41FA5}">
                          <a16:colId xmlns:a16="http://schemas.microsoft.com/office/drawing/2014/main" val="2865578729"/>
                        </a:ext>
                      </a:extLst>
                    </a:gridCol>
                    <a:gridCol w="6297615">
                      <a:extLst>
                        <a:ext uri="{9D8B030D-6E8A-4147-A177-3AD203B41FA5}">
                          <a16:colId xmlns:a16="http://schemas.microsoft.com/office/drawing/2014/main" val="3509924247"/>
                        </a:ext>
                      </a:extLst>
                    </a:gridCol>
                  </a:tblGrid>
                  <a:tr h="348687">
                    <a:tc>
                      <a:txBody>
                        <a:bodyPr/>
                        <a:lstStyle/>
                        <a:p>
                          <a:r>
                            <a:rPr lang="en-GB" sz="2400" dirty="0" err="1"/>
                            <a:t>Impliciet</a:t>
                          </a:r>
                          <a:endParaRPr lang="en-GB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 err="1"/>
                            <a:t>Parametervorm</a:t>
                          </a:r>
                          <a:endParaRPr lang="en-GB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5118889"/>
                      </a:ext>
                    </a:extLst>
                  </a:tr>
                  <a:tr h="181289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BE" sz="24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nl-BE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BE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nl-BE" sz="2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nl-BE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nl-BE" sz="2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nl-BE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d>
                                <m:r>
                                  <a:rPr lang="nl-BE" sz="2400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nl-BE" sz="2400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BE" sz="2400" b="0" i="1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  <m:d>
                                  <m:dPr>
                                    <m:ctrlPr>
                                      <a:rPr lang="nl-BE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BE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nl-BE" sz="2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nl-BE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nl-BE" sz="2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nl-BE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d>
                                <m:r>
                                  <a:rPr lang="nl-BE" sz="2400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nl-BE" sz="2400" b="0" dirty="0"/>
                        </a:p>
                        <a:p>
                          <a:endParaRPr lang="en-GB" sz="2400" b="0" i="0" dirty="0">
                            <a:latin typeface="+mn-lt"/>
                          </a:endParaRPr>
                        </a:p>
                        <a:p>
                          <a:pPr marL="342900" indent="-34290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GB" sz="2400" b="0" i="0" dirty="0">
                              <a:latin typeface="+mn-lt"/>
                            </a:rPr>
                            <a:t>Als </a:t>
                          </a:r>
                          <a:r>
                            <a:rPr lang="en-GB" sz="2400" b="0" i="0" dirty="0" err="1">
                              <a:latin typeface="+mn-lt"/>
                            </a:rPr>
                            <a:t>snijpunt</a:t>
                          </a:r>
                          <a:r>
                            <a:rPr lang="en-GB" sz="2400" b="0" i="0" dirty="0">
                              <a:latin typeface="+mn-lt"/>
                            </a:rPr>
                            <a:t> </a:t>
                          </a:r>
                          <a:r>
                            <a:rPr lang="en-GB" sz="2400" b="0" i="0" dirty="0" err="1">
                              <a:latin typeface="+mn-lt"/>
                            </a:rPr>
                            <a:t>tussen</a:t>
                          </a:r>
                          <a:r>
                            <a:rPr lang="en-GB" sz="2400" b="0" i="0" dirty="0">
                              <a:latin typeface="+mn-lt"/>
                            </a:rPr>
                            <a:t> twee </a:t>
                          </a:r>
                          <a:r>
                            <a:rPr lang="en-GB" sz="2400" b="0" i="0" dirty="0" err="1">
                              <a:latin typeface="+mn-lt"/>
                            </a:rPr>
                            <a:t>oppervlakken</a:t>
                          </a:r>
                          <a:r>
                            <a:rPr lang="en-GB" sz="2400" b="0" i="0" dirty="0">
                              <a:latin typeface="+mn-lt"/>
                            </a:rPr>
                            <a:t> in 3D</a:t>
                          </a:r>
                        </a:p>
                        <a:p>
                          <a:pPr marL="342900" indent="-342900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nl-BE" sz="2400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GB" sz="2400" b="0" i="0" dirty="0">
                            <a:latin typeface="+mn-lt"/>
                          </a:endParaRPr>
                        </a:p>
                        <a:p>
                          <a:endParaRPr lang="en-GB" sz="2400" b="0" i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nl-BE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BE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nl-BE" sz="2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nl-BE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nl-BE" sz="2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nl-BE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d>
                                <m:r>
                                  <a:rPr lang="nl-BE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nl-BE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nl-BE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nl-BE" sz="2400" b="0" i="1" smtClean="0">
                                            <a:latin typeface="Cambria Math" panose="02040503050406030204" pitchFamily="18" charset="0"/>
                                          </a:rPr>
                                          <m:t>𝛾</m:t>
                                        </m:r>
                                      </m:e>
                                      <m:sub>
                                        <m:r>
                                          <a:rPr lang="nl-BE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nl-BE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nl-BE" sz="24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  <m:r>
                                      <a:rPr lang="nl-BE" sz="2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nl-BE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nl-BE" sz="2400" b="0" i="1" smtClean="0">
                                            <a:latin typeface="Cambria Math" panose="02040503050406030204" pitchFamily="18" charset="0"/>
                                          </a:rPr>
                                          <m:t>𝛾</m:t>
                                        </m:r>
                                      </m:e>
                                      <m:sub>
                                        <m:r>
                                          <a:rPr lang="nl-BE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nl-BE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nl-BE" sz="24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  <m:r>
                                      <a:rPr lang="nl-BE" sz="2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nl-BE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nl-BE" sz="2400" b="0" i="1" smtClean="0">
                                            <a:latin typeface="Cambria Math" panose="02040503050406030204" pitchFamily="18" charset="0"/>
                                          </a:rPr>
                                          <m:t>𝛾</m:t>
                                        </m:r>
                                      </m:e>
                                      <m:sub>
                                        <m:r>
                                          <a:rPr lang="nl-BE" sz="24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nl-BE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nl-BE" sz="24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nl-BE" sz="24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BE" sz="2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nl-BE" sz="2400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nl-BE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BE" sz="2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nl-BE" sz="2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nl-BE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 sz="2400" dirty="0"/>
                        </a:p>
                        <a:p>
                          <a:endParaRPr lang="en-GB" sz="2400" dirty="0"/>
                        </a:p>
                        <a:p>
                          <a:pPr marL="342900" indent="-34290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GB" sz="2400" dirty="0"/>
                            <a:t>Helix: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nl-BE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nl-BE" sz="2400" b="0" i="0" smtClean="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nl-BE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nl-BE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e>
                                  </m:func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func>
                                    <m:funcPr>
                                      <m:ctrlPr>
                                        <a:rPr lang="nl-BE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nl-BE" sz="2400" b="0" i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nl-BE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nl-BE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e>
                                  </m:func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oMath>
                          </a14:m>
                          <a:endParaRPr lang="nl-BE" sz="24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342900" indent="-342900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∈[0,8</m:t>
                              </m:r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GB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3648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 4">
                <a:extLst>
                  <a:ext uri="{FF2B5EF4-FFF2-40B4-BE49-F238E27FC236}">
                    <a16:creationId xmlns:a16="http://schemas.microsoft.com/office/drawing/2014/main" id="{90BBD243-1848-96C6-F85B-A7DDAA28DE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3808162"/>
                  </p:ext>
                </p:extLst>
              </p:nvPr>
            </p:nvGraphicFramePr>
            <p:xfrm>
              <a:off x="838200" y="1644872"/>
              <a:ext cx="11123428" cy="3108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25813">
                      <a:extLst>
                        <a:ext uri="{9D8B030D-6E8A-4147-A177-3AD203B41FA5}">
                          <a16:colId xmlns:a16="http://schemas.microsoft.com/office/drawing/2014/main" val="2865578729"/>
                        </a:ext>
                      </a:extLst>
                    </a:gridCol>
                    <a:gridCol w="6297615">
                      <a:extLst>
                        <a:ext uri="{9D8B030D-6E8A-4147-A177-3AD203B41FA5}">
                          <a16:colId xmlns:a16="http://schemas.microsoft.com/office/drawing/2014/main" val="3509924247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GB" sz="2400" dirty="0" err="1"/>
                            <a:t>Impliciet</a:t>
                          </a:r>
                          <a:endParaRPr lang="en-GB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 err="1"/>
                            <a:t>Parametervorm</a:t>
                          </a:r>
                          <a:endParaRPr lang="en-GB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5118889"/>
                      </a:ext>
                    </a:extLst>
                  </a:tr>
                  <a:tr h="2651760">
                    <a:tc>
                      <a:txBody>
                        <a:bodyPr/>
                        <a:lstStyle/>
                        <a:p>
                          <a:endParaRPr lang="nl-BE"/>
                        </a:p>
                      </a:txBody>
                      <a:tcPr>
                        <a:blipFill>
                          <a:blip r:embed="rId3"/>
                          <a:stretch>
                            <a:fillRect l="-126" t="-18807" r="-131061" b="-4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BE"/>
                        </a:p>
                      </a:txBody>
                      <a:tcPr>
                        <a:blipFill>
                          <a:blip r:embed="rId3"/>
                          <a:stretch>
                            <a:fillRect l="-76692" t="-18807" r="-387" b="-4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436487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Afbeelding 6">
            <a:extLst>
              <a:ext uri="{FF2B5EF4-FFF2-40B4-BE49-F238E27FC236}">
                <a16:creationId xmlns:a16="http://schemas.microsoft.com/office/drawing/2014/main" id="{87EBBAF5-3A1B-BDDA-AF35-B8B922F09E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2117976"/>
            <a:ext cx="4828953" cy="4140755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E5719D0F-F1F7-9918-C9F2-06A905F5C4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7152" y="2117976"/>
            <a:ext cx="5240109" cy="439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576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C22211-4665-9258-F385-AFD7F4C1E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Cöordinatenstelsels</a:t>
            </a:r>
            <a:endParaRPr lang="en-GB" dirty="0"/>
          </a:p>
        </p:txBody>
      </p:sp>
      <p:sp>
        <p:nvSpPr>
          <p:cNvPr id="15" name="Tijdelijke aanduiding voor inhoud 14">
            <a:extLst>
              <a:ext uri="{FF2B5EF4-FFF2-40B4-BE49-F238E27FC236}">
                <a16:creationId xmlns:a16="http://schemas.microsoft.com/office/drawing/2014/main" id="{9E4F3BCF-2E40-CA06-69B3-39CC40ADE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1241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E9551-2451-0DA7-491E-561646605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34E6C8-3E3D-F842-7D53-02C23AAFC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Cöordinatenstelsels</a:t>
            </a:r>
            <a:r>
              <a:rPr lang="en-GB" dirty="0"/>
              <a:t>: </a:t>
            </a:r>
            <a:r>
              <a:rPr lang="en-GB" dirty="0" err="1"/>
              <a:t>Oefening</a:t>
            </a:r>
            <a:r>
              <a:rPr lang="en-GB" dirty="0"/>
              <a:t> 2.3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ijdelijke aanduiding voor inhoud 14">
                <a:extLst>
                  <a:ext uri="{FF2B5EF4-FFF2-40B4-BE49-F238E27FC236}">
                    <a16:creationId xmlns:a16="http://schemas.microsoft.com/office/drawing/2014/main" id="{BCFD0F2C-B488-69EC-8204-90F1AD6E2B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nl-BE" b="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nl-BE" b="0" i="1" dirty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15" name="Tijdelijke aanduiding voor inhoud 14">
                <a:extLst>
                  <a:ext uri="{FF2B5EF4-FFF2-40B4-BE49-F238E27FC236}">
                    <a16:creationId xmlns:a16="http://schemas.microsoft.com/office/drawing/2014/main" id="{BCFD0F2C-B488-69EC-8204-90F1AD6E2B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3515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DED595-CD68-02DC-8D5A-A5245F249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Oefeningen</a:t>
            </a:r>
            <a:endParaRPr lang="en-GB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BF421DA-3B48-9A9D-4D26-D31B14968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2.2f</a:t>
            </a:r>
          </a:p>
          <a:p>
            <a:r>
              <a:rPr lang="en-GB" dirty="0"/>
              <a:t>2.9</a:t>
            </a:r>
          </a:p>
          <a:p>
            <a:r>
              <a:rPr lang="en-GB" dirty="0"/>
              <a:t>2.11a</a:t>
            </a:r>
          </a:p>
          <a:p>
            <a:r>
              <a:rPr lang="en-GB" dirty="0"/>
              <a:t>2.15</a:t>
            </a:r>
          </a:p>
          <a:p>
            <a:r>
              <a:rPr lang="en-GB" dirty="0"/>
              <a:t>2.21</a:t>
            </a:r>
          </a:p>
          <a:p>
            <a:r>
              <a:rPr lang="en-GB" dirty="0"/>
              <a:t>2.30a</a:t>
            </a:r>
          </a:p>
        </p:txBody>
      </p:sp>
    </p:spTree>
    <p:extLst>
      <p:ext uri="{BB962C8B-B14F-4D97-AF65-F5344CB8AC3E}">
        <p14:creationId xmlns:p14="http://schemas.microsoft.com/office/powerpoint/2010/main" val="358854208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452</Words>
  <Application>Microsoft Office PowerPoint</Application>
  <PresentationFormat>Breedbeeld</PresentationFormat>
  <Paragraphs>101</Paragraphs>
  <Slides>13</Slides>
  <Notes>0</Notes>
  <HiddenSlides>0</HiddenSlides>
  <MMClips>1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Wingdings</vt:lpstr>
      <vt:lpstr>Kantoorthema</vt:lpstr>
      <vt:lpstr>Analyse I, Oefenzitting 2</vt:lpstr>
      <vt:lpstr>Vorige Oefenzitting</vt:lpstr>
      <vt:lpstr>PowerPoint-presentatie</vt:lpstr>
      <vt:lpstr>Krommen in R^2</vt:lpstr>
      <vt:lpstr>Hoe van de ene voorstelling naar de andere?</vt:lpstr>
      <vt:lpstr>Polaire coördinaten</vt:lpstr>
      <vt:lpstr>2.2c: Zoek vergelijking in poolcoordinaten</vt:lpstr>
      <vt:lpstr>2.2c: Kant tekening</vt:lpstr>
      <vt:lpstr>Zoek vergelijking in poolcoordinaten</vt:lpstr>
      <vt:lpstr>PowerPoint-presentatie</vt:lpstr>
      <vt:lpstr>Cöordinatenstelsels</vt:lpstr>
      <vt:lpstr>Cöordinatenstelsels: Oefening 2.3</vt:lpstr>
      <vt:lpstr>Oefeningen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Visterin</dc:creator>
  <cp:lastModifiedBy>Visterin</cp:lastModifiedBy>
  <cp:revision>81</cp:revision>
  <dcterms:created xsi:type="dcterms:W3CDTF">2025-10-14T07:44:10Z</dcterms:created>
  <dcterms:modified xsi:type="dcterms:W3CDTF">2025-11-13T15:43:56Z</dcterms:modified>
</cp:coreProperties>
</file>