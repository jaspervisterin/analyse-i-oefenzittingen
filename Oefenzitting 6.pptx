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7" r:id="rId2"/>
    <p:sldId id="279" r:id="rId3"/>
    <p:sldId id="283" r:id="rId4"/>
    <p:sldId id="289" r:id="rId5"/>
    <p:sldId id="280" r:id="rId6"/>
    <p:sldId id="284" r:id="rId7"/>
    <p:sldId id="290" r:id="rId8"/>
    <p:sldId id="285" r:id="rId9"/>
    <p:sldId id="291" r:id="rId10"/>
    <p:sldId id="292" r:id="rId11"/>
    <p:sldId id="302" r:id="rId12"/>
    <p:sldId id="286" r:id="rId13"/>
    <p:sldId id="293" r:id="rId14"/>
    <p:sldId id="294" r:id="rId15"/>
    <p:sldId id="295" r:id="rId16"/>
    <p:sldId id="287" r:id="rId17"/>
    <p:sldId id="317" r:id="rId18"/>
    <p:sldId id="288" r:id="rId19"/>
    <p:sldId id="278" r:id="rId20"/>
    <p:sldId id="258" r:id="rId21"/>
    <p:sldId id="305" r:id="rId22"/>
    <p:sldId id="306" r:id="rId23"/>
    <p:sldId id="307" r:id="rId24"/>
    <p:sldId id="308" r:id="rId25"/>
    <p:sldId id="309" r:id="rId26"/>
    <p:sldId id="321" r:id="rId27"/>
    <p:sldId id="296" r:id="rId28"/>
    <p:sldId id="301" r:id="rId29"/>
    <p:sldId id="320" r:id="rId30"/>
    <p:sldId id="297" r:id="rId31"/>
    <p:sldId id="298" r:id="rId32"/>
    <p:sldId id="299" r:id="rId33"/>
    <p:sldId id="300" r:id="rId34"/>
    <p:sldId id="311" r:id="rId35"/>
    <p:sldId id="312" r:id="rId36"/>
    <p:sldId id="314" r:id="rId37"/>
    <p:sldId id="315" r:id="rId38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1T17:32:44.420"/>
    </inkml:context>
    <inkml:brush xml:id="br0">
      <inkml:brushProperty name="width" value="0.1" units="cm"/>
      <inkml:brushProperty name="height" value="0.2" units="cm"/>
      <inkml:brushProperty name="color" value="#059FAB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0,'33'29,"-24"-22,-1 1,1 0,-1 0,-1 0,9 12,-10-9,1 0,-2 1,1-1,-2 1,0 0,3 13,0 7,1 36,-5-46,2 0,0-1,13 31,0 1,-10-29,2 0,1 0,2-1,0-1,19 26,-4-4,-2 1,39 94,-32-74,-24-49,0 0,-2 1,0 0,7 23,-8-18,2 0,0-1,16 29,-7-16,41 117,-28-69,-22-55,16 33,-2-11,45 83,-54-110,1 0,2-1,30 33,-2-3,-33-37,0 0,2-1,-1-1,22 17,73 55,-60-46,79 80,-91-84,110 113,-12-11,-113-116,-2 2,0 0,26 43,15 19,-12-20,-35-46,1-1,0 0,1 0,0-2,1 0,1 0,24 16,126 82,-138-97,0-1,44 16,-45-20,-1 0,-1 1,40 27,-37-21,1-1,0-2,37 15,42 21,-88-39,1-2,0 0,30 9,-20-7,-1 1,0 1,-1 2,39 28,-42-27,2-1,0-1,0-2,39 13,-34-17,55 9,-54-13,56 17,-65-15,35 6,-38-9,0 0,35 13,48 22,-80-31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0F4FD-F267-40B3-9A69-A8DD38E77D27}" type="datetimeFigureOut">
              <a:rPr lang="nl-BE" smtClean="0"/>
              <a:t>25/11/2025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A76DD3-C752-4F32-A067-0B606638A89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11614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23A2B-3A7C-4F06-8B68-513F80AFACE2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32286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A474D3-8000-A641-A44C-651E2CBE2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70C9D0E-C3FA-8EE6-F4C4-072EC00773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47E538F-5698-0323-4354-833DF1B5D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25/11/2025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B2489E1-3E4E-23C0-A775-CFA227608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CD2F767-0228-D418-DC5B-5FA84FA21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06258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1F411E-944D-0C09-CBBE-B48A201CC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87FF456-7144-B2E2-96C3-36E077F50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8D25FE2-2A77-DF29-3FAE-D06F0C411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25/11/2025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A2CF12-D46A-53CB-3596-E9468A085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B87FA52-6EF7-00C3-96F4-52A36AE2C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76947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D18425-35DB-A9CC-4C0C-18DC9BE97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FCD2139-D674-3917-14DF-5C78DCA7F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7A62731-583A-9D58-001B-658AFAEB8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25/11/2025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3BE8D01-988B-D2DE-B44D-0172D54EC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F60818C-7FDD-6948-5EB6-9A7B18B2D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77608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53F62-7DB9-2CA8-9939-3ED71F35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EA3CE89-68DD-4D52-B9F3-FECA562CF5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752B134-53FC-8290-4B9E-E11165015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5B78C45-0BF6-1696-E3FF-FD870314B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25/11/2025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BBCD7BA-9A5D-B074-CAC0-C66D47D44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AC1274D-3E33-4C8E-D946-4A575AF0A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94450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D615F2-B4B9-D7FA-4A29-A3F83F73B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E55A68E-156B-4910-1B6E-72AA0F939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4E9EF17-8497-63E0-85D5-32E8BF3D4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96E9596-03B5-0FCB-300F-B660CDF5A9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02892471-FCEA-B067-DEB7-BC4A34F94A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E0A9F16A-A054-3285-DC84-FC2BC2DA2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25/11/2025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EA7737A5-7060-2B0B-D559-6115DCC89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043411BC-638E-2EA7-8F25-EEF786F10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61555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025259-940A-0ACC-3002-2B1CBD327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8A359C84-DA78-0CE9-4562-BF9FF69BB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25/11/2025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C66A80F-9457-97BF-757C-4210FD2AF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B4BCCEA-FC0A-9081-C31A-E0978733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5409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1FF45966-1247-B468-96C0-3F694BBA5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25/11/2025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08B60F55-473F-DC3F-F57A-CB055C220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84EA2AB-F2A0-FB0B-6A0F-129E2B1BF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19062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58034F-F2AF-B40A-3E58-E93247A18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C85F0D6-2DD6-4A91-4695-660953A8E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3458C20-3C7F-CC68-5F82-E5F4ED3FA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F1F7419-3F23-A5E9-13C9-AB9C505DA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25/11/2025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99CB874-36BD-A521-90E4-E7D907A24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8DA60FA-6C56-A037-8F4F-5232E2C06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7023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3025A8-8F47-71AA-5E56-8FF65717F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3715414C-D39D-6E8E-404D-0391790ACE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989E620-94AB-5510-4BEA-4D8D7641B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88CBDFB-CD7E-B7D4-6288-E99C41EE8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25/11/2025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DA5E9C4-DB22-9B87-FB52-8EFACE284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FC2BD86-4CB7-C698-BFBC-2B1A66C10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82945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D5BC49-DE12-DD73-DA2E-99B55D944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1B9C974-A11C-8572-0562-076FF3D9AF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33807FE-FFCF-9EEA-ADD0-DCF909FE2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25/11/2025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9EE7C86-A825-9AB0-911B-6F987933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20BEFE2-BF03-826B-CF2C-36E375846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32540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D9575ABB-6A57-C0EF-CBCA-35698086A0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0A2FE3B-CC0E-5E21-8F65-96D339B9A5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2E74237-2DF2-F8B0-FBF1-AD49B61EE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25/11/2025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5070088-D9DB-59A1-B7B7-E077CA6EC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C1D32A5-2E57-0B57-7A60-0524EF2D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87659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B47F9C21-3E07-D0D7-862E-492D900CC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991D335-C39D-F325-0D4E-CF72C86E2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86CD6A3-9D67-60CA-1821-4941B3442B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216C08-D9A6-4DE6-A730-E89D3605CC03}" type="datetimeFigureOut">
              <a:rPr lang="nl-BE" smtClean="0"/>
              <a:t>25/11/2025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94C6036-882F-1530-4726-877B1845F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C44C185-8E0F-6028-D2F5-91B7CAB383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73170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customXml" Target="../ink/ink1.xml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46EDDA-160F-ACC8-BAA8-BE329F21F3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Analyse I, </a:t>
            </a:r>
            <a:r>
              <a:rPr lang="en-GB" dirty="0" err="1"/>
              <a:t>Oefenzitting</a:t>
            </a:r>
            <a:r>
              <a:rPr lang="en-GB" dirty="0"/>
              <a:t> 6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AC92F39-0B86-45D7-CF47-7DB5F5D0CB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Jasper.Visterin@kuleuven.be</a:t>
            </a:r>
          </a:p>
        </p:txBody>
      </p:sp>
    </p:spTree>
    <p:extLst>
      <p:ext uri="{BB962C8B-B14F-4D97-AF65-F5344CB8AC3E}">
        <p14:creationId xmlns:p14="http://schemas.microsoft.com/office/powerpoint/2010/main" val="2146910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501090-73F2-D3B8-DA03-4340D8C35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7800"/>
            <a:ext cx="10515600" cy="1325563"/>
          </a:xfrm>
        </p:spPr>
        <p:txBody>
          <a:bodyPr/>
          <a:lstStyle/>
          <a:p>
            <a:r>
              <a:rPr lang="nl-BE" dirty="0"/>
              <a:t>Inleiding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C63CB02B-6077-F29E-946D-68189827CB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06475"/>
                <a:ext cx="10515600" cy="4351338"/>
              </a:xfrm>
            </p:spPr>
            <p:txBody>
              <a:bodyPr/>
              <a:lstStyle/>
              <a:p>
                <a:r>
                  <a:rPr lang="nl-BE" dirty="0"/>
                  <a:t>Een begrensde functie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nl-BE" dirty="0"/>
                  <a:t> is </a:t>
                </a:r>
                <a:r>
                  <a:rPr lang="nl-BE" dirty="0" err="1"/>
                  <a:t>integreerbaar</a:t>
                </a:r>
                <a:r>
                  <a:rPr lang="nl-BE" dirty="0"/>
                  <a:t> op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nl-BE" dirty="0"/>
                  <a:t> zolang deze een eindig aantal discontinuïteiten heeft</a:t>
                </a:r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C63CB02B-6077-F29E-946D-68189827CB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06475"/>
                <a:ext cx="10515600" cy="4351338"/>
              </a:xfrm>
              <a:blipFill>
                <a:blip r:embed="rId2"/>
                <a:stretch>
                  <a:fillRect l="-1043" t="-2381" r="-812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Rechte verbindingslijn met pijl 4">
            <a:extLst>
              <a:ext uri="{FF2B5EF4-FFF2-40B4-BE49-F238E27FC236}">
                <a16:creationId xmlns:a16="http://schemas.microsoft.com/office/drawing/2014/main" id="{92EBCC34-C1E8-D703-77D9-E236CCC2EF1F}"/>
              </a:ext>
            </a:extLst>
          </p:cNvPr>
          <p:cNvCxnSpPr>
            <a:cxnSpLocks/>
          </p:cNvCxnSpPr>
          <p:nvPr/>
        </p:nvCxnSpPr>
        <p:spPr>
          <a:xfrm>
            <a:off x="2143760" y="4805680"/>
            <a:ext cx="96215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chte verbindingslijn met pijl 5">
            <a:extLst>
              <a:ext uri="{FF2B5EF4-FFF2-40B4-BE49-F238E27FC236}">
                <a16:creationId xmlns:a16="http://schemas.microsoft.com/office/drawing/2014/main" id="{4B7DD15D-D42B-E403-AF52-03E046265542}"/>
              </a:ext>
            </a:extLst>
          </p:cNvPr>
          <p:cNvCxnSpPr>
            <a:cxnSpLocks/>
          </p:cNvCxnSpPr>
          <p:nvPr/>
        </p:nvCxnSpPr>
        <p:spPr>
          <a:xfrm flipV="1">
            <a:off x="2296160" y="2032000"/>
            <a:ext cx="0" cy="2926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rije vorm: vorm 8">
            <a:extLst>
              <a:ext uri="{FF2B5EF4-FFF2-40B4-BE49-F238E27FC236}">
                <a16:creationId xmlns:a16="http://schemas.microsoft.com/office/drawing/2014/main" id="{AB4A89FC-DB3D-2A1F-1930-044069780C0F}"/>
              </a:ext>
            </a:extLst>
          </p:cNvPr>
          <p:cNvSpPr/>
          <p:nvPr/>
        </p:nvSpPr>
        <p:spPr>
          <a:xfrm>
            <a:off x="1239520" y="2590491"/>
            <a:ext cx="3698239" cy="1939566"/>
          </a:xfrm>
          <a:custGeom>
            <a:avLst/>
            <a:gdLst>
              <a:gd name="connsiteX0" fmla="*/ 0 w 5781040"/>
              <a:gd name="connsiteY0" fmla="*/ 1219509 h 1939566"/>
              <a:gd name="connsiteX1" fmla="*/ 3312160 w 5781040"/>
              <a:gd name="connsiteY1" fmla="*/ 10469 h 1939566"/>
              <a:gd name="connsiteX2" fmla="*/ 4937760 w 5781040"/>
              <a:gd name="connsiteY2" fmla="*/ 1829109 h 1939566"/>
              <a:gd name="connsiteX3" fmla="*/ 5781040 w 5781040"/>
              <a:gd name="connsiteY3" fmla="*/ 1707189 h 1939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81040" h="1939566">
                <a:moveTo>
                  <a:pt x="0" y="1219509"/>
                </a:moveTo>
                <a:cubicBezTo>
                  <a:pt x="1244600" y="564189"/>
                  <a:pt x="2489200" y="-91131"/>
                  <a:pt x="3312160" y="10469"/>
                </a:cubicBezTo>
                <a:cubicBezTo>
                  <a:pt x="4135120" y="112069"/>
                  <a:pt x="4526280" y="1546322"/>
                  <a:pt x="4937760" y="1829109"/>
                </a:cubicBezTo>
                <a:cubicBezTo>
                  <a:pt x="5349240" y="2111896"/>
                  <a:pt x="5596467" y="1769842"/>
                  <a:pt x="5781040" y="170718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3" name="Vrije vorm: vorm 12">
            <a:extLst>
              <a:ext uri="{FF2B5EF4-FFF2-40B4-BE49-F238E27FC236}">
                <a16:creationId xmlns:a16="http://schemas.microsoft.com/office/drawing/2014/main" id="{2D8D2084-986E-7533-0002-F4F07DFD6239}"/>
              </a:ext>
            </a:extLst>
          </p:cNvPr>
          <p:cNvSpPr/>
          <p:nvPr/>
        </p:nvSpPr>
        <p:spPr>
          <a:xfrm>
            <a:off x="4937760" y="2630253"/>
            <a:ext cx="1808480" cy="590467"/>
          </a:xfrm>
          <a:custGeom>
            <a:avLst/>
            <a:gdLst>
              <a:gd name="connsiteX0" fmla="*/ 0 w 1808480"/>
              <a:gd name="connsiteY0" fmla="*/ 590467 h 590467"/>
              <a:gd name="connsiteX1" fmla="*/ 772160 w 1808480"/>
              <a:gd name="connsiteY1" fmla="*/ 1187 h 590467"/>
              <a:gd name="connsiteX2" fmla="*/ 1808480 w 1808480"/>
              <a:gd name="connsiteY2" fmla="*/ 468547 h 590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08480" h="590467">
                <a:moveTo>
                  <a:pt x="0" y="590467"/>
                </a:moveTo>
                <a:cubicBezTo>
                  <a:pt x="235373" y="305987"/>
                  <a:pt x="470747" y="21507"/>
                  <a:pt x="772160" y="1187"/>
                </a:cubicBezTo>
                <a:cubicBezTo>
                  <a:pt x="1073573" y="-19133"/>
                  <a:pt x="1441026" y="224707"/>
                  <a:pt x="1808480" y="46854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FE56516D-6067-2E3C-667F-F4BB77BFD1E3}"/>
              </a:ext>
            </a:extLst>
          </p:cNvPr>
          <p:cNvSpPr/>
          <p:nvPr/>
        </p:nvSpPr>
        <p:spPr>
          <a:xfrm>
            <a:off x="6766560" y="2540000"/>
            <a:ext cx="3931920" cy="1581778"/>
          </a:xfrm>
          <a:custGeom>
            <a:avLst/>
            <a:gdLst>
              <a:gd name="connsiteX0" fmla="*/ 0 w 3931920"/>
              <a:gd name="connsiteY0" fmla="*/ 1178560 h 1581778"/>
              <a:gd name="connsiteX1" fmla="*/ 2032000 w 3931920"/>
              <a:gd name="connsiteY1" fmla="*/ 1513840 h 1581778"/>
              <a:gd name="connsiteX2" fmla="*/ 3931920 w 3931920"/>
              <a:gd name="connsiteY2" fmla="*/ 0 h 1581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31920" h="1581778">
                <a:moveTo>
                  <a:pt x="0" y="1178560"/>
                </a:moveTo>
                <a:cubicBezTo>
                  <a:pt x="688340" y="1444413"/>
                  <a:pt x="1376680" y="1710267"/>
                  <a:pt x="2032000" y="1513840"/>
                </a:cubicBezTo>
                <a:cubicBezTo>
                  <a:pt x="2687320" y="1317413"/>
                  <a:pt x="3309620" y="658706"/>
                  <a:pt x="393192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6" name="Rechte verbindingslijn 15">
            <a:extLst>
              <a:ext uri="{FF2B5EF4-FFF2-40B4-BE49-F238E27FC236}">
                <a16:creationId xmlns:a16="http://schemas.microsoft.com/office/drawing/2014/main" id="{F0185DD7-9A88-F5F2-A675-9D0EB481629E}"/>
              </a:ext>
            </a:extLst>
          </p:cNvPr>
          <p:cNvCxnSpPr/>
          <p:nvPr/>
        </p:nvCxnSpPr>
        <p:spPr>
          <a:xfrm>
            <a:off x="2672080" y="2763520"/>
            <a:ext cx="0" cy="204216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Rechte verbindingslijn 16">
            <a:extLst>
              <a:ext uri="{FF2B5EF4-FFF2-40B4-BE49-F238E27FC236}">
                <a16:creationId xmlns:a16="http://schemas.microsoft.com/office/drawing/2014/main" id="{816A82F7-91AA-11D1-1080-CAE75AB210F6}"/>
              </a:ext>
            </a:extLst>
          </p:cNvPr>
          <p:cNvCxnSpPr/>
          <p:nvPr/>
        </p:nvCxnSpPr>
        <p:spPr>
          <a:xfrm>
            <a:off x="10525760" y="2763520"/>
            <a:ext cx="0" cy="204216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Rechte verbindingslijn 17">
            <a:extLst>
              <a:ext uri="{FF2B5EF4-FFF2-40B4-BE49-F238E27FC236}">
                <a16:creationId xmlns:a16="http://schemas.microsoft.com/office/drawing/2014/main" id="{15CEFE57-04A4-3279-0576-3F97443A3E36}"/>
              </a:ext>
            </a:extLst>
          </p:cNvPr>
          <p:cNvCxnSpPr>
            <a:cxnSpLocks/>
            <a:stCxn id="13" idx="0"/>
          </p:cNvCxnSpPr>
          <p:nvPr/>
        </p:nvCxnSpPr>
        <p:spPr>
          <a:xfrm>
            <a:off x="4937760" y="3220720"/>
            <a:ext cx="0" cy="15817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Rechte verbindingslijn 20">
            <a:extLst>
              <a:ext uri="{FF2B5EF4-FFF2-40B4-BE49-F238E27FC236}">
                <a16:creationId xmlns:a16="http://schemas.microsoft.com/office/drawing/2014/main" id="{236191C1-91B6-89DB-CB4E-E649C8370F6F}"/>
              </a:ext>
            </a:extLst>
          </p:cNvPr>
          <p:cNvCxnSpPr>
            <a:cxnSpLocks/>
          </p:cNvCxnSpPr>
          <p:nvPr/>
        </p:nvCxnSpPr>
        <p:spPr>
          <a:xfrm>
            <a:off x="6746240" y="3108960"/>
            <a:ext cx="0" cy="169353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kstvak 36">
                <a:extLst>
                  <a:ext uri="{FF2B5EF4-FFF2-40B4-BE49-F238E27FC236}">
                    <a16:creationId xmlns:a16="http://schemas.microsoft.com/office/drawing/2014/main" id="{B60410DB-229B-E65F-5171-83B178252677}"/>
                  </a:ext>
                </a:extLst>
              </p:cNvPr>
              <p:cNvSpPr txBox="1"/>
              <p:nvPr/>
            </p:nvSpPr>
            <p:spPr>
              <a:xfrm>
                <a:off x="2863003" y="2037181"/>
                <a:ext cx="5026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37" name="Tekstvak 36">
                <a:extLst>
                  <a:ext uri="{FF2B5EF4-FFF2-40B4-BE49-F238E27FC236}">
                    <a16:creationId xmlns:a16="http://schemas.microsoft.com/office/drawing/2014/main" id="{B60410DB-229B-E65F-5171-83B178252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3003" y="2037181"/>
                <a:ext cx="502638" cy="276999"/>
              </a:xfrm>
              <a:prstGeom prst="rect">
                <a:avLst/>
              </a:prstGeom>
              <a:blipFill>
                <a:blip r:embed="rId3"/>
                <a:stretch>
                  <a:fillRect l="-17073" t="-2174" b="-32609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kstvak 37">
                <a:extLst>
                  <a:ext uri="{FF2B5EF4-FFF2-40B4-BE49-F238E27FC236}">
                    <a16:creationId xmlns:a16="http://schemas.microsoft.com/office/drawing/2014/main" id="{1E720A5A-B0F0-DD44-D8D9-0FBE899CF140}"/>
                  </a:ext>
                </a:extLst>
              </p:cNvPr>
              <p:cNvSpPr txBox="1"/>
              <p:nvPr/>
            </p:nvSpPr>
            <p:spPr>
              <a:xfrm>
                <a:off x="2581895" y="4819580"/>
                <a:ext cx="1803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38" name="Tekstvak 37">
                <a:extLst>
                  <a:ext uri="{FF2B5EF4-FFF2-40B4-BE49-F238E27FC236}">
                    <a16:creationId xmlns:a16="http://schemas.microsoft.com/office/drawing/2014/main" id="{1E720A5A-B0F0-DD44-D8D9-0FBE899CF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1895" y="4819580"/>
                <a:ext cx="180370" cy="276999"/>
              </a:xfrm>
              <a:prstGeom prst="rect">
                <a:avLst/>
              </a:prstGeom>
              <a:blipFill>
                <a:blip r:embed="rId4"/>
                <a:stretch>
                  <a:fillRect l="-20690" r="-20690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kstvak 38">
                <a:extLst>
                  <a:ext uri="{FF2B5EF4-FFF2-40B4-BE49-F238E27FC236}">
                    <a16:creationId xmlns:a16="http://schemas.microsoft.com/office/drawing/2014/main" id="{548B2B9C-E792-3C9B-6805-914D6F0AEF16}"/>
                  </a:ext>
                </a:extLst>
              </p:cNvPr>
              <p:cNvSpPr txBox="1"/>
              <p:nvPr/>
            </p:nvSpPr>
            <p:spPr>
              <a:xfrm>
                <a:off x="10435575" y="4833321"/>
                <a:ext cx="1765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39" name="Tekstvak 38">
                <a:extLst>
                  <a:ext uri="{FF2B5EF4-FFF2-40B4-BE49-F238E27FC236}">
                    <a16:creationId xmlns:a16="http://schemas.microsoft.com/office/drawing/2014/main" id="{548B2B9C-E792-3C9B-6805-914D6F0AE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5575" y="4833321"/>
                <a:ext cx="176587" cy="276999"/>
              </a:xfrm>
              <a:prstGeom prst="rect">
                <a:avLst/>
              </a:prstGeom>
              <a:blipFill>
                <a:blip r:embed="rId5"/>
                <a:stretch>
                  <a:fillRect l="-34483" r="-31034" b="-8889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kstvak 39">
                <a:extLst>
                  <a:ext uri="{FF2B5EF4-FFF2-40B4-BE49-F238E27FC236}">
                    <a16:creationId xmlns:a16="http://schemas.microsoft.com/office/drawing/2014/main" id="{BB457C91-6052-990A-1295-6506514A79A2}"/>
                  </a:ext>
                </a:extLst>
              </p:cNvPr>
              <p:cNvSpPr txBox="1"/>
              <p:nvPr/>
            </p:nvSpPr>
            <p:spPr>
              <a:xfrm>
                <a:off x="11624750" y="4833321"/>
                <a:ext cx="1769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40" name="Tekstvak 39">
                <a:extLst>
                  <a:ext uri="{FF2B5EF4-FFF2-40B4-BE49-F238E27FC236}">
                    <a16:creationId xmlns:a16="http://schemas.microsoft.com/office/drawing/2014/main" id="{BB457C91-6052-990A-1295-6506514A7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4750" y="4833321"/>
                <a:ext cx="176907" cy="276999"/>
              </a:xfrm>
              <a:prstGeom prst="rect">
                <a:avLst/>
              </a:prstGeom>
              <a:blipFill>
                <a:blip r:embed="rId6"/>
                <a:stretch>
                  <a:fillRect l="-20690" r="-17241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kstvak 40">
                <a:extLst>
                  <a:ext uri="{FF2B5EF4-FFF2-40B4-BE49-F238E27FC236}">
                    <a16:creationId xmlns:a16="http://schemas.microsoft.com/office/drawing/2014/main" id="{4603F64A-4253-B20F-A36D-CCC61CB85275}"/>
                  </a:ext>
                </a:extLst>
              </p:cNvPr>
              <p:cNvSpPr txBox="1"/>
              <p:nvPr/>
            </p:nvSpPr>
            <p:spPr>
              <a:xfrm>
                <a:off x="1884680" y="2036837"/>
                <a:ext cx="1803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41" name="Tekstvak 40">
                <a:extLst>
                  <a:ext uri="{FF2B5EF4-FFF2-40B4-BE49-F238E27FC236}">
                    <a16:creationId xmlns:a16="http://schemas.microsoft.com/office/drawing/2014/main" id="{4603F64A-4253-B20F-A36D-CCC61CB85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680" y="2036837"/>
                <a:ext cx="180306" cy="276999"/>
              </a:xfrm>
              <a:prstGeom prst="rect">
                <a:avLst/>
              </a:prstGeom>
              <a:blipFill>
                <a:blip r:embed="rId7"/>
                <a:stretch>
                  <a:fillRect l="-33333" r="-30000" b="-23913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kstvak 41">
                <a:extLst>
                  <a:ext uri="{FF2B5EF4-FFF2-40B4-BE49-F238E27FC236}">
                    <a16:creationId xmlns:a16="http://schemas.microsoft.com/office/drawing/2014/main" id="{D7BEE724-7007-2CE6-791C-48C7912561F2}"/>
                  </a:ext>
                </a:extLst>
              </p:cNvPr>
              <p:cNvSpPr txBox="1"/>
              <p:nvPr/>
            </p:nvSpPr>
            <p:spPr>
              <a:xfrm>
                <a:off x="4813430" y="4843525"/>
                <a:ext cx="2732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42" name="Tekstvak 41">
                <a:extLst>
                  <a:ext uri="{FF2B5EF4-FFF2-40B4-BE49-F238E27FC236}">
                    <a16:creationId xmlns:a16="http://schemas.microsoft.com/office/drawing/2014/main" id="{D7BEE724-7007-2CE6-791C-48C791256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3430" y="4843525"/>
                <a:ext cx="273280" cy="276999"/>
              </a:xfrm>
              <a:prstGeom prst="rect">
                <a:avLst/>
              </a:prstGeom>
              <a:blipFill>
                <a:blip r:embed="rId8"/>
                <a:stretch>
                  <a:fillRect l="-31818" t="-4444" r="-11364" b="-35556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kstvak 42">
                <a:extLst>
                  <a:ext uri="{FF2B5EF4-FFF2-40B4-BE49-F238E27FC236}">
                    <a16:creationId xmlns:a16="http://schemas.microsoft.com/office/drawing/2014/main" id="{1904F3E7-D677-EDC2-28EB-500355D10895}"/>
                  </a:ext>
                </a:extLst>
              </p:cNvPr>
              <p:cNvSpPr txBox="1"/>
              <p:nvPr/>
            </p:nvSpPr>
            <p:spPr>
              <a:xfrm>
                <a:off x="6606236" y="4843525"/>
                <a:ext cx="2786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43" name="Tekstvak 42">
                <a:extLst>
                  <a:ext uri="{FF2B5EF4-FFF2-40B4-BE49-F238E27FC236}">
                    <a16:creationId xmlns:a16="http://schemas.microsoft.com/office/drawing/2014/main" id="{1904F3E7-D677-EDC2-28EB-500355D10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6236" y="4843525"/>
                <a:ext cx="278601" cy="276999"/>
              </a:xfrm>
              <a:prstGeom prst="rect">
                <a:avLst/>
              </a:prstGeom>
              <a:blipFill>
                <a:blip r:embed="rId9"/>
                <a:stretch>
                  <a:fillRect l="-31111" t="-4444" r="-11111" b="-35556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kstvak 43">
                <a:extLst>
                  <a:ext uri="{FF2B5EF4-FFF2-40B4-BE49-F238E27FC236}">
                    <a16:creationId xmlns:a16="http://schemas.microsoft.com/office/drawing/2014/main" id="{EF5DAE28-CC7A-9CEE-D3A5-ED2B5E548CDC}"/>
                  </a:ext>
                </a:extLst>
              </p:cNvPr>
              <p:cNvSpPr txBox="1"/>
              <p:nvPr/>
            </p:nvSpPr>
            <p:spPr>
              <a:xfrm>
                <a:off x="2294255" y="5641982"/>
                <a:ext cx="7531484" cy="8934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nl-B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BE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nl-B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BE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sSub>
                            <m:sSubPr>
                              <m:ctrlP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nl-BE" sz="2400" dirty="0"/>
                            <m:t> </m:t>
                          </m:r>
                        </m:sup>
                        <m:e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nl-BE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nl-BE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nl-BE" sz="2400" dirty="0"/>
                            <m:t> </m:t>
                          </m:r>
                        </m:sup>
                        <m:e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nl-BE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nl-BE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nl-BE" sz="2400" dirty="0"/>
              </a:p>
            </p:txBody>
          </p:sp>
        </mc:Choice>
        <mc:Fallback xmlns="">
          <p:sp>
            <p:nvSpPr>
              <p:cNvPr id="44" name="Tekstvak 43">
                <a:extLst>
                  <a:ext uri="{FF2B5EF4-FFF2-40B4-BE49-F238E27FC236}">
                    <a16:creationId xmlns:a16="http://schemas.microsoft.com/office/drawing/2014/main" id="{EF5DAE28-CC7A-9CEE-D3A5-ED2B5E548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255" y="5641982"/>
                <a:ext cx="7531484" cy="89345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kstvak 45">
                <a:extLst>
                  <a:ext uri="{FF2B5EF4-FFF2-40B4-BE49-F238E27FC236}">
                    <a16:creationId xmlns:a16="http://schemas.microsoft.com/office/drawing/2014/main" id="{D8A10B38-A7EF-41C8-7B7E-91C5B0773319}"/>
                  </a:ext>
                </a:extLst>
              </p:cNvPr>
              <p:cNvSpPr txBox="1"/>
              <p:nvPr/>
            </p:nvSpPr>
            <p:spPr>
              <a:xfrm>
                <a:off x="5086710" y="2102961"/>
                <a:ext cx="6096000" cy="720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1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nl-BE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BE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l-BE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nl-BE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nl-BE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nl-BE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nl-BE" sz="1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46" name="Tekstvak 45">
                <a:extLst>
                  <a:ext uri="{FF2B5EF4-FFF2-40B4-BE49-F238E27FC236}">
                    <a16:creationId xmlns:a16="http://schemas.microsoft.com/office/drawing/2014/main" id="{D8A10B38-A7EF-41C8-7B7E-91C5B0773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6710" y="2102961"/>
                <a:ext cx="6096000" cy="72064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4363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92120-27FE-DC82-4106-64F14B805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769B4C-BDA3-5336-D4A3-752BB075A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7800"/>
            <a:ext cx="10515600" cy="1325563"/>
          </a:xfrm>
        </p:spPr>
        <p:txBody>
          <a:bodyPr/>
          <a:lstStyle/>
          <a:p>
            <a:r>
              <a:rPr lang="nl-BE" dirty="0"/>
              <a:t>Fundamentele stelling Integratie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jdelijke aanduiding voor inhoud 2">
                <a:extLst>
                  <a:ext uri="{FF2B5EF4-FFF2-40B4-BE49-F238E27FC236}">
                    <a16:creationId xmlns:a16="http://schemas.microsoft.com/office/drawing/2014/main" id="{34005E50-8B32-53F1-C909-06D636C4C2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5374" y="996949"/>
                <a:ext cx="10515600" cy="5927726"/>
              </a:xfrm>
            </p:spPr>
            <p:txBody>
              <a:bodyPr>
                <a:normAutofit/>
              </a:bodyPr>
              <a:lstStyle/>
              <a:p>
                <a:r>
                  <a:rPr lang="nl-BE" dirty="0"/>
                  <a:t>Stel dat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nl-BE" dirty="0"/>
                  <a:t> continu is en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nl-BE" dirty="0"/>
                  <a:t> gedefinieerd op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nl-BE" dirty="0"/>
                  <a:t> als</a:t>
                </a:r>
              </a:p>
              <a:p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l-B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nl-BE" dirty="0"/>
              </a:p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nl-BE" dirty="0"/>
                  <a:t> is een primitieve functie van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nl-BE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nl-BE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sz="28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nl-BE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nl-BE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nl-BE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BE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nl-BE" sz="2800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:r>
                  <a:rPr lang="nl-BE" b="1" dirty="0"/>
                  <a:t>Integreren is dus het zoeken </a:t>
                </a:r>
              </a:p>
              <a:p>
                <a:pPr marL="0" indent="0">
                  <a:buNone/>
                </a:pPr>
                <a:r>
                  <a:rPr lang="nl-BE" b="1" dirty="0"/>
                  <a:t>naar de primitieve </a:t>
                </a:r>
                <a14:m>
                  <m:oMath xmlns:m="http://schemas.openxmlformats.org/officeDocument/2006/math">
                    <m:r>
                      <a:rPr lang="nl-BE" b="1" i="1" smtClean="0"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lang="nl-BE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nl-BE" b="1" i="0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nl-BE" b="1" dirty="0"/>
              </a:p>
            </p:txBody>
          </p:sp>
        </mc:Choice>
        <mc:Fallback xmlns="">
          <p:sp>
            <p:nvSpPr>
              <p:cNvPr id="8" name="Tijdelijke aanduiding voor inhoud 2">
                <a:extLst>
                  <a:ext uri="{FF2B5EF4-FFF2-40B4-BE49-F238E27FC236}">
                    <a16:creationId xmlns:a16="http://schemas.microsoft.com/office/drawing/2014/main" id="{34005E50-8B32-53F1-C909-06D636C4C2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5374" y="996949"/>
                <a:ext cx="10515600" cy="5927726"/>
              </a:xfrm>
              <a:blipFill>
                <a:blip r:embed="rId2"/>
                <a:stretch>
                  <a:fillRect l="-1217" t="-1852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9E76A6EB-6251-E0B5-540E-736FA9511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5688" y="2873990"/>
            <a:ext cx="4492874" cy="3935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043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296D73-1CFD-7A6D-1F93-85E8897CF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Hoe kan je een integraal nog bekijken?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0F1981E3-8A4B-EB06-E0B2-0EC20DEF86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1866900" y="1758950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m:rPr>
                              <m:sty m:val="p"/>
                            </m:rPr>
                            <a:rPr lang="nl-BE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=1,⋯,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nl-BE" dirty="0"/>
              </a:p>
              <a:p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0F1981E3-8A4B-EB06-E0B2-0EC20DEF86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866900" y="1758950"/>
                <a:ext cx="105156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C4677E0F-3EA5-CB20-4247-04900546E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300" y="2090738"/>
            <a:ext cx="4591050" cy="30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F127B6DD-C850-6FC8-6EBA-1DA1AFCF9C6C}"/>
              </a:ext>
            </a:extLst>
          </p:cNvPr>
          <p:cNvSpPr txBox="1"/>
          <p:nvPr/>
        </p:nvSpPr>
        <p:spPr>
          <a:xfrm>
            <a:off x="2133599" y="5505450"/>
            <a:ext cx="66770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000" dirty="0"/>
              <a:t>Dit is belangrijk voor straks!</a:t>
            </a:r>
          </a:p>
        </p:txBody>
      </p:sp>
    </p:spTree>
    <p:extLst>
      <p:ext uri="{BB962C8B-B14F-4D97-AF65-F5344CB8AC3E}">
        <p14:creationId xmlns:p14="http://schemas.microsoft.com/office/powerpoint/2010/main" val="4276332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6A2737-F43A-95AB-B595-2B196A129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388" y="-111125"/>
            <a:ext cx="10515600" cy="1325563"/>
          </a:xfrm>
        </p:spPr>
        <p:txBody>
          <a:bodyPr/>
          <a:lstStyle/>
          <a:p>
            <a:r>
              <a:rPr lang="nl-BE" dirty="0"/>
              <a:t>Afleiden van een integraal (Slide 31)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F4339107-81E0-10FC-A54A-B004D48422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5275" y="1038225"/>
                <a:ext cx="11801475" cy="5819775"/>
              </a:xfrm>
            </p:spPr>
            <p:txBody>
              <a:bodyPr>
                <a:normAutofit/>
              </a:bodyPr>
              <a:lstStyle/>
              <a:p>
                <a:r>
                  <a:rPr lang="nl-BE" dirty="0"/>
                  <a:t>Stel dat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nl-BE" b="0" i="0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nl-BE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l-BE" dirty="0"/>
                  <a:t>continu op het gebied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nl-BE" b="0" i="1" dirty="0"/>
              </a:p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nl-BE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nl-BE" dirty="0"/>
                  <a:t> continu</a:t>
                </a:r>
              </a:p>
              <a:p>
                <a:r>
                  <a:rPr lang="nl-BE" dirty="0"/>
                  <a:t>Dan geldt:</a:t>
                </a:r>
              </a:p>
              <a:p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BE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nl-BE" sz="3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nl-BE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trlPr>
                                <a:rPr lang="nl-BE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nl-BE" sz="32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3"/>
                                    </m:rPr>
                                    <a:rPr lang="nl-BE" sz="32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nl-BE" sz="32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nl-BE" sz="32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23"/>
                                    </m:rPr>
                                    <a:rPr lang="nl-BE" sz="32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sub>
                            <m:sup>
                              <m:sSub>
                                <m:sSubPr>
                                  <m:ctrlPr>
                                    <a:rPr lang="nl-BE" sz="32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BE" sz="32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nl-BE" sz="32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nl-BE" sz="32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sz="32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sup>
                            <m:e>
                              <m:r>
                                <a:rPr lang="nl-BE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d>
                                <m:dPr>
                                  <m:ctrlPr>
                                    <a:rPr lang="nl-BE" sz="32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sz="32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nl-BE" sz="32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nl-BE" sz="32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  <m:r>
                                <a:rPr lang="nl-BE" sz="3200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nl-BE" sz="32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sz="32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nl-BE" sz="32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32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nl-BE" sz="32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nl-BE" sz="32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BE" sz="32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nl-BE" sz="32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d>
                            <m:dPr>
                              <m:ctrlPr>
                                <a:rPr lang="nl-BE" sz="32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sz="32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f>
                        <m:fPr>
                          <m:ctrlPr>
                            <a:rPr lang="nl-BE" sz="32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sz="32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sSub>
                            <m:sSubPr>
                              <m:ctrlPr>
                                <a:rPr lang="nl-BE" sz="32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BE" sz="32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nl-BE" sz="32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r>
                            <a:rPr lang="nl-BE" sz="32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d>
                        <m:dPr>
                          <m:ctrlPr>
                            <a:rPr lang="nl-BE" sz="32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32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nl-BE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nl-BE" sz="3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nl-BE" sz="3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3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nl-BE" sz="3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nl-BE" sz="32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BE" sz="32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nl-BE" sz="32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d>
                            <m:dPr>
                              <m:ctrlPr>
                                <a:rPr lang="nl-BE" sz="32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sz="32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f>
                        <m:fPr>
                          <m:ctrlPr>
                            <a:rPr lang="nl-BE" sz="3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sz="3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sSub>
                            <m:sSubPr>
                              <m:ctrlPr>
                                <a:rPr lang="nl-BE" sz="32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BE" sz="32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nl-BE" sz="32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r>
                            <a:rPr lang="nl-BE" sz="3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d>
                        <m:dPr>
                          <m:ctrlPr>
                            <a:rPr lang="nl-BE" sz="3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3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nl-BE" sz="3200" b="1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nl-BE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nl-BE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nl-BE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nl-BE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d>
                            <m:dPr>
                              <m:ctrlPr>
                                <a:rPr lang="nl-BE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23"/>
                                </m:rPr>
                                <a:rPr lang="nl-BE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sub>
                        <m:sup>
                          <m:sSub>
                            <m:sSubPr>
                              <m:ctrlPr>
                                <a:rPr lang="nl-BE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BE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nl-BE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d>
                            <m:dPr>
                              <m:ctrlPr>
                                <a:rPr lang="nl-BE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sup>
                        <m:e>
                          <m:f>
                            <m:fPr>
                              <m:ctrlPr>
                                <a:rPr lang="nl-BE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BE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nl-BE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num>
                            <m:den>
                              <m:r>
                                <a:rPr lang="nl-BE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nl-BE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den>
                          </m:f>
                          <m:d>
                            <m:dPr>
                              <m:ctrlPr>
                                <a:rPr lang="nl-BE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nl-BE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nl-BE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nl-BE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e>
                      </m:nary>
                    </m:oMath>
                  </m:oMathPara>
                </a14:m>
                <a:endParaRPr lang="nl-BE" b="1" dirty="0"/>
              </a:p>
              <a:p>
                <a:endParaRPr lang="nl-BE" dirty="0"/>
              </a:p>
              <a:p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F4339107-81E0-10FC-A54A-B004D48422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5275" y="1038225"/>
                <a:ext cx="11801475" cy="5819775"/>
              </a:xfrm>
              <a:blipFill>
                <a:blip r:embed="rId2"/>
                <a:stretch>
                  <a:fillRect l="-930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7165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BC0B73-8D3E-EAA6-B484-55ADE076C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44475"/>
            <a:ext cx="10515600" cy="1325563"/>
          </a:xfrm>
        </p:spPr>
        <p:txBody>
          <a:bodyPr/>
          <a:lstStyle/>
          <a:p>
            <a:r>
              <a:rPr lang="nl-BE" dirty="0"/>
              <a:t>Partiële integratie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78740BCD-0572-7394-1CB2-8CFFDE3412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790575"/>
                <a:ext cx="10515600" cy="5886450"/>
              </a:xfrm>
            </p:spPr>
            <p:txBody>
              <a:bodyPr/>
              <a:lstStyle/>
              <a:p>
                <a:r>
                  <a:rPr lang="nl-BE" dirty="0"/>
                  <a:t>De afgeleide van een product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𝑓𝑔</m:t>
                            </m:r>
                          </m:e>
                        </m:d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𝑓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nl-BE" b="0" dirty="0"/>
              </a:p>
              <a:p>
                <a:r>
                  <a:rPr lang="nl-BE" dirty="0"/>
                  <a:t>De integraal nemen langs beide zijden geeft dan</a:t>
                </a:r>
              </a:p>
              <a:p>
                <a:endParaRPr lang="nl-B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𝑓𝑔</m:t>
                                  </m:r>
                                </m:e>
                              </m:d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𝑓𝑔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nl-BE" dirty="0"/>
              </a:p>
              <a:p>
                <a:r>
                  <a:rPr lang="nl-BE" dirty="0"/>
                  <a:t>Hiermee kan je een onbepaalde integraal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∫</m:t>
                    </m:r>
                  </m:oMath>
                </a14:m>
                <a:r>
                  <a:rPr lang="nl-BE" dirty="0"/>
                  <a:t> bepalen, maar wat nu als je een bepaalde integraal wilt uitrekenen om een oppervlakte te berekenen? </a:t>
                </a:r>
              </a:p>
              <a:p>
                <a:r>
                  <a:rPr lang="nl-BE" dirty="0"/>
                  <a:t>Iemand een suggestie?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𝑓𝑔</m:t>
                              </m:r>
                            </m:e>
                          </m:d>
                        </m:e>
                        <m: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l-B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l-B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nl-BE" dirty="0"/>
              </a:p>
              <a:p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78740BCD-0572-7394-1CB2-8CFFDE3412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790575"/>
                <a:ext cx="10515600" cy="5886450"/>
              </a:xfrm>
              <a:blipFill>
                <a:blip r:embed="rId2"/>
                <a:stretch>
                  <a:fillRect l="-1043" t="-1865" r="-812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2624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CA4E94-07D1-B1F0-F115-C892F46A5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5245"/>
            <a:ext cx="10515600" cy="938213"/>
          </a:xfrm>
        </p:spPr>
        <p:txBody>
          <a:bodyPr/>
          <a:lstStyle/>
          <a:p>
            <a:r>
              <a:rPr lang="nl-BE" dirty="0"/>
              <a:t>Een voorbeeld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433745F2-6C89-25D2-CC85-E64CDDC1E1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2875" y="892969"/>
                <a:ext cx="11944349" cy="570785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nl-BE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nl-BE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sSup>
                            <m:sSupPr>
                              <m:ctrlPr>
                                <a:rPr lang="nl-BE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</m:e>
                            <m:sup>
                              <m:r>
                                <a:rPr lang="nl-BE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sSup>
                        <m:sSupPr>
                          <m:ctrlPr>
                            <a:rPr lang="nl-BE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nl-BE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nl-BE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nl-BE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p>
                          </m:sSup>
                          <m:r>
                            <a:rPr lang="nl-BE" b="1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nl-BE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nl-BE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nl-BE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nl-BE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nl-BE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nl-BE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nl-BE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nl-BE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nl-BE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nl-BE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nl-BE" b="1" dirty="0"/>
              </a:p>
              <a:p>
                <a:pPr marL="0" indent="0">
                  <a:buNone/>
                </a:pPr>
                <a:r>
                  <a:rPr lang="nl-BE" dirty="0"/>
                  <a:t>Check: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l-B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l-B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−0−</m:t>
                      </m:r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433745F2-6C89-25D2-CC85-E64CDDC1E1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2875" y="892969"/>
                <a:ext cx="11944349" cy="5707856"/>
              </a:xfrm>
              <a:blipFill>
                <a:blip r:embed="rId2"/>
                <a:stretch>
                  <a:fillRect l="-1020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Afbeelding 8">
            <a:extLst>
              <a:ext uri="{FF2B5EF4-FFF2-40B4-BE49-F238E27FC236}">
                <a16:creationId xmlns:a16="http://schemas.microsoft.com/office/drawing/2014/main" id="{F91F2D50-39FE-3A1F-2BDF-E99E29148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094" y="755629"/>
            <a:ext cx="4601217" cy="59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57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ECE69F-7C82-B1BD-A79B-39FB34F19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Substitutiemethode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6051CB49-F30D-944C-F55A-530102097E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9725"/>
                <a:ext cx="10515600" cy="45672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l-B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l-B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  <m:d>
                                <m:dPr>
                                  <m:ctrlPr>
                                    <a:rPr lang="nl-BE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d>
                          <m:sSup>
                            <m:sSupPr>
                              <m:ctrlPr>
                                <a:rPr lang="nl-BE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</m:e>
                            <m:sup>
                              <m:r>
                                <a:rPr lang="nl-BE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nl-BE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nl-BE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</m:oMath>
                  </m:oMathPara>
                </a14:m>
                <a:endParaRPr lang="nl-B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nl-B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nl-BE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nl-BE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nl-BE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  <m:d>
                                <m:dPr>
                                  <m:ctrlPr>
                                    <a:rPr lang="nl-BE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f>
                                <m:f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𝑑𝑢</m:t>
                                  </m:r>
                                </m:num>
                                <m:den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e>
                              <m:r>
                                <a:rPr lang="nl-BE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𝒅𝒖</m:t>
                              </m:r>
                              <m:r>
                                <a:rPr lang="nl-BE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nl-BE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𝒈</m:t>
                                  </m:r>
                                </m:e>
                                <m:sup>
                                  <m:r>
                                    <a:rPr lang="nl-BE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nl-BE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nl-BE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𝒅𝒙</m:t>
                              </m:r>
                              <m:r>
                                <m:rPr>
                                  <m:nor/>
                                </m:rPr>
                                <a:rPr lang="nl-BE" dirty="0"/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nl-BE" b="0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23"/>
                                </m:r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sup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  <m:r>
                            <a:rPr lang="nl-BE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𝒅𝒖</m:t>
                          </m:r>
                        </m:e>
                      </m:nary>
                    </m:oMath>
                  </m:oMathPara>
                </a14:m>
                <a:endParaRPr lang="nl-BE" b="0" dirty="0"/>
              </a:p>
              <a:p>
                <a:pPr marL="0" indent="0">
                  <a:buNone/>
                </a:pPr>
                <a:endParaRPr lang="nl-BE" b="0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6051CB49-F30D-944C-F55A-530102097E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9725"/>
                <a:ext cx="10515600" cy="45672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9260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729023-F572-7869-0544-DA596CF4E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Een voorbeeld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79890B6C-5539-C466-80D6-D1B6EC5EAC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func>
                            <m:func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nl-BE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nl-BE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nl-BE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𝑑𝑢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nl-BE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nl-BE" b="0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func>
                            <m:func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=2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</m:func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nl-BE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</m:func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nl-BE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79890B6C-5539-C466-80D6-D1B6EC5EAC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kstvak 3">
            <a:extLst>
              <a:ext uri="{FF2B5EF4-FFF2-40B4-BE49-F238E27FC236}">
                <a16:creationId xmlns:a16="http://schemas.microsoft.com/office/drawing/2014/main" id="{35FFCC26-8DE1-8171-9E2A-6F183E187D5B}"/>
              </a:ext>
            </a:extLst>
          </p:cNvPr>
          <p:cNvSpPr txBox="1"/>
          <p:nvPr/>
        </p:nvSpPr>
        <p:spPr>
          <a:xfrm>
            <a:off x="9234488" y="6095781"/>
            <a:ext cx="2695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600" b="1" dirty="0">
                <a:solidFill>
                  <a:srgbClr val="FF0000"/>
                </a:solidFill>
              </a:rPr>
              <a:t>?????????</a:t>
            </a:r>
          </a:p>
        </p:txBody>
      </p:sp>
    </p:spTree>
    <p:extLst>
      <p:ext uri="{BB962C8B-B14F-4D97-AF65-F5344CB8AC3E}">
        <p14:creationId xmlns:p14="http://schemas.microsoft.com/office/powerpoint/2010/main" val="2078250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AFA44-C6DF-78F0-1A3A-C79E5906D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C4700-7F49-AA38-54E5-704D3FCC7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824"/>
            <a:ext cx="10515600" cy="1057275"/>
          </a:xfrm>
        </p:spPr>
        <p:txBody>
          <a:bodyPr>
            <a:normAutofit/>
          </a:bodyPr>
          <a:lstStyle/>
          <a:p>
            <a:r>
              <a:rPr lang="nl-BE" b="1" dirty="0">
                <a:solidFill>
                  <a:srgbClr val="FF0000"/>
                </a:solidFill>
              </a:rPr>
              <a:t>Integratie is tot op een constante bepaald!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59090645-1F22-6BFB-2696-FD75036014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81098"/>
                <a:ext cx="10515600" cy="555307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func>
                            <m:func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=2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nl-BE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59090645-1F22-6BFB-2696-FD75036014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81098"/>
                <a:ext cx="10515600" cy="555307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Afbeelding 4">
            <a:extLst>
              <a:ext uri="{FF2B5EF4-FFF2-40B4-BE49-F238E27FC236}">
                <a16:creationId xmlns:a16="http://schemas.microsoft.com/office/drawing/2014/main" id="{4B4B7964-C801-7912-FCD2-3B189EAB9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290" y="1092987"/>
            <a:ext cx="8706520" cy="431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19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3E470AD3-CD21-6A34-A4AD-85113BD6F5E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8475" y="263525"/>
            <a:ext cx="5487850" cy="608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0989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796988-D1E2-74C1-7D60-63BB9F5B7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Integralen van rationale functies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0727CC7E-87DF-30F1-D28F-8C1C90B4B6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nl-BE" dirty="0"/>
              </a:p>
              <a:p>
                <a:r>
                  <a:rPr lang="nl-BE" dirty="0"/>
                  <a:t>Als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nl-BE" dirty="0"/>
                  <a:t>, doe eerst een Euclidische deling. Hierdoor bekom je een vorm waarbij: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nl-BE" dirty="0"/>
              </a:p>
              <a:p>
                <a:r>
                  <a:rPr lang="nl-BE" dirty="0"/>
                  <a:t>Hierbij zijn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nl-BE" dirty="0"/>
                  <a:t>,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nl-BE" dirty="0"/>
                  <a:t> ook veeltermen.</a:t>
                </a:r>
              </a:p>
              <a:p>
                <a:r>
                  <a:rPr lang="nl-BE" dirty="0"/>
                  <a:t>Vervolgens pas je </a:t>
                </a:r>
                <a:r>
                  <a:rPr lang="nl-BE" dirty="0" err="1"/>
                  <a:t>partieelbreuksplitsing</a:t>
                </a:r>
                <a:r>
                  <a:rPr lang="nl-BE" dirty="0"/>
                  <a:t> toe op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r>
                  <a:rPr lang="nl-BE" dirty="0"/>
                  <a:t>.</a:t>
                </a:r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0727CC7E-87DF-30F1-D28F-8C1C90B4B6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2809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E8328F-A40A-E931-D1F4-9465BF568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Partieelbreuksplitsing</a:t>
            </a:r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4F150C41-6425-E873-2826-9628399333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144250" cy="4351338"/>
              </a:xfrm>
            </p:spPr>
            <p:txBody>
              <a:bodyPr>
                <a:normAutofit/>
              </a:bodyPr>
              <a:lstStyle/>
              <a:p>
                <a:r>
                  <a:rPr lang="nl-BE" dirty="0"/>
                  <a:t>Kijken naar de nulpunten van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nl-BE" b="0" dirty="0"/>
              </a:p>
              <a:p>
                <a:r>
                  <a:rPr lang="nl-BE" dirty="0"/>
                  <a:t>Splitsen in verschillende breuken</a:t>
                </a:r>
              </a:p>
              <a:p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e>
                              </m:d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e>
                              </m:d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nl-BE" b="0" dirty="0"/>
              </a:p>
              <a:p>
                <a:endParaRPr lang="nl-BE" dirty="0"/>
              </a:p>
              <a:p>
                <a:r>
                  <a:rPr lang="nl-BE" dirty="0"/>
                  <a:t>Wat is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nl-BE" dirty="0"/>
                  <a:t>,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nl-BE" dirty="0"/>
                  <a:t> en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nl-BE" dirty="0"/>
                  <a:t> ? Wat zijn de mogelijkheden?</a:t>
                </a:r>
              </a:p>
              <a:p>
                <a:pPr lvl="1"/>
                <a:r>
                  <a:rPr lang="nl-BE" dirty="0"/>
                  <a:t>Methode 1: Rechterzijde op gelijke noemer brengen en een stelsel oplossen</a:t>
                </a:r>
              </a:p>
              <a:p>
                <a:pPr lvl="1"/>
                <a:r>
                  <a:rPr lang="nl-BE" dirty="0"/>
                  <a:t>Methode 2: Gebruik maken van limieten</a:t>
                </a:r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4F150C41-6425-E873-2826-9628399333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144250" cy="4351338"/>
              </a:xfrm>
              <a:blipFill>
                <a:blip r:embed="rId2"/>
                <a:stretch>
                  <a:fillRect l="-985" t="-2381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5781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EBAEC9-A878-4A62-460E-118DE4A26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211"/>
            <a:ext cx="10515600" cy="1009651"/>
          </a:xfrm>
        </p:spPr>
        <p:txBody>
          <a:bodyPr/>
          <a:lstStyle/>
          <a:p>
            <a:r>
              <a:rPr lang="nl-BE" dirty="0" err="1"/>
              <a:t>Partieelbreuksplitsing</a:t>
            </a:r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8B0F473D-C877-EAAA-31ED-915B153C14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85875"/>
                <a:ext cx="10515600" cy="471011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e>
                              </m:d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e>
                              </m:d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→−2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+2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den>
                          </m:f>
                          <m:sSup>
                            <m:sSupPr>
                              <m:ctrlPr>
                                <a:rPr lang="nl-BE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BE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nl-BE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nl-BE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</m:e>
                            <m:sup>
                              <m:r>
                                <a:rPr lang="nl-BE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func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nl-BE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→−2</m:t>
                          </m:r>
                        </m:lim>
                      </m:limLow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→1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+2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den>
                          </m:f>
                          <m:d>
                            <m:dPr>
                              <m:ctrlPr>
                                <a:rPr lang="nl-BE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nl-BE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nl-BE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func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→1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+2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  <m:r>
                        <a:rPr lang="nl-B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8B0F473D-C877-EAAA-31ED-915B153C14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85875"/>
                <a:ext cx="10515600" cy="471011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6459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E3A6A010-8A3C-E284-F8FF-25A20AE91F2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-139700"/>
                <a:ext cx="10515600" cy="1325563"/>
              </a:xfrm>
            </p:spPr>
            <p:txBody>
              <a:bodyPr/>
              <a:lstStyle/>
              <a:p>
                <a:r>
                  <a:rPr lang="nl-BE" dirty="0"/>
                  <a:t>Partieelbreuksplitsing: hoe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nl-BE" dirty="0"/>
                  <a:t> bepalen?</a:t>
                </a:r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E3A6A010-8A3C-E284-F8FF-25A20AE91F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-139700"/>
                <a:ext cx="10515600" cy="1325563"/>
              </a:xfrm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30454093-9241-716D-9D3D-ED8061DEE4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95375"/>
                <a:ext cx="10515600" cy="508158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e>
                              </m:d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e>
                              </m:d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e>
                              </m:d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e>
                              </m:d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e>
                              </m:d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+2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→−2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30454093-9241-716D-9D3D-ED8061DEE4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95375"/>
                <a:ext cx="10515600" cy="508158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kstvak 3">
            <a:extLst>
              <a:ext uri="{FF2B5EF4-FFF2-40B4-BE49-F238E27FC236}">
                <a16:creationId xmlns:a16="http://schemas.microsoft.com/office/drawing/2014/main" id="{8C8FA4DA-1BB7-4929-D820-D60F7A67A50E}"/>
              </a:ext>
            </a:extLst>
          </p:cNvPr>
          <p:cNvSpPr txBox="1"/>
          <p:nvPr/>
        </p:nvSpPr>
        <p:spPr>
          <a:xfrm>
            <a:off x="1000125" y="6276975"/>
            <a:ext cx="918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Voor meer details zie de schema’s van Hilde (integratiemethoden)</a:t>
            </a:r>
          </a:p>
        </p:txBody>
      </p:sp>
    </p:spTree>
    <p:extLst>
      <p:ext uri="{BB962C8B-B14F-4D97-AF65-F5344CB8AC3E}">
        <p14:creationId xmlns:p14="http://schemas.microsoft.com/office/powerpoint/2010/main" val="742926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0B3F4B-4A86-8640-D25E-43D171C6E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361"/>
            <a:ext cx="10515600" cy="1055689"/>
          </a:xfrm>
        </p:spPr>
        <p:txBody>
          <a:bodyPr>
            <a:normAutofit/>
          </a:bodyPr>
          <a:lstStyle/>
          <a:p>
            <a:r>
              <a:rPr lang="nl-BE" dirty="0"/>
              <a:t>Lengte van een kromme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B6DE8041-6437-B199-D764-9B57C14F27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2899" y="1825052"/>
                <a:ext cx="11258551" cy="430529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ad>
                                <m:radPr>
                                  <m:degHide m:val="on"/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p>
                                        <m:sSupPr>
                                          <m:ctrlPr>
                                            <a:rPr lang="nl-BE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nl-BE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nl-B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nl-B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nl-B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  <m:r>
                                                    <a:rPr lang="nl-B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+1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nl-BE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nl-B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nl-B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nl-B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nl-BE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d>
                                        <m:dPr>
                                          <m:ctrlPr>
                                            <a:rPr lang="nl-BE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nl-BE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d>
                                            <m:dPr>
                                              <m:ctrlPr>
                                                <a:rPr lang="nl-BE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nl-B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nl-B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nl-B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  <m:r>
                                                    <a:rPr lang="nl-B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+1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  <m:r>
                                            <a:rPr lang="nl-BE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nl-BE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d>
                                            <m:dPr>
                                              <m:ctrlPr>
                                                <a:rPr lang="nl-BE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nl-B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nl-B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nl-B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e>
                          </m:nary>
                        </m:e>
                      </m:func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B6DE8041-6437-B199-D764-9B57C14F27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2899" y="1825052"/>
                <a:ext cx="11258551" cy="430529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vak 3">
                <a:extLst>
                  <a:ext uri="{FF2B5EF4-FFF2-40B4-BE49-F238E27FC236}">
                    <a16:creationId xmlns:a16="http://schemas.microsoft.com/office/drawing/2014/main" id="{F808490A-8777-4EAC-51BC-D4C7CE373DF0}"/>
                  </a:ext>
                </a:extLst>
              </p:cNvPr>
              <p:cNvSpPr txBox="1"/>
              <p:nvPr/>
            </p:nvSpPr>
            <p:spPr>
              <a:xfrm>
                <a:off x="657226" y="1162050"/>
                <a:ext cx="1094422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BE" sz="3200" dirty="0"/>
                  <a:t>Berekenen van lengte kromme </a:t>
                </a:r>
                <a14:m>
                  <m:oMath xmlns:m="http://schemas.openxmlformats.org/officeDocument/2006/math">
                    <m:r>
                      <a:rPr lang="nl-BE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nl-BE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sz="3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BE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nl-BE" sz="3200" dirty="0"/>
                  <a:t> op interval </a:t>
                </a:r>
                <a14:m>
                  <m:oMath xmlns:m="http://schemas.openxmlformats.org/officeDocument/2006/math">
                    <m:r>
                      <a:rPr lang="nl-BE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BE" sz="32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nl-BE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nl-BE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sz="3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nl-BE" sz="3200" dirty="0"/>
                  <a:t> </a:t>
                </a:r>
              </a:p>
            </p:txBody>
          </p:sp>
        </mc:Choice>
        <mc:Fallback xmlns="">
          <p:sp>
            <p:nvSpPr>
              <p:cNvPr id="4" name="Tekstvak 3">
                <a:extLst>
                  <a:ext uri="{FF2B5EF4-FFF2-40B4-BE49-F238E27FC236}">
                    <a16:creationId xmlns:a16="http://schemas.microsoft.com/office/drawing/2014/main" id="{F808490A-8777-4EAC-51BC-D4C7CE373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6" y="1162050"/>
                <a:ext cx="10944224" cy="584775"/>
              </a:xfrm>
              <a:prstGeom prst="rect">
                <a:avLst/>
              </a:prstGeom>
              <a:blipFill>
                <a:blip r:embed="rId3"/>
                <a:stretch>
                  <a:fillRect l="-1448" t="-12500" b="-34375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Afbeelding 6">
            <a:extLst>
              <a:ext uri="{FF2B5EF4-FFF2-40B4-BE49-F238E27FC236}">
                <a16:creationId xmlns:a16="http://schemas.microsoft.com/office/drawing/2014/main" id="{92F1F67B-EA76-F731-9915-8A0C0A0C7B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9" y="3113270"/>
            <a:ext cx="10322189" cy="3744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89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4040F-93A2-68C5-E622-94DF4836D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9620EE-9AF8-E062-F4CF-305E42FAC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361"/>
            <a:ext cx="10515600" cy="1055689"/>
          </a:xfrm>
        </p:spPr>
        <p:txBody>
          <a:bodyPr>
            <a:normAutofit/>
          </a:bodyPr>
          <a:lstStyle/>
          <a:p>
            <a:r>
              <a:rPr lang="nl-BE" dirty="0"/>
              <a:t>Lengte van een kromme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FDEBA190-6DD5-7FF7-7D3F-1D9096D2F1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9099" y="1162050"/>
                <a:ext cx="11868151" cy="430529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ad>
                                <m:radPr>
                                  <m:degHide m:val="on"/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p>
                                        <m:sSupPr>
                                          <m:ctrlPr>
                                            <a:rPr lang="nl-BE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nl-BE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nl-B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nl-B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nl-B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  <m:r>
                                                    <a:rPr lang="nl-B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+1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nl-BE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nl-B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nl-B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nl-B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nl-BE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d>
                                        <m:dPr>
                                          <m:ctrlPr>
                                            <a:rPr lang="nl-BE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nl-BE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d>
                                            <m:dPr>
                                              <m:ctrlPr>
                                                <a:rPr lang="nl-BE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nl-B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nl-B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nl-B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  <m:r>
                                                    <a:rPr lang="nl-B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+1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  <m:r>
                                            <a:rPr lang="nl-BE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nl-BE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d>
                                            <m:dPr>
                                              <m:ctrlPr>
                                                <a:rPr lang="nl-BE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nl-B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nl-B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nl-B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e>
                          </m:nary>
                        </m:e>
                      </m:func>
                    </m:oMath>
                  </m:oMathPara>
                </a14:m>
                <a:endParaRPr lang="nl-B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nl-B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ad>
                                <m:radPr>
                                  <m:degHide m:val="on"/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d>
                                        <m:dPr>
                                          <m:ctrlPr>
                                            <a:rPr lang="nl-BE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nl-BE" b="1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nl-BE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𝒇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nl-BE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nl-BE" b="1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nl-BE" b="1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𝒙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nl-BE" b="1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𝒊</m:t>
                                                      </m:r>
                                                      <m:r>
                                                        <a:rPr lang="nl-BE" b="1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+</m:t>
                                                      </m:r>
                                                      <m:r>
                                                        <a:rPr lang="nl-BE" b="1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  <m:r>
                                                <a:rPr lang="nl-BE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nl-BE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𝒇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nl-BE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nl-BE" b="1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nl-BE" b="1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𝒙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nl-BE" b="1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𝒊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lang="nl-BE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nl-BE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nl-BE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𝒊</m:t>
                                                  </m:r>
                                                  <m:r>
                                                    <a:rPr lang="nl-BE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  <m:r>
                                                    <a:rPr lang="nl-BE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𝟏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nl-BE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nl-BE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nl-BE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nl-BE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𝒊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e>
                          </m:nary>
                        </m:e>
                      </m:func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l-B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ad>
                            <m:radPr>
                              <m:degHide m:val="on"/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d>
                                    <m:d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nl-BE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nl-BE" b="1" i="1" smtClean="0">
                                              <a:latin typeface="Cambria Math" panose="02040503050406030204" pitchFamily="18" charset="0"/>
                                            </a:rPr>
                                            <m:t>𝒅𝒇</m:t>
                                          </m:r>
                                        </m:num>
                                        <m:den>
                                          <m:r>
                                            <a:rPr lang="nl-BE" b="1" i="1" smtClean="0">
                                              <a:latin typeface="Cambria Math" panose="02040503050406030204" pitchFamily="18" charset="0"/>
                                            </a:rPr>
                                            <m:t>𝒅𝒙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FDEBA190-6DD5-7FF7-7D3F-1D9096D2F1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9099" y="1162050"/>
                <a:ext cx="11868151" cy="4305299"/>
              </a:xfrm>
              <a:blipFill>
                <a:blip r:embed="rId2"/>
                <a:stretch>
                  <a:fillRect t="-142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Afbeelding 4">
            <a:extLst>
              <a:ext uri="{FF2B5EF4-FFF2-40B4-BE49-F238E27FC236}">
                <a16:creationId xmlns:a16="http://schemas.microsoft.com/office/drawing/2014/main" id="{9AC34224-2041-4122-E6B6-FED380522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0" y="4192525"/>
            <a:ext cx="7027993" cy="254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0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379725-6253-CB13-1538-EB8FCAAA0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"/>
            <a:ext cx="10515600" cy="1009651"/>
          </a:xfrm>
        </p:spPr>
        <p:txBody>
          <a:bodyPr/>
          <a:lstStyle/>
          <a:p>
            <a:r>
              <a:rPr lang="nl-BE" dirty="0"/>
              <a:t>Omwentelingsoppervlakken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CBDE7D8C-7573-6C14-5BC2-EB8A8AA55D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14414"/>
                <a:ext cx="10515600" cy="5162550"/>
              </a:xfrm>
            </p:spPr>
            <p:txBody>
              <a:bodyPr/>
              <a:lstStyle/>
              <a:p>
                <a:r>
                  <a:rPr lang="nl-BE" dirty="0"/>
                  <a:t>We wentelen een functie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nl-BE" dirty="0"/>
                  <a:t> om de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nl-BE" dirty="0"/>
                  <a:t>-as </a:t>
                </a:r>
              </a:p>
              <a:p>
                <a:r>
                  <a:rPr lang="nl-BE" dirty="0"/>
                  <a:t>We willen het volume berekenen voor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nl-BE" dirty="0"/>
              </a:p>
              <a:p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nl-BE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nl-BE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nl-BE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nl-BE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nary>
                        </m:e>
                      </m:func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l-B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CBDE7D8C-7573-6C14-5BC2-EB8A8AA55D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14414"/>
                <a:ext cx="10515600" cy="5162550"/>
              </a:xfrm>
              <a:blipFill>
                <a:blip r:embed="rId2"/>
                <a:stretch>
                  <a:fillRect l="-1043" t="-2007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cochranmath / Volume of a solid of revolution by plane slicing">
            <a:extLst>
              <a:ext uri="{FF2B5EF4-FFF2-40B4-BE49-F238E27FC236}">
                <a16:creationId xmlns:a16="http://schemas.microsoft.com/office/drawing/2014/main" id="{6069DAAF-C917-2F6E-E643-AE5EA6459B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0" r="6859" b="3923"/>
          <a:stretch>
            <a:fillRect/>
          </a:stretch>
        </p:blipFill>
        <p:spPr bwMode="auto">
          <a:xfrm>
            <a:off x="3412331" y="3832225"/>
            <a:ext cx="5367337" cy="291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0978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8E411-6384-E839-F72A-BC33779DB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6C9AEC-617F-76E7-D911-2C957B029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Oefeningen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3DB5898-2D97-6BFF-B577-D29543225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787525"/>
            <a:ext cx="11449049" cy="4351338"/>
          </a:xfrm>
        </p:spPr>
        <p:txBody>
          <a:bodyPr/>
          <a:lstStyle/>
          <a:p>
            <a:r>
              <a:rPr lang="nl-BE" dirty="0"/>
              <a:t>7.10 (b, f, j) </a:t>
            </a:r>
            <a:r>
              <a:rPr lang="nl-BE" dirty="0">
                <a:sym typeface="Wingdings" panose="05000000000000000000" pitchFamily="2" charset="2"/>
              </a:rPr>
              <a:t> </a:t>
            </a:r>
            <a:r>
              <a:rPr lang="nl-BE" b="1" dirty="0">
                <a:solidFill>
                  <a:srgbClr val="C00000"/>
                </a:solidFill>
                <a:sym typeface="Wingdings" panose="05000000000000000000" pitchFamily="2" charset="2"/>
              </a:rPr>
              <a:t>Enkel het stelsel opstellen of limieten uitrekenen</a:t>
            </a:r>
          </a:p>
          <a:p>
            <a:r>
              <a:rPr lang="nl-BE" dirty="0">
                <a:sym typeface="Wingdings" panose="05000000000000000000" pitchFamily="2" charset="2"/>
              </a:rPr>
              <a:t>7.14 (a, r)</a:t>
            </a:r>
          </a:p>
          <a:p>
            <a:r>
              <a:rPr lang="nl-BE" dirty="0">
                <a:sym typeface="Wingdings" panose="05000000000000000000" pitchFamily="2" charset="2"/>
              </a:rPr>
              <a:t>7.16 (b)</a:t>
            </a:r>
          </a:p>
          <a:p>
            <a:r>
              <a:rPr lang="nl-BE" dirty="0">
                <a:sym typeface="Wingdings" panose="05000000000000000000" pitchFamily="2" charset="2"/>
              </a:rPr>
              <a:t>7.22</a:t>
            </a:r>
          </a:p>
          <a:p>
            <a:r>
              <a:rPr lang="nl-BE" dirty="0">
                <a:sym typeface="Wingdings" panose="05000000000000000000" pitchFamily="2" charset="2"/>
              </a:rPr>
              <a:t>7.27</a:t>
            </a:r>
          </a:p>
          <a:p>
            <a:r>
              <a:rPr lang="nl-BE" dirty="0">
                <a:sym typeface="Wingdings" panose="05000000000000000000" pitchFamily="2" charset="2"/>
              </a:rPr>
              <a:t>7.31 (oud examenvraag)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969301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F83436-ED07-CA3A-FE0B-BBA319190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7.10b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2E193241-67E2-7652-D6DF-EFB1E6AFB0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nl-BE" b="0" dirty="0"/>
              </a:p>
              <a:p>
                <a:pPr marL="0" indent="0">
                  <a:buNone/>
                </a:pPr>
                <a:endParaRPr lang="nl-BE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−6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e>
                          </m:d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</m:d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den>
                      </m:f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2E193241-67E2-7652-D6DF-EFB1E6AFB0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38078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39C3C6-D1C3-685B-AB71-F6F8383E8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7.10b vervolg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37ED7577-C77F-B468-D165-294C613E92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91807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</m:d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den>
                      </m:f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+3</m:t>
                                  </m:r>
                                </m:e>
                              </m:d>
                            </m:den>
                          </m:f>
                        </m:e>
                      </m:func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→2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+3</m:t>
                                  </m:r>
                                </m:e>
                              </m:d>
                            </m:den>
                          </m:f>
                        </m:e>
                      </m:func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2⋅5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→−3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</m:den>
                          </m:f>
                        </m:e>
                      </m:func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−3+1</m:t>
                          </m:r>
                        </m:num>
                        <m:den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e>
                          </m:d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37ED7577-C77F-B468-D165-294C613E92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9180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328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CA69C7-768D-4B71-E20F-F28387B48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7.10b vervolg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2DB49B41-EE38-C9D1-2F40-E82880CC70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nl-BE" i="1" smtClean="0">
                              <a:latin typeface="Cambria Math" panose="02040503050406030204" pitchFamily="18" charset="0"/>
                            </a:rPr>
                            <m:t>6 </m:t>
                          </m:r>
                          <m:r>
                            <a:rPr lang="nl-BE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nl-BE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nl-BE" i="1" smtClean="0">
                              <a:latin typeface="Cambria Math" panose="02040503050406030204" pitchFamily="18" charset="0"/>
                            </a:rPr>
                            <m:t>15 </m:t>
                          </m:r>
                          <m:d>
                            <m:dPr>
                              <m:ctrlPr>
                                <a:rPr lang="nl-BE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i="1" smtClean="0">
                                  <a:latin typeface="Cambria Math" panose="02040503050406030204" pitchFamily="18" charset="0"/>
                                </a:rPr>
                                <m:t> + 3</m:t>
                              </m:r>
                            </m:e>
                          </m:d>
                        </m:den>
                      </m:f>
                      <m:r>
                        <a:rPr lang="nl-BE" i="1" smtClean="0">
                          <a:latin typeface="Cambria Math" panose="02040503050406030204" pitchFamily="18" charset="0"/>
                        </a:rPr>
                        <m:t> +</m:t>
                      </m:r>
                      <m:f>
                        <m:fPr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nl-BE" i="1" smtClean="0">
                              <a:latin typeface="Cambria Math" panose="02040503050406030204" pitchFamily="18" charset="0"/>
                            </a:rPr>
                            <m:t>10 </m:t>
                          </m:r>
                          <m:d>
                            <m:dPr>
                              <m:ctrlPr>
                                <a:rPr lang="nl-BE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i="1" smtClean="0">
                                  <a:latin typeface="Cambria Math" panose="02040503050406030204" pitchFamily="18" charset="0"/>
                                </a:rPr>
                                <m:t> − 2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func>
                        <m:func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nl-BE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func>
                        <m:func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nl-BE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</m:d>
                        </m:e>
                      </m:func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func>
                        <m:func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nl-BE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2DB49B41-EE38-C9D1-2F40-E82880CC70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4722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CE40EA-9F27-0E5D-4A0D-DEA5E3762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7.10f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83C4444A-8CB8-6A50-F55A-F97C91B56A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−1=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nl-BE" b="0" dirty="0"/>
              </a:p>
              <a:p>
                <a:pPr marL="0" indent="0">
                  <a:buNone/>
                </a:pPr>
                <a:endParaRPr lang="nl-BE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nl-BE" b="0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:r>
                  <a:rPr lang="nl-BE" b="0" dirty="0"/>
                  <a:t>Enkel op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nl-BE" b="0" dirty="0"/>
                  <a:t> </a:t>
                </a:r>
                <a:r>
                  <a:rPr lang="nl-BE" b="0" dirty="0" err="1"/>
                  <a:t>partieelbreuken</a:t>
                </a:r>
                <a:r>
                  <a:rPr lang="nl-BE" b="0" dirty="0"/>
                  <a:t> toepassen!</a:t>
                </a:r>
              </a:p>
              <a:p>
                <a:pPr marL="0" indent="0">
                  <a:buNone/>
                </a:pPr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83C4444A-8CB8-6A50-F55A-F97C91B56A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1367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D924B6-8661-2378-A947-39B0936D4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37" y="235743"/>
            <a:ext cx="3228975" cy="728663"/>
          </a:xfrm>
        </p:spPr>
        <p:txBody>
          <a:bodyPr/>
          <a:lstStyle/>
          <a:p>
            <a:r>
              <a:rPr lang="nl-BE" dirty="0"/>
              <a:t>7.10f vervolg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77EC34DE-0DDC-B334-FE7A-089DFEA55C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19200" y="600074"/>
                <a:ext cx="11106150" cy="595312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nl-BE" b="0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nl-BE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−1−</m:t>
                          </m:r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nl-BE" b="0" dirty="0"/>
              </a:p>
              <a:p>
                <a:pPr marL="0" indent="0">
                  <a:buNone/>
                </a:pPr>
                <a:endParaRPr lang="nl-B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func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nl-BE" b="0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→1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77EC34DE-0DDC-B334-FE7A-089DFEA55C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19200" y="600074"/>
                <a:ext cx="11106150" cy="595312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77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53991B-0678-2BC2-7747-718DD5607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825"/>
            <a:ext cx="10515600" cy="709613"/>
          </a:xfrm>
        </p:spPr>
        <p:txBody>
          <a:bodyPr/>
          <a:lstStyle/>
          <a:p>
            <a:r>
              <a:rPr lang="nl-BE" dirty="0"/>
              <a:t>7.10j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7E80C7E5-AA29-E0AC-5BEE-E5B8B50458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8625" y="1209675"/>
                <a:ext cx="7115175" cy="504348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</m:num>
                        <m:den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+4</m:t>
                                  </m:r>
                                </m:e>
                              </m:d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𝐴𝑥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𝐶𝑥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+4</m:t>
                                  </m:r>
                                </m:e>
                              </m:d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nl-BE" dirty="0"/>
              </a:p>
              <a:p>
                <a:r>
                  <a:rPr lang="nl-BE" dirty="0"/>
                  <a:t>Is mogelijk met limieten maar moeilijker, stel een stelsel op!</a:t>
                </a:r>
              </a:p>
              <a:p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</m:num>
                        <m:den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+4</m:t>
                                  </m:r>
                                </m:e>
                              </m:d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</m:e>
                          </m:d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𝐶𝑥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m:rPr>
                              <m:nor/>
                            </m:rPr>
                            <a:rPr lang="nl-BE" dirty="0"/>
                            <m:t> </m:t>
                          </m:r>
                        </m:num>
                        <m:den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+4</m:t>
                                  </m:r>
                                </m:e>
                              </m:d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nl-BE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nl-BE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nl-BE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nl-BE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BE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BE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𝐴𝑥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𝐶𝑥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sSup>
                        <m:sSupPr>
                          <m:ctrlPr>
                            <a:rPr lang="nl-BE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nl-BE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BE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sSup>
                        <m:sSupPr>
                          <m:ctrlPr>
                            <a:rPr lang="nl-BE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nl-BE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nl-BE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nl-BE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nl-BE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nl-BE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</m:d>
                      <m:r>
                        <a:rPr lang="nl-BE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BE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nl-BE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nl-BE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BE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</m:oMath>
                  </m:oMathPara>
                </a14:m>
                <a:endParaRPr lang="nl-BE" b="1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7E80C7E5-AA29-E0AC-5BEE-E5B8B50458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625" y="1209675"/>
                <a:ext cx="7115175" cy="5043488"/>
              </a:xfrm>
              <a:blipFill>
                <a:blip r:embed="rId2"/>
                <a:stretch>
                  <a:fillRect l="-1284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vak 3">
                <a:extLst>
                  <a:ext uri="{FF2B5EF4-FFF2-40B4-BE49-F238E27FC236}">
                    <a16:creationId xmlns:a16="http://schemas.microsoft.com/office/drawing/2014/main" id="{12F1E8A0-7105-42CC-4A95-20CBFAA82D61}"/>
                  </a:ext>
                </a:extLst>
              </p:cNvPr>
              <p:cNvSpPr txBox="1"/>
              <p:nvPr/>
            </p:nvSpPr>
            <p:spPr>
              <a:xfrm>
                <a:off x="8270688" y="3033950"/>
                <a:ext cx="3492687" cy="17235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nl-BE" sz="28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nl-BE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2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</a:rPr>
                        <m:t>=0→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</a:rPr>
                        <m:t>=−8</m:t>
                      </m:r>
                    </m:oMath>
                  </m:oMathPara>
                </a14:m>
                <a:endParaRPr lang="nl-BE" sz="28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2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</a:rPr>
                        <m:t>=4→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nl-BE" sz="2800" dirty="0"/>
              </a:p>
            </p:txBody>
          </p:sp>
        </mc:Choice>
        <mc:Fallback xmlns="">
          <p:sp>
            <p:nvSpPr>
              <p:cNvPr id="4" name="Tekstvak 3">
                <a:extLst>
                  <a:ext uri="{FF2B5EF4-FFF2-40B4-BE49-F238E27FC236}">
                    <a16:creationId xmlns:a16="http://schemas.microsoft.com/office/drawing/2014/main" id="{12F1E8A0-7105-42CC-4A95-20CBFAA82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0688" y="3033950"/>
                <a:ext cx="3492687" cy="17235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3039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DCDD84-A403-6025-DCD6-4E15EB193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7.14a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6B7E449F-124C-E04E-CF36-5B93BFA2C9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l-B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sSup>
                            <m:sSupPr>
                              <m:ctrlPr>
                                <a:rPr lang="nl-BE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nl-BE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sup>
                        <m:e>
                          <m:func>
                            <m:func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nl-BE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nl-B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nl-B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nl-BE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nl-BE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p>
                              </m:sSup>
                            </m:e>
                          </m:d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nl-BE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nl-BE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nl-BE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nl-BE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nl-BE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p>
                              </m:sSup>
                            </m:e>
                          </m:d>
                          <m:r>
                            <a:rPr lang="nl-BE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sSup>
                            <m:sSupPr>
                              <m:ctrlPr>
                                <a:rPr lang="nl-BE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nl-BE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nl-BE" b="0" dirty="0"/>
              </a:p>
              <a:p>
                <a:pPr marL="0" indent="0">
                  <a:buNone/>
                </a:pPr>
                <a:endParaRPr lang="nl-BE" b="0" dirty="0"/>
              </a:p>
              <a:p>
                <a:pPr marL="0" indent="0">
                  <a:buNone/>
                </a:pPr>
                <a:endParaRPr lang="nl-B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6B7E449F-124C-E04E-CF36-5B93BFA2C9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2153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605C2C-1D9C-3130-9718-E6ACB17CC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7.14r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83384F02-BFF8-C99B-B1DE-E33C9CC1D5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l-B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p>
                            <m:sSupPr>
                              <m:ctrlPr>
                                <a:rPr lang="nl-BE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sup>
                        <m:e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func>
                                    <m:funcPr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nl-BE">
                                          <a:latin typeface="Cambria Math" panose="02040503050406030204" pitchFamily="18" charset="0"/>
                                        </a:rPr>
                                        <m:t>ln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nl-B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nl-BE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func>
                                </m:sub>
                                <m:sup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nl-B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unc>
                                            <m:funcPr>
                                              <m:ctrlPr>
                                                <a:rPr lang="nl-B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nl-BE">
                                                  <a:latin typeface="Cambria Math" panose="02040503050406030204" pitchFamily="18" charset="0"/>
                                                </a:rPr>
                                                <m:t>sin</m:t>
                                              </m:r>
                                            </m:fName>
                                            <m:e>
                                              <m:r>
                                                <a:rPr lang="nl-BE" i="1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</m:func>
                                        </m:e>
                                      </m:d>
                                    </m:e>
                                    <m:sup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sup>
                                  </m:sSup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𝑑𝑢</m:t>
                                  </m:r>
                                </m:e>
                              </m:nary>
                            </m:e>
                          </m:d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l-B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p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nl-BE" b="0" dirty="0"/>
              </a:p>
              <a:p>
                <a:pPr marL="0" indent="0">
                  <a:buNone/>
                </a:pPr>
                <a:endParaRPr lang="nl-BE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nl-BE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nl-BE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nl-BE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sup>
                            <m:e>
                              <m:r>
                                <a:rPr lang="nl-BE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  <m:d>
                                <m:dPr>
                                  <m:ctrlPr>
                                    <a:rPr lang="nl-BE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e>
                      </m:d>
                      <m:r>
                        <a:rPr lang="nl-B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nl-BE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lang="nl-BE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sSup>
                        <m:sSupPr>
                          <m:ctrlPr>
                            <a:rPr lang="nl-BE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nl-BE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nl-BE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func>
                            <m:func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nl-BE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nary>
                        <m:nary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nl-BE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e>
                      </m:nary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83384F02-BFF8-C99B-B1DE-E33C9CC1D5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77B03E84-DB38-1DF6-2B58-61A91BE6469B}"/>
                  </a:ext>
                </a:extLst>
              </p:cNvPr>
              <p:cNvSpPr txBox="1"/>
              <p:nvPr/>
            </p:nvSpPr>
            <p:spPr>
              <a:xfrm>
                <a:off x="4355305" y="5974469"/>
                <a:ext cx="1304925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nl-BE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lang="nl-BE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77B03E84-DB38-1DF6-2B58-61A91BE64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305" y="5974469"/>
                <a:ext cx="1304925" cy="404983"/>
              </a:xfrm>
              <a:prstGeom prst="rect">
                <a:avLst/>
              </a:prstGeom>
              <a:blipFill>
                <a:blip r:embed="rId3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inkeraccolade 5">
            <a:extLst>
              <a:ext uri="{FF2B5EF4-FFF2-40B4-BE49-F238E27FC236}">
                <a16:creationId xmlns:a16="http://schemas.microsoft.com/office/drawing/2014/main" id="{E8621338-996E-3B17-2CD0-71F943AE14D6}"/>
              </a:ext>
            </a:extLst>
          </p:cNvPr>
          <p:cNvSpPr/>
          <p:nvPr/>
        </p:nvSpPr>
        <p:spPr>
          <a:xfrm rot="16200000">
            <a:off x="4906523" y="4575443"/>
            <a:ext cx="202491" cy="259556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" name="Linkeraccolade 6">
            <a:extLst>
              <a:ext uri="{FF2B5EF4-FFF2-40B4-BE49-F238E27FC236}">
                <a16:creationId xmlns:a16="http://schemas.microsoft.com/office/drawing/2014/main" id="{1B696124-3BD0-076C-B7C5-BA859562BE5C}"/>
              </a:ext>
            </a:extLst>
          </p:cNvPr>
          <p:cNvSpPr/>
          <p:nvPr/>
        </p:nvSpPr>
        <p:spPr>
          <a:xfrm rot="16200000">
            <a:off x="6487673" y="5670817"/>
            <a:ext cx="202491" cy="40481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kstvak 8">
                <a:extLst>
                  <a:ext uri="{FF2B5EF4-FFF2-40B4-BE49-F238E27FC236}">
                    <a16:creationId xmlns:a16="http://schemas.microsoft.com/office/drawing/2014/main" id="{B4F0E498-4F0E-C970-8D09-17D4EB979DFF}"/>
                  </a:ext>
                </a:extLst>
              </p:cNvPr>
              <p:cNvSpPr txBox="1"/>
              <p:nvPr/>
            </p:nvSpPr>
            <p:spPr>
              <a:xfrm>
                <a:off x="6217919" y="5983212"/>
                <a:ext cx="8172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l-BE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nl-BE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nl-BE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9" name="Tekstvak 8">
                <a:extLst>
                  <a:ext uri="{FF2B5EF4-FFF2-40B4-BE49-F238E27FC236}">
                    <a16:creationId xmlns:a16="http://schemas.microsoft.com/office/drawing/2014/main" id="{B4F0E498-4F0E-C970-8D09-17D4EB979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19" y="5983212"/>
                <a:ext cx="817245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2820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A7EB6D-A93C-E226-F980-69920F44B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7.22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A4B9DD78-A68E-4766-226D-4DA14B0108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90675"/>
                <a:ext cx="11734800" cy="50292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l-BE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nl-BE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func>
                            <m:func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b="0" i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nl-BE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nl-BE" b="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nl-BE" b="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num>
                                    <m:den>
                                      <m:r>
                                        <a:rPr lang="nl-BE" b="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nl-BE" b="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num>
                            <m:den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nl-B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nl-BE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nl-B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nl-BE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nl-B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nl-BE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nl-BE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nl-BE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num>
                                        <m:den>
                                          <m:r>
                                            <a:rPr lang="nl-BE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f>
                                <m:f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num>
                                    <m:den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nl-B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nl-B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nl-BE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nl-B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nl-BE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nl-B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nl-BE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nl-BE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nl-BE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num>
                                        <m:den>
                                          <m:r>
                                            <a:rPr lang="nl-BE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f>
                                <m:f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A4B9DD78-A68E-4766-226D-4DA14B0108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90675"/>
                <a:ext cx="11734800" cy="50292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2012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44E37-5081-D677-923E-9E2CEE3D2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EBD8D8-6A40-39C7-6019-CD77337F5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7.22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89A7CED3-A6FA-DE71-195E-C8273DC5A6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90675"/>
                <a:ext cx="11734800" cy="50292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nl-BE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nl-BE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nl-B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nl-BE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nl-B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nl-BE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nl-BE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nl-BE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num>
                                        <m:den>
                                          <m:r>
                                            <a:rPr lang="nl-BE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f>
                                <m:f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nl-B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d>
                        <m:d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num>
                            <m:den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nl-B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num>
                                    <m:den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nl-BE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nl-B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nl-B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nl-BE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  <m:r>
                                                <a:rPr lang="nl-BE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nl-BE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num>
                                            <m:den>
                                              <m:r>
                                                <a:rPr lang="nl-BE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</m:func>
                                  <m:f>
                                    <m:fPr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den>
                                  </m:f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e>
                              </m:nary>
                            </m:e>
                          </m:func>
                        </m:e>
                      </m:d>
                    </m:oMath>
                  </m:oMathPara>
                </a14:m>
                <a:endParaRPr lang="nl-BE" b="0" dirty="0"/>
              </a:p>
              <a:p>
                <a:pPr marL="0" indent="0">
                  <a:buNone/>
                </a:pPr>
                <a:endParaRPr lang="nl-B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nl-BE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nl-BE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l-BE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func>
                            <m:func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num>
                                    <m:den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</m:d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nl-BE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nl-BE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nl-BE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l-BE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func>
                            <m:func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num>
                                    <m:den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f>
                            <m:f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89A7CED3-A6FA-DE71-195E-C8273DC5A6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90675"/>
                <a:ext cx="11734800" cy="50292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2178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3A20C9-F395-4777-FE0D-14C8FF89A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7.27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979BD3DC-341D-BA55-44E1-50DA478E04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53725" cy="4793456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2/3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2/3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=0,   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nl-B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nl-BE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−1/3</m:t>
                        </m:r>
                      </m:sup>
                    </m:sSup>
                  </m:oMath>
                </a14:m>
                <a:endParaRPr lang="nl-B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nl-BE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−1/3</m:t>
                        </m:r>
                      </m:sup>
                    </m:sSup>
                  </m:oMath>
                </a14:m>
                <a:endParaRPr lang="nl-BE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1/3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=±</m:t>
                    </m:r>
                    <m:rad>
                      <m:radPr>
                        <m:degHide m:val="on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2/3</m:t>
                            </m:r>
                          </m:sup>
                        </m:s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2/3</m:t>
                            </m:r>
                          </m:sup>
                        </m:sSup>
                      </m:e>
                    </m:rad>
                  </m:oMath>
                </a14:m>
                <a:endParaRPr lang="nl-B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nl-B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sSub>
                            <m:sSub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−1/3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−1/3</m:t>
                              </m:r>
                            </m:sup>
                          </m:sSup>
                        </m:den>
                      </m:f>
                      <m:r>
                        <a:rPr lang="nl-BE" b="0" i="0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1/3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1/3</m:t>
                              </m:r>
                            </m:sup>
                          </m:sSup>
                        </m:den>
                      </m:f>
                      <m:r>
                        <a:rPr lang="nl-BE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±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2/3</m:t>
                                  </m:r>
                                </m:sup>
                              </m:s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2/3</m:t>
                                  </m:r>
                                </m:sup>
                              </m:sSup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1/3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endParaRPr lang="nl-BE" dirty="0"/>
              </a:p>
              <a:p>
                <a:endParaRPr lang="nl-BE" dirty="0"/>
              </a:p>
              <a:p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979BD3DC-341D-BA55-44E1-50DA478E04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53725" cy="479345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 descr="undefined">
            <a:extLst>
              <a:ext uri="{FF2B5EF4-FFF2-40B4-BE49-F238E27FC236}">
                <a16:creationId xmlns:a16="http://schemas.microsoft.com/office/drawing/2014/main" id="{AEAA208A-B219-4C82-EA9E-910BDB5DB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0574" y="238919"/>
            <a:ext cx="3038475" cy="303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8614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8E2755-FB10-6C31-01BA-D6C3D939B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7.27 vervolg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934AB163-2FB1-93B5-C98B-C442F01F79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5749" y="1758949"/>
                <a:ext cx="11839576" cy="49180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nl-BE" dirty="0"/>
                  <a:t>Omwille van symmetrie hoeven we enkel de lengte voor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nl-BE" dirty="0"/>
                  <a:t> te bepalen van deel in het eerste kwadrant</a:t>
                </a:r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rad>
                            <m:radPr>
                              <m:degHide m:val="on"/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2/3</m:t>
                                      </m:r>
                                    </m:sup>
                                  </m:s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2/3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2/3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rad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rad>
                            <m:radPr>
                              <m:degHide m:val="on"/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2/3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2/3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rad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1/3</m:t>
                          </m:r>
                        </m:sup>
                      </m:sSup>
                      <m:nary>
                        <m:nary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1/3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:r>
                  <a:rPr lang="nl-BE" dirty="0"/>
                  <a:t>Hoe dit verder uitwerken?</a:t>
                </a:r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934AB163-2FB1-93B5-C98B-C442F01F79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5749" y="1758949"/>
                <a:ext cx="11839576" cy="4918075"/>
              </a:xfrm>
              <a:blipFill>
                <a:blip r:embed="rId2"/>
                <a:stretch>
                  <a:fillRect l="-1081" t="-2233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0AAFC1F5-3716-3301-7BE5-64E80B14D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3525" y="67469"/>
            <a:ext cx="3038475" cy="303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C3A89685-5CC1-2A51-62A8-20221BBD9861}"/>
                  </a:ext>
                </a:extLst>
              </p:cNvPr>
              <p:cNvSpPr txBox="1"/>
              <p:nvPr/>
            </p:nvSpPr>
            <p:spPr>
              <a:xfrm>
                <a:off x="11087100" y="750907"/>
                <a:ext cx="1746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C3A89685-5CC1-2A51-62A8-20221BBD9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7100" y="750907"/>
                <a:ext cx="174663" cy="276999"/>
              </a:xfrm>
              <a:prstGeom prst="rect">
                <a:avLst/>
              </a:prstGeom>
              <a:blipFill>
                <a:blip r:embed="rId4"/>
                <a:stretch>
                  <a:fillRect l="-35714" r="-32143" b="-6522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t 5">
                <a:extLst>
                  <a:ext uri="{FF2B5EF4-FFF2-40B4-BE49-F238E27FC236}">
                    <a16:creationId xmlns:a16="http://schemas.microsoft.com/office/drawing/2014/main" id="{23EBC7C0-342A-1558-894C-2D5034E4347A}"/>
                  </a:ext>
                </a:extLst>
              </p14:cNvPr>
              <p14:cNvContentPartPr/>
              <p14:nvPr/>
            </p14:nvContentPartPr>
            <p14:xfrm>
              <a:off x="10678400" y="264160"/>
              <a:ext cx="1309320" cy="1317600"/>
            </p14:xfrm>
          </p:contentPart>
        </mc:Choice>
        <mc:Fallback xmlns="">
          <p:pic>
            <p:nvPicPr>
              <p:cNvPr id="6" name="Inkt 5">
                <a:extLst>
                  <a:ext uri="{FF2B5EF4-FFF2-40B4-BE49-F238E27FC236}">
                    <a16:creationId xmlns:a16="http://schemas.microsoft.com/office/drawing/2014/main" id="{23EBC7C0-342A-1558-894C-2D5034E4347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660400" y="228160"/>
                <a:ext cx="1344960" cy="138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8681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FA1182-A671-701B-F87E-98E335360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7.27 vervolg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9D52048A-9F64-1214-B8A3-ECA8FA270F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1/3</m:t>
                          </m:r>
                        </m:sup>
                      </m:sSup>
                      <m:nary>
                        <m:nary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1/3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1/3</m:t>
                          </m:r>
                        </m:sup>
                      </m:sSup>
                      <m:sSubSup>
                        <m:sSub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2/3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2/3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nl-BE" b="0" dirty="0"/>
              </a:p>
              <a:p>
                <a:pPr marL="0" indent="0">
                  <a:buNone/>
                </a:pPr>
                <a:r>
                  <a:rPr lang="nl-BE" dirty="0"/>
                  <a:t>De volledige omtrek is dan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=6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9D52048A-9F64-1214-B8A3-ECA8FA270F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830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84A806-8232-C7A3-DECF-07E41426F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7.31 (oud examenvraag): Vraag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4BF7BF31-D7B2-B1B6-DB24-FBB7290C1E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nl-BE" dirty="0"/>
                  <a:t>Beweging van punt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d>
                      <m:dPr>
                        <m:ctrlPr>
                          <a:rPr lang="nl-BE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nl-BE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nl-BE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nl-BE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BE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nl-BE" b="0" i="1" dirty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func>
                          <m:funcPr>
                            <m:ctrlPr>
                              <a:rPr lang="nl-BE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dirty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dirty="0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  <m:r>
                          <a:rPr lang="nl-BE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nl-BE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BE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nl-BE" b="0" i="1" dirty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func>
                          <m:funcPr>
                            <m:ctrlPr>
                              <a:rPr lang="nl-BE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dirty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dirty="0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  <m:r>
                          <a:rPr lang="nl-BE" b="0" i="1" dirty="0" smtClean="0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  <m:r>
                      <a:rPr lang="nl-BE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BE" b="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nl-BE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lang="nl-BE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dirty="0" smtClean="0">
                            <a:latin typeface="Cambria Math" panose="02040503050406030204" pitchFamily="18" charset="0"/>
                          </a:rPr>
                          <m:t>0,2</m:t>
                        </m:r>
                        <m:r>
                          <a:rPr lang="nl-BE" b="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lang="nl-BE" dirty="0"/>
              </a:p>
              <a:p>
                <a:r>
                  <a:rPr lang="nl-BE" dirty="0"/>
                  <a:t>Beweging van punt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d>
                      <m:dPr>
                        <m:ctrlPr>
                          <a:rPr lang="nl-BE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nl-BE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nl-BE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nl-BE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BE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nl-BE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func>
                          <m:funcPr>
                            <m:ctrlPr>
                              <a:rPr lang="nl-BE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dirty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dirty="0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  <m:r>
                          <a:rPr lang="nl-BE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b="1" i="0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nl-BE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BE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nl-BE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func>
                          <m:funcPr>
                            <m:ctrlPr>
                              <a:rPr lang="nl-BE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dirty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dirty="0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  <m:r>
                          <a:rPr lang="nl-BE" b="0" i="1" dirty="0" smtClean="0">
                            <a:latin typeface="Cambria Math" panose="02040503050406030204" pitchFamily="18" charset="0"/>
                          </a:rPr>
                          <m:t>,1</m:t>
                        </m:r>
                      </m:e>
                    </m:d>
                    <m:r>
                      <a:rPr lang="nl-BE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BE" b="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nl-BE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lang="nl-BE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dirty="0" smtClean="0">
                            <a:latin typeface="Cambria Math" panose="02040503050406030204" pitchFamily="18" charset="0"/>
                          </a:rPr>
                          <m:t>0,2</m:t>
                        </m:r>
                        <m:r>
                          <a:rPr lang="nl-BE" b="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lang="nl-BE" dirty="0"/>
              </a:p>
              <a:p>
                <a:r>
                  <a:rPr lang="nl-BE" dirty="0"/>
                  <a:t>Regeloppervlak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nl-BE" dirty="0"/>
                  <a:t> dat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d>
                      <m:dPr>
                        <m:ctrlPr>
                          <a:rPr lang="nl-BE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nl-BE" dirty="0"/>
                  <a:t> 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d>
                      <m:dPr>
                        <m:ctrlPr>
                          <a:rPr lang="nl-BE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nl-BE" dirty="0"/>
                  <a:t> verbindt</a:t>
                </a:r>
              </a:p>
              <a:p>
                <a:pPr marL="0" indent="0">
                  <a:buNone/>
                </a:pPr>
                <a:endParaRPr lang="nl-B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:  </m:t>
                      </m:r>
                      <m:acc>
                        <m:accPr>
                          <m:chr m:val="⃗"/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acc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d>
                        <m:dPr>
                          <m:ctrlPr>
                            <a:rPr lang="nl-BE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nl-BE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BE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acc>
                        <m:accPr>
                          <m:chr m:val="⃗"/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d>
                        <m:dPr>
                          <m:ctrlPr>
                            <a:rPr lang="nl-BE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nl-BE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nl-BE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nl-BE" b="0" i="1" dirty="0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nl-BE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dirty="0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↔</m:t>
                      </m:r>
                      <m:d>
                        <m:dPr>
                          <m:ctrlPr>
                            <a:rPr lang="nl-BE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nl-B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nl-BE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nl-BE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nl-BE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nl-BE" b="0" i="1" dirty="0" smtClean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nl-BE" b="0" i="1" dirty="0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nl-BE" b="0" i="1" dirty="0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den>
                                  </m:f>
                                </m:e>
                              </m:d>
                              <m:func>
                                <m:funcPr>
                                  <m:ctrlPr>
                                    <a:rPr lang="nl-BE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nl-BE" b="0" i="0" dirty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nl-BE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b="0" i="1" dirty="0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nl-BE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nl-BE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nl-BE" b="0" i="1" dirty="0" smtClean="0">
                                          <a:latin typeface="Cambria Math" panose="02040503050406030204" pitchFamily="18" charset="0"/>
                                        </a:rPr>
                                        <m:t>1−3</m:t>
                                      </m:r>
                                      <m:r>
                                        <a:rPr lang="nl-BE" b="0" i="1" dirty="0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nl-BE" b="0" i="1" dirty="0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den>
                                  </m:f>
                                </m:e>
                              </m:d>
                              <m:func>
                                <m:funcPr>
                                  <m:ctrlPr>
                                    <a:rPr lang="nl-BE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nl-BE" b="0" i="0" dirty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nl-BE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b="0" i="1" dirty="0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endParaRPr lang="nl-BE" dirty="0"/>
              </a:p>
              <a:p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4BF7BF31-D7B2-B1B6-DB24-FBB7290C1E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541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69896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AE6AD-39A6-EC22-C357-EC2182FDE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E366D7-5D13-BAD9-FECB-569B6988C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450"/>
            <a:ext cx="10515600" cy="862013"/>
          </a:xfrm>
        </p:spPr>
        <p:txBody>
          <a:bodyPr/>
          <a:lstStyle/>
          <a:p>
            <a:r>
              <a:rPr lang="nl-BE" dirty="0"/>
              <a:t>7.31 (oud examenvraag): Vraag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9A286F11-BCFE-9D99-A085-E996AFEE70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8750"/>
                <a:ext cx="10515600" cy="54292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↔</m:t>
                      </m:r>
                      <m:d>
                        <m:dPr>
                          <m:ctrlPr>
                            <a:rPr lang="nl-BE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nl-B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nl-BE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nl-BE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nl-BE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nl-BE" b="0" i="1" dirty="0" smtClean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nl-BE" b="0" i="1" dirty="0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nl-BE" b="0" i="1" dirty="0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den>
                                  </m:f>
                                </m:e>
                              </m:d>
                              <m:func>
                                <m:funcPr>
                                  <m:ctrlPr>
                                    <a:rPr lang="nl-BE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nl-BE" b="0" i="0" dirty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nl-BE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b="0" i="1" dirty="0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nl-BE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nl-BE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nl-BE" b="0" i="1" dirty="0" smtClean="0">
                                          <a:latin typeface="Cambria Math" panose="02040503050406030204" pitchFamily="18" charset="0"/>
                                        </a:rPr>
                                        <m:t>1−3</m:t>
                                      </m:r>
                                      <m:r>
                                        <a:rPr lang="nl-BE" b="0" i="1" dirty="0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nl-BE" b="0" i="1" dirty="0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den>
                                  </m:f>
                                </m:e>
                              </m:d>
                              <m:func>
                                <m:funcPr>
                                  <m:ctrlPr>
                                    <a:rPr lang="nl-BE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nl-BE" b="0" i="0" dirty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nl-BE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b="0" i="1" dirty="0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f>
                                    <m:f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den>
                                  </m:f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f>
                                    <m:fPr>
                                      <m:ctrlPr>
                                        <a:rPr lang="nl-BE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nl-BE" b="0" i="1" dirty="0" smtClean="0">
                                          <a:latin typeface="Cambria Math" panose="02040503050406030204" pitchFamily="18" charset="0"/>
                                        </a:rPr>
                                        <m:t>1−3</m:t>
                                      </m:r>
                                      <m:r>
                                        <a:rPr lang="nl-BE" b="0" i="1" dirty="0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nl-BE" b="0" i="1" dirty="0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den>
                                  </m:f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nl-BE" b="0" dirty="0"/>
              </a:p>
              <a:p>
                <a:pPr marL="0" indent="0">
                  <a:buNone/>
                </a:pPr>
                <a:endParaRPr lang="nl-BE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nl-BE" b="0" i="1" dirty="0" smtClean="0">
                                      <a:latin typeface="Cambria Math" panose="02040503050406030204" pitchFamily="18" charset="0"/>
                                    </a:rPr>
                                    <m:t>1−3</m:t>
                                  </m:r>
                                  <m:r>
                                    <a:rPr lang="nl-BE" b="0" i="1" dirty="0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nl-BE" b="0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endParaRPr lang="nl-BE" dirty="0"/>
              </a:p>
              <a:p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9A286F11-BCFE-9D99-A085-E996AFEE70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8750"/>
                <a:ext cx="10515600" cy="5429250"/>
              </a:xfrm>
              <a:blipFill>
                <a:blip r:embed="rId2"/>
                <a:stretch>
                  <a:fillRect t="-1235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72479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13163-DA12-AA68-7D1E-B432770F9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0CB4AF-0FC0-1F3C-4E14-A063020AC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450"/>
            <a:ext cx="10515600" cy="862013"/>
          </a:xfrm>
        </p:spPr>
        <p:txBody>
          <a:bodyPr/>
          <a:lstStyle/>
          <a:p>
            <a:r>
              <a:rPr lang="nl-BE" dirty="0"/>
              <a:t>7.31 (oud examenvraag): Vraag 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BCEE7A8F-23B1-2336-C95E-31A005C2BE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8750"/>
                <a:ext cx="10515600" cy="54292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nl-BE" b="0" i="1" dirty="0" smtClean="0">
                                      <a:latin typeface="Cambria Math" panose="02040503050406030204" pitchFamily="18" charset="0"/>
                                    </a:rPr>
                                    <m:t>1−3</m:t>
                                  </m:r>
                                  <m:r>
                                    <a:rPr lang="nl-BE" b="0" i="1" dirty="0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nl-BE" b="0" dirty="0"/>
              </a:p>
              <a:p>
                <a:pPr marL="0" indent="0">
                  <a:buNone/>
                </a:pPr>
                <a:r>
                  <a:rPr lang="nl-BE" dirty="0"/>
                  <a:t>Iemand een suggestie waar de ellips degenereert?</a:t>
                </a:r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:r>
                  <a:rPr lang="nl-BE" dirty="0"/>
                  <a:t>Hint:  Wat gebeurt er met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nl-BE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nl-BE" dirty="0"/>
                  <a:t> als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nl-BE" dirty="0"/>
                  <a:t>? 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nl-BE" dirty="0"/>
                  <a:t> wordt heel erg groot ten opzichte van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nl-BE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nl-BE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nl-BE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nl-BE" dirty="0"/>
              </a:p>
              <a:p>
                <a:r>
                  <a:rPr lang="nl-BE" dirty="0"/>
                  <a:t>Deze ellips wordt een lijnstuk voor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:endParaRPr lang="nl-BE" b="0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endParaRPr lang="nl-BE" dirty="0"/>
              </a:p>
              <a:p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BCEE7A8F-23B1-2336-C95E-31A005C2BE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8750"/>
                <a:ext cx="10515600" cy="5429250"/>
              </a:xfr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04960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2EBEA-09E5-93A5-EFB7-C587152D9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5BA215-AE90-5213-0598-93C258E67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450"/>
            <a:ext cx="10515600" cy="862013"/>
          </a:xfrm>
        </p:spPr>
        <p:txBody>
          <a:bodyPr/>
          <a:lstStyle/>
          <a:p>
            <a:r>
              <a:rPr lang="nl-BE" dirty="0"/>
              <a:t>7.31 (oud examenvraag): Vraag 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1D60F42B-7C60-F6D2-6647-54573E396C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428750"/>
                <a:ext cx="10372725" cy="54292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nl-BE" b="0" i="1" dirty="0" smtClean="0">
                                      <a:latin typeface="Cambria Math" panose="02040503050406030204" pitchFamily="18" charset="0"/>
                                    </a:rPr>
                                    <m:t>1−3</m:t>
                                  </m:r>
                                  <m:r>
                                    <a:rPr lang="nl-BE" b="0" i="1" dirty="0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d>
                                    <m:d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d>
                                    <m:d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nl-BE" b="0" dirty="0"/>
              </a:p>
              <a:p>
                <a:r>
                  <a:rPr lang="nl-BE" dirty="0"/>
                  <a:t>Ellips wordt lijnstuk voor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nl-BE" dirty="0"/>
              </a:p>
              <a:p>
                <a:r>
                  <a:rPr lang="nl-BE" dirty="0"/>
                  <a:t>Hoe volume bepalen? </a:t>
                </a:r>
              </a:p>
              <a:p>
                <a:r>
                  <a:rPr lang="nl-BE" dirty="0"/>
                  <a:t>Eigenlijk weinig anders dan ons vorig prentje </a:t>
                </a:r>
              </a:p>
              <a:p>
                <a:r>
                  <a:rPr lang="nl-BE" dirty="0"/>
                  <a:t>Nu voor een ellips, niet echt een omwentelingslichaam</a:t>
                </a:r>
              </a:p>
              <a:p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nary>
                        </m:e>
                      </m:func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/3</m:t>
                          </m:r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endParaRPr lang="nl-BE" dirty="0"/>
              </a:p>
              <a:p>
                <a:endParaRPr lang="nl-BE" dirty="0"/>
              </a:p>
              <a:p>
                <a:endParaRPr lang="nl-BE" dirty="0"/>
              </a:p>
              <a:p>
                <a:pPr marL="0" indent="0">
                  <a:buNone/>
                </a:pPr>
                <a:endParaRPr lang="nl-BE" b="0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endParaRPr lang="nl-BE" dirty="0"/>
              </a:p>
              <a:p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1D60F42B-7C60-F6D2-6647-54573E396C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28750"/>
                <a:ext cx="10372725" cy="5429250"/>
              </a:xfrm>
              <a:blipFill>
                <a:blip r:embed="rId2"/>
                <a:stretch>
                  <a:fillRect l="-999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Afbeelding 5">
            <a:extLst>
              <a:ext uri="{FF2B5EF4-FFF2-40B4-BE49-F238E27FC236}">
                <a16:creationId xmlns:a16="http://schemas.microsoft.com/office/drawing/2014/main" id="{E1DED6A2-1086-4F6B-DF88-B0D6673223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901"/>
          <a:stretch>
            <a:fillRect/>
          </a:stretch>
        </p:blipFill>
        <p:spPr>
          <a:xfrm>
            <a:off x="9565219" y="2266950"/>
            <a:ext cx="2474381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3554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3040A-2D4A-56EF-7659-019CE05F8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8B7030-4264-DFEE-3643-B2035A4FE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450"/>
            <a:ext cx="10515600" cy="862013"/>
          </a:xfrm>
        </p:spPr>
        <p:txBody>
          <a:bodyPr/>
          <a:lstStyle/>
          <a:p>
            <a:r>
              <a:rPr lang="nl-BE" dirty="0"/>
              <a:t>7.31 (oud examenvraag): Vraag 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7FC4D5E8-E60B-F718-46F1-335784F223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428750"/>
                <a:ext cx="10372725" cy="54292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d>
                                    <m:d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d>
                                    <m:d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nl-BE" b="0" dirty="0"/>
              </a:p>
              <a:p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/3</m:t>
                          </m:r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/3</m:t>
                          </m:r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num>
                                <m:den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</m:oMath>
                  </m:oMathPara>
                </a14:m>
                <a:endParaRPr lang="nl-BE" b="0" dirty="0"/>
              </a:p>
              <a:p>
                <a:pPr marL="0" indent="0">
                  <a:buNone/>
                </a:pPr>
                <a:endParaRPr lang="nl-B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den>
                      </m:f>
                      <m:nary>
                        <m:nary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/3</m:t>
                          </m:r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den>
                      </m:f>
                      <m:nary>
                        <m:nary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/3</m:t>
                          </m:r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 3</m:t>
                          </m:r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−1 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</m:oMath>
                  </m:oMathPara>
                </a14:m>
                <a:endParaRPr lang="nl-BE" b="0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den>
                      </m:f>
                      <m:sSubSup>
                        <m:sSub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  <m: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1/3</m:t>
                          </m:r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nl-BE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nl-BE" b="0" i="1" dirty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nl-BE" b="0" i="1" dirty="0" smtClean="0">
                              <a:latin typeface="Cambria Math" panose="02040503050406030204" pitchFamily="18" charset="0"/>
                            </a:rPr>
                            <m:t>243</m:t>
                          </m:r>
                        </m:den>
                      </m:f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endParaRPr lang="nl-BE" dirty="0"/>
              </a:p>
              <a:p>
                <a:endParaRPr lang="nl-BE" dirty="0"/>
              </a:p>
              <a:p>
                <a:endParaRPr lang="nl-BE" dirty="0"/>
              </a:p>
              <a:p>
                <a:pPr marL="0" indent="0">
                  <a:buNone/>
                </a:pPr>
                <a:endParaRPr lang="nl-BE" b="0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endParaRPr lang="nl-BE" dirty="0"/>
              </a:p>
              <a:p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7FC4D5E8-E60B-F718-46F1-335784F223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28750"/>
                <a:ext cx="10372725" cy="542925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4396723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1280</Words>
  <Application>Microsoft Office PowerPoint</Application>
  <PresentationFormat>Breedbeeld</PresentationFormat>
  <Paragraphs>291</Paragraphs>
  <Slides>37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37</vt:i4>
      </vt:variant>
    </vt:vector>
  </HeadingPairs>
  <TitlesOfParts>
    <vt:vector size="43" baseType="lpstr">
      <vt:lpstr>Aptos</vt:lpstr>
      <vt:lpstr>Aptos Display</vt:lpstr>
      <vt:lpstr>Arial</vt:lpstr>
      <vt:lpstr>Cambria Math</vt:lpstr>
      <vt:lpstr>Wingdings</vt:lpstr>
      <vt:lpstr>Kantoorthema</vt:lpstr>
      <vt:lpstr>Analyse I, Oefenzitting 6</vt:lpstr>
      <vt:lpstr>Inleiding</vt:lpstr>
      <vt:lpstr>Fundamentele stelling Integratie</vt:lpstr>
      <vt:lpstr>Hoe kan je een integraal nog bekijken?</vt:lpstr>
      <vt:lpstr>Afleiden van een integraal (Slide 31)</vt:lpstr>
      <vt:lpstr>Partiële integratie</vt:lpstr>
      <vt:lpstr>Een voorbeeld</vt:lpstr>
      <vt:lpstr>Substitutiemethode</vt:lpstr>
      <vt:lpstr>Een voorbeeld</vt:lpstr>
      <vt:lpstr>Integratie is tot op een constante bepaald!</vt:lpstr>
      <vt:lpstr>PowerPoint-presentatie</vt:lpstr>
      <vt:lpstr>Integralen van rationale functies</vt:lpstr>
      <vt:lpstr>Partieelbreuksplitsing</vt:lpstr>
      <vt:lpstr>Partieelbreuksplitsing</vt:lpstr>
      <vt:lpstr>Partieelbreuksplitsing: hoe B bepalen?</vt:lpstr>
      <vt:lpstr>Lengte van een kromme</vt:lpstr>
      <vt:lpstr>Lengte van een kromme</vt:lpstr>
      <vt:lpstr>Omwentelingsoppervlakken</vt:lpstr>
      <vt:lpstr>Oefeningen</vt:lpstr>
      <vt:lpstr>7.10b</vt:lpstr>
      <vt:lpstr>7.10b vervolg</vt:lpstr>
      <vt:lpstr>7.10b vervolg</vt:lpstr>
      <vt:lpstr>7.10f</vt:lpstr>
      <vt:lpstr>7.10f vervolg</vt:lpstr>
      <vt:lpstr>7.10j</vt:lpstr>
      <vt:lpstr>7.14a</vt:lpstr>
      <vt:lpstr>7.14r</vt:lpstr>
      <vt:lpstr>7.22</vt:lpstr>
      <vt:lpstr>7.22</vt:lpstr>
      <vt:lpstr>7.27</vt:lpstr>
      <vt:lpstr>7.27 vervolg</vt:lpstr>
      <vt:lpstr>7.27 vervolg</vt:lpstr>
      <vt:lpstr>7.31 (oud examenvraag): Vraag A</vt:lpstr>
      <vt:lpstr>7.31 (oud examenvraag): Vraag B</vt:lpstr>
      <vt:lpstr>7.31 (oud examenvraag): Vraag C</vt:lpstr>
      <vt:lpstr>7.31 (oud examenvraag): Vraag C</vt:lpstr>
      <vt:lpstr>7.31 (oud examenvraag): Vraag 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Visterin</dc:creator>
  <cp:lastModifiedBy>Visterin</cp:lastModifiedBy>
  <cp:revision>210</cp:revision>
  <dcterms:created xsi:type="dcterms:W3CDTF">2025-11-15T11:02:06Z</dcterms:created>
  <dcterms:modified xsi:type="dcterms:W3CDTF">2025-11-25T15:06:47Z</dcterms:modified>
</cp:coreProperties>
</file>